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heme/themeOverride1.xml" ContentType="application/vnd.openxmlformats-officedocument.themeOverr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41.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Lst>
  <p:notesMasterIdLst>
    <p:notesMasterId r:id="rId69"/>
  </p:notesMasterIdLst>
  <p:handoutMasterIdLst>
    <p:handoutMasterId r:id="rId70"/>
  </p:handoutMasterIdLst>
  <p:sldIdLst>
    <p:sldId id="256" r:id="rId3"/>
    <p:sldId id="550" r:id="rId4"/>
    <p:sldId id="566" r:id="rId5"/>
    <p:sldId id="343" r:id="rId6"/>
    <p:sldId id="447" r:id="rId7"/>
    <p:sldId id="257" r:id="rId8"/>
    <p:sldId id="345" r:id="rId9"/>
    <p:sldId id="363" r:id="rId10"/>
    <p:sldId id="365" r:id="rId11"/>
    <p:sldId id="364" r:id="rId12"/>
    <p:sldId id="450" r:id="rId13"/>
    <p:sldId id="373" r:id="rId14"/>
    <p:sldId id="381" r:id="rId15"/>
    <p:sldId id="438" r:id="rId16"/>
    <p:sldId id="567" r:id="rId17"/>
    <p:sldId id="397" r:id="rId18"/>
    <p:sldId id="369" r:id="rId19"/>
    <p:sldId id="399" r:id="rId20"/>
    <p:sldId id="400" r:id="rId21"/>
    <p:sldId id="443" r:id="rId22"/>
    <p:sldId id="499" r:id="rId23"/>
    <p:sldId id="404" r:id="rId24"/>
    <p:sldId id="553" r:id="rId25"/>
    <p:sldId id="401" r:id="rId26"/>
    <p:sldId id="554" r:id="rId27"/>
    <p:sldId id="444" r:id="rId28"/>
    <p:sldId id="402" r:id="rId29"/>
    <p:sldId id="555" r:id="rId30"/>
    <p:sldId id="556" r:id="rId31"/>
    <p:sldId id="403" r:id="rId32"/>
    <p:sldId id="572" r:id="rId33"/>
    <p:sldId id="378" r:id="rId34"/>
    <p:sldId id="385" r:id="rId35"/>
    <p:sldId id="563" r:id="rId36"/>
    <p:sldId id="571" r:id="rId37"/>
    <p:sldId id="368" r:id="rId38"/>
    <p:sldId id="333" r:id="rId39"/>
    <p:sldId id="367" r:id="rId40"/>
    <p:sldId id="557" r:id="rId41"/>
    <p:sldId id="558" r:id="rId42"/>
    <p:sldId id="453" r:id="rId43"/>
    <p:sldId id="559" r:id="rId44"/>
    <p:sldId id="451" r:id="rId45"/>
    <p:sldId id="570" r:id="rId46"/>
    <p:sldId id="452" r:id="rId47"/>
    <p:sldId id="336" r:id="rId48"/>
    <p:sldId id="316" r:id="rId49"/>
    <p:sldId id="318" r:id="rId50"/>
    <p:sldId id="323" r:id="rId51"/>
    <p:sldId id="455" r:id="rId52"/>
    <p:sldId id="295" r:id="rId53"/>
    <p:sldId id="398" r:id="rId54"/>
    <p:sldId id="273" r:id="rId55"/>
    <p:sldId id="538" r:id="rId56"/>
    <p:sldId id="539" r:id="rId57"/>
    <p:sldId id="540" r:id="rId58"/>
    <p:sldId id="541" r:id="rId59"/>
    <p:sldId id="542" r:id="rId60"/>
    <p:sldId id="543" r:id="rId61"/>
    <p:sldId id="544" r:id="rId62"/>
    <p:sldId id="545" r:id="rId63"/>
    <p:sldId id="546" r:id="rId64"/>
    <p:sldId id="547" r:id="rId65"/>
    <p:sldId id="548" r:id="rId66"/>
    <p:sldId id="549" r:id="rId67"/>
    <p:sldId id="564" r:id="rId68"/>
  </p:sldIdLst>
  <p:sldSz cx="9144000" cy="6858000" type="screen4x3"/>
  <p:notesSz cx="6888163" cy="10018713"/>
  <p:custDataLst>
    <p:tags r:id="rId71"/>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8" userDrawn="1">
          <p15:clr>
            <a:srgbClr val="A4A3A4"/>
          </p15:clr>
        </p15:guide>
        <p15:guide id="2" pos="296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 initials="hy" lastIdx="9" clrIdx="0"/>
  <p:cmAuthor id="2" name="Ning" initials="N" lastIdx="0" clrIdx="1"/>
  <p:cmAuthor id="3" name="avic" initials="avic" lastIdx="0" clrIdx="2"/>
  <p:cmAuthor id="4" name="Luo Jie" initials="J"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FFCCCC"/>
    <a:srgbClr val="FF8383"/>
    <a:srgbClr val="FFCDCD"/>
    <a:srgbClr val="FFCF01"/>
    <a:srgbClr val="FF6767"/>
    <a:srgbClr val="FF2A2A"/>
    <a:srgbClr val="FF9898"/>
    <a:srgbClr val="FF9393"/>
    <a:srgbClr val="FFA4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4F7644-6236-4C23-84FB-1890D21A9387}" styleName="表样式 1 17">
    <a:wholeTbl>
      <a:tcTxStyle>
        <a:fontRef idx="none">
          <a:srgbClr val="000000"/>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rgbClr val="FFFFFF"/>
          </a:solidFill>
        </a:fill>
      </a:tcStyle>
    </a:wholeTbl>
    <a:band2H>
      <a:tcStyle>
        <a:tcBdr/>
        <a:fill>
          <a:solidFill>
            <a:schemeClr val="dk1">
              <a:lumMod val="10000"/>
              <a:lumOff val="90000"/>
            </a:schemeClr>
          </a:solidFill>
        </a:fill>
      </a:tcStyle>
    </a:band2H>
    <a:band1V>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10000"/>
              <a:lumOff val="90000"/>
            </a:schemeClr>
          </a:solidFill>
        </a:fill>
      </a:tcStyle>
    </a:band1V>
    <a:band2V>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dk1">
                  <a:lumMod val="40000"/>
                  <a:lumOff val="60000"/>
                </a:schemeClr>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lastCol>
    <a:firstCol>
      <a:tcTxStyle b="on">
        <a:fontRef idx="none">
          <a:srgbClr val="08090C"/>
        </a:fontRef>
      </a:tcTxStyle>
      <a:tcStyle>
        <a:tcBdr>
          <a:left>
            <a:ln w="9525" cmpd="sng">
              <a:solidFill>
                <a:schemeClr val="dk1"/>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firstCol>
    <a:lastRow>
      <a:tcTxStyle b="on">
        <a:fontRef idx="none">
          <a:schemeClr val="dk1"/>
        </a:fontRef>
      </a:tcTxStyle>
      <a:tcStyle>
        <a:tcBdr>
          <a:left>
            <a:ln w="9525" cmpd="sng">
              <a:solidFill>
                <a:schemeClr val="dk1"/>
              </a:solidFill>
              <a:prstDash val="solid"/>
            </a:ln>
          </a:left>
          <a:right>
            <a:ln w="9525" cmpd="sng">
              <a:solidFill>
                <a:schemeClr val="dk1"/>
              </a:solidFill>
              <a:prstDash val="solid"/>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rgbClr val="FFFFFF"/>
          </a:solidFill>
        </a:fill>
      </a:tcStyle>
    </a:lastRow>
    <a:seCell>
      <a:tcTxStyle b="on">
        <a:fontRef idx="none">
          <a:schemeClr val="dk1"/>
        </a:fontRef>
      </a:tcTxStyle>
      <a:tcStyle>
        <a:tcBdr>
          <a:left>
            <a:ln>
              <a:noFill/>
            </a:ln>
          </a:left>
          <a:right>
            <a:ln w="9525" cmpd="sng">
              <a:solidFill>
                <a:schemeClr val="dk1"/>
              </a:solidFill>
              <a:prstDash val="solid"/>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rgbClr val="FFFFFF"/>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lumMod val="40000"/>
                  <a:lumOff val="60000"/>
                </a:schemeClr>
              </a:solidFill>
              <a:prstDash val="solid"/>
            </a:ln>
          </a:top>
          <a:bottom>
            <a:ln w="9525" cmpd="sng">
              <a:solidFill>
                <a:schemeClr val="dk1"/>
              </a:solidFill>
              <a:prstDash val="solid"/>
            </a:ln>
          </a:bottom>
          <a:insideH>
            <a:ln>
              <a:noFill/>
            </a:ln>
          </a:insideH>
          <a:insideV>
            <a:ln>
              <a:noFill/>
            </a:ln>
          </a:insideV>
        </a:tcBdr>
        <a:fill>
          <a:solidFill>
            <a:srgbClr val="FFFFFF"/>
          </a:solidFill>
        </a:fill>
      </a:tcStyle>
    </a:swCell>
    <a:firstRow>
      <a:tcTxStyle b="on">
        <a:fontRef idx="none">
          <a:schemeClr val="dk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w="9525" cmpd="sng">
              <a:solidFill>
                <a:schemeClr val="dk1">
                  <a:lumMod val="40000"/>
                  <a:lumOff val="60000"/>
                </a:schemeClr>
              </a:solidFill>
              <a:prstDash val="solid"/>
            </a:ln>
          </a:insideV>
        </a:tcBdr>
        <a:fill>
          <a:solidFill>
            <a:srgbClr val="FFFFFF"/>
          </a:solidFill>
        </a:fill>
      </a:tcStyle>
    </a:firstRow>
    <a:neCell>
      <a:tcTxStyle b="on">
        <a:fontRef idx="none">
          <a:schemeClr val="dk1"/>
        </a:fontRef>
      </a:tcTxStyle>
      <a:tcStyle>
        <a:tcBdr>
          <a:left>
            <a:ln w="9525" cmpd="sng">
              <a:solidFill>
                <a:schemeClr val="dk1">
                  <a:lumMod val="40000"/>
                  <a:lumOff val="60000"/>
                </a:schemeClr>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a:noFill/>
            </a:ln>
          </a:insideV>
        </a:tcBdr>
        <a:fill>
          <a:solidFill>
            <a:srgbClr val="FFFFFF"/>
          </a:solidFill>
        </a:fill>
      </a:tcStyle>
    </a:neCell>
    <a:nwCell>
      <a:tcTxStyle b="on">
        <a:fontRef idx="none">
          <a:schemeClr val="dk1"/>
        </a:fontRef>
      </a:tcTxStyle>
      <a:tcStyle>
        <a:tcBdr>
          <a:left>
            <a:ln w="9525" cmpd="sng">
              <a:solidFill>
                <a:schemeClr val="dk1"/>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lumMod val="40000"/>
                  <a:lumOff val="60000"/>
                </a:schemeClr>
              </a:solidFill>
              <a:prstDash val="solid"/>
            </a:ln>
          </a:bottom>
          <a:insideH>
            <a:ln>
              <a:noFill/>
            </a:ln>
          </a:insideH>
          <a:insideV>
            <a:ln>
              <a:noFill/>
            </a:ln>
          </a:insideV>
        </a:tcBdr>
        <a:fill>
          <a:solidFill>
            <a:srgbClr val="FFFFFF"/>
          </a:solidFill>
        </a:fill>
      </a:tcStyle>
    </a:nwCell>
  </a:tblStyle>
  <a:tblStyle styleId="{2A74AF91-AF91-4AF3-97A6-EFFC8734A8AF}" styleName="表样式 1 25">
    <a:wholeTbl>
      <a:tcTxStyle>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w="9525" cmpd="sng">
              <a:solidFill>
                <a:schemeClr val="dk1">
                  <a:lumMod val="34000"/>
                  <a:lumOff val="66000"/>
                </a:schemeClr>
              </a:solidFill>
              <a:prstDash val="solid"/>
            </a:ln>
          </a:insideV>
        </a:tcBdr>
        <a:fill>
          <a:solidFill>
            <a:schemeClr val="bg1">
              <a:alpha val="0"/>
            </a:schemeClr>
          </a:solidFill>
        </a:fill>
      </a:tcStyle>
    </a:wholeTbl>
    <a:band2H>
      <a:tcTxStyle>
        <a:fontRef idx="none">
          <a:schemeClr val="tx1"/>
        </a:fontRef>
      </a:tcTxStyle>
      <a:tcStyle>
        <a:tcBdr/>
        <a:fill>
          <a:solidFill>
            <a:schemeClr val="dk1">
              <a:alpha val="25000"/>
              <a:lumMod val="40000"/>
              <a:lumOff val="60000"/>
            </a:schemeClr>
          </a:solidFill>
        </a:fill>
      </a:tcStyle>
    </a:band2H>
    <a:band1V>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w="9525" cmpd="sng">
              <a:solidFill>
                <a:schemeClr val="dk1">
                  <a:lumMod val="40000"/>
                  <a:lumOff val="60000"/>
                </a:schemeClr>
              </a:solidFill>
              <a:prstDash val="solid"/>
            </a:ln>
          </a:insideV>
        </a:tcBdr>
        <a:fill>
          <a:solidFill>
            <a:schemeClr val="dk1">
              <a:alpha val="25000"/>
              <a:lumMod val="40000"/>
              <a:lumOff val="60000"/>
            </a:schemeClr>
          </a:solidFill>
        </a:fill>
      </a:tcStyle>
    </a:band1V>
    <a:band2V>
      <a:tcStyle>
        <a:tcBdr>
          <a:left>
            <a:ln w="9525" cmpd="sng">
              <a:solidFill>
                <a:schemeClr val="dk1">
                  <a:lumMod val="40000"/>
                  <a:lumOff val="60000"/>
                </a:schemeClr>
              </a:solidFill>
              <a:prstDash val="solid"/>
            </a:ln>
          </a:left>
          <a:right>
            <a:ln w="9525" cmpd="sng">
              <a:solidFill>
                <a:schemeClr val="dk1">
                  <a:lumMod val="40000"/>
                  <a:lumOff val="60000"/>
                </a:schemeClr>
              </a:solidFill>
              <a:prstDash val="solid"/>
            </a:ln>
          </a:right>
          <a:top>
            <a:ln w="9525" cmpd="sng">
              <a:solidFill>
                <a:schemeClr val="dk1"/>
              </a:solidFill>
              <a:prstDash val="solid"/>
            </a:ln>
          </a:top>
          <a:bottom>
            <a:ln w="9525"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bg1">
              <a:alpha val="0"/>
            </a:schemeClr>
          </a:solidFill>
        </a:fill>
      </a:tcStyle>
    </a:band2V>
    <a:lastCol>
      <a:tcTxStyle b="on">
        <a:fontRef idx="none">
          <a:schemeClr val="tx1"/>
        </a:fontRef>
      </a:tcTxStyle>
      <a:tcStyle>
        <a:tcBdr>
          <a:left>
            <a:ln w="9525" cmpd="sng">
              <a:solidFill>
                <a:schemeClr val="dk1">
                  <a:lumMod val="34000"/>
                  <a:lumOff val="66000"/>
                </a:schemeClr>
              </a:solidFill>
              <a:prstDash val="solid"/>
            </a:ln>
          </a:left>
          <a:right>
            <a:ln w="9525" cmpd="sng">
              <a:solidFill>
                <a:schemeClr val="dk1"/>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chemeClr val="bg1">
              <a:alpha val="0"/>
            </a:schemeClr>
          </a:solidFill>
        </a:fill>
      </a:tcStyle>
    </a:lastCol>
    <a:firstCol>
      <a:tcTxStyle b="on">
        <a:fontRef idx="none">
          <a:schemeClr val="tx1"/>
        </a:fontRef>
      </a:tcTxStyle>
      <a:tcStyle>
        <a:tcBdr>
          <a:left>
            <a:ln w="9525" cmpd="sng">
              <a:solidFill>
                <a:schemeClr val="dk1"/>
              </a:solidFill>
              <a:prstDash val="solid"/>
            </a:ln>
          </a:left>
          <a:right>
            <a:ln w="9525" cmpd="sng">
              <a:solidFill>
                <a:schemeClr val="dk1">
                  <a:lumMod val="34000"/>
                  <a:lumOff val="66000"/>
                </a:schemeClr>
              </a:solidFill>
              <a:prstDash val="solid"/>
            </a:ln>
          </a:right>
          <a:top>
            <a:ln w="9525" cmpd="sng">
              <a:solidFill>
                <a:schemeClr val="dk1">
                  <a:lumMod val="34000"/>
                  <a:lumOff val="66000"/>
                </a:schemeClr>
              </a:solidFill>
              <a:prstDash val="solid"/>
            </a:ln>
          </a:top>
          <a:bottom>
            <a:ln w="9525" cmpd="sng">
              <a:solidFill>
                <a:schemeClr val="dk1"/>
              </a:solidFill>
              <a:prstDash val="solid"/>
            </a:ln>
          </a:bottom>
          <a:insideH>
            <a:ln w="9525" cmpd="sng">
              <a:solidFill>
                <a:schemeClr val="dk1">
                  <a:lumMod val="34000"/>
                  <a:lumOff val="66000"/>
                </a:schemeClr>
              </a:solidFill>
              <a:prstDash val="solid"/>
            </a:ln>
          </a:insideH>
          <a:insideV>
            <a:ln>
              <a:noFill/>
            </a:ln>
          </a:insideV>
        </a:tcBdr>
        <a:fill>
          <a:solidFill>
            <a:schemeClr val="bg1">
              <a:alpha val="0"/>
            </a:schemeClr>
          </a:solidFill>
        </a:fill>
      </a:tcStyle>
    </a:firstCol>
    <a:lastRow>
      <a:tcTxStyle b="on">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lastRow>
    <a:seCell>
      <a:tcStyle>
        <a:tcBdr>
          <a:left>
            <a:ln>
              <a:noFill/>
            </a:ln>
          </a:left>
          <a:right>
            <a:ln w="9525" cmpd="sng">
              <a:solidFill>
                <a:schemeClr val="dk1"/>
              </a:solidFill>
              <a:prstDash val="solid"/>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eCell>
    <a:swCell>
      <a:tcTxStyle b="on">
        <a:fontRef idx="none">
          <a:schemeClr val="dk1"/>
        </a:fontRef>
      </a:tcTxStyle>
      <a:tcStyle>
        <a:tcBdr>
          <a:left>
            <a:ln w="9525" cmpd="sng">
              <a:solidFill>
                <a:schemeClr val="dk1"/>
              </a:solidFill>
              <a:prstDash val="solid"/>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bg1">
              <a:alpha val="0"/>
            </a:schemeClr>
          </a:solidFill>
        </a:fill>
      </a:tcStyle>
    </a:swCell>
    <a:firstRow>
      <a:tcTxStyle b="on">
        <a:fontRef idx="none">
          <a:schemeClr val="tx1"/>
        </a:fontRef>
      </a:tcTxStyle>
      <a:tcStyle>
        <a:tcBdr>
          <a:left>
            <a:ln w="9525" cmpd="sng">
              <a:solidFill>
                <a:schemeClr val="dk1"/>
              </a:solidFill>
              <a:prstDash val="solid"/>
            </a:ln>
          </a:left>
          <a:right>
            <a:ln w="9525" cmpd="sng">
              <a:solidFill>
                <a:schemeClr val="dk1"/>
              </a:solidFill>
              <a:prstDash val="solid"/>
            </a:ln>
          </a:right>
          <a:top>
            <a:ln w="9525" cmpd="sng">
              <a:solidFill>
                <a:schemeClr val="dk1"/>
              </a:solidFill>
              <a:prstDash val="solid"/>
            </a:ln>
          </a:top>
          <a:bottom>
            <a:ln w="9525" cmpd="sng">
              <a:solidFill>
                <a:schemeClr val="dk1">
                  <a:lumMod val="34000"/>
                  <a:lumOff val="66000"/>
                </a:schemeClr>
              </a:solidFill>
              <a:prstDash val="solid"/>
            </a:ln>
          </a:bottom>
          <a:insideH>
            <a:ln>
              <a:noFill/>
            </a:ln>
          </a:insideH>
          <a:insideV>
            <a:ln w="9525" cmpd="sng">
              <a:solidFill>
                <a:schemeClr val="dk1">
                  <a:alpha val="20000"/>
                  <a:lumMod val="35000"/>
                  <a:lumOff val="65000"/>
                </a:schemeClr>
              </a:solidFill>
              <a:prstDash val="solid"/>
            </a:ln>
          </a:insideV>
        </a:tcBdr>
        <a:fill>
          <a:solidFill>
            <a:schemeClr val="dk1">
              <a:alpha val="50000"/>
              <a:lumMod val="40000"/>
              <a:lumOff val="6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850" autoAdjust="0"/>
    <p:restoredTop sz="84991" autoAdjust="0"/>
  </p:normalViewPr>
  <p:slideViewPr>
    <p:cSldViewPr showGuides="1">
      <p:cViewPr>
        <p:scale>
          <a:sx n="76" d="100"/>
          <a:sy n="76" d="100"/>
        </p:scale>
        <p:origin x="3246" y="528"/>
      </p:cViewPr>
      <p:guideLst>
        <p:guide orient="horz" pos="2068"/>
        <p:guide pos="2962"/>
      </p:guideLst>
    </p:cSldViewPr>
  </p:slideViewPr>
  <p:outlineViewPr>
    <p:cViewPr>
      <p:scale>
        <a:sx n="33" d="100"/>
        <a:sy n="33" d="100"/>
      </p:scale>
      <p:origin x="0" y="102624"/>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84500" cy="501650"/>
          </a:xfrm>
          <a:prstGeom prst="rect">
            <a:avLst/>
          </a:prstGeom>
          <a:noFill/>
          <a:ln w="9525">
            <a:noFill/>
            <a:miter lim="800000"/>
          </a:ln>
          <a:effectLst/>
        </p:spPr>
        <p:txBody>
          <a:bodyPr vert="horz" wrap="square" lIns="92528" tIns="46264" rIns="92528" bIns="46264" numCol="1" anchor="t" anchorCtr="0" compatLnSpc="1"/>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79" name="Rectangle 3"/>
          <p:cNvSpPr>
            <a:spLocks noGrp="1" noChangeArrowheads="1"/>
          </p:cNvSpPr>
          <p:nvPr>
            <p:ph type="dt" sz="quarter" idx="1"/>
          </p:nvPr>
        </p:nvSpPr>
        <p:spPr bwMode="auto">
          <a:xfrm>
            <a:off x="3902075" y="0"/>
            <a:ext cx="2984500" cy="501650"/>
          </a:xfrm>
          <a:prstGeom prst="rect">
            <a:avLst/>
          </a:prstGeom>
          <a:noFill/>
          <a:ln w="9525">
            <a:noFill/>
            <a:miter lim="800000"/>
          </a:ln>
          <a:effectLst/>
        </p:spPr>
        <p:txBody>
          <a:bodyPr vert="horz" wrap="square" lIns="92528" tIns="46264" rIns="92528" bIns="46264"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0" name="Rectangle 4"/>
          <p:cNvSpPr>
            <a:spLocks noGrp="1" noChangeArrowheads="1"/>
          </p:cNvSpPr>
          <p:nvPr>
            <p:ph type="ftr" sz="quarter" idx="2"/>
          </p:nvPr>
        </p:nvSpPr>
        <p:spPr bwMode="auto">
          <a:xfrm>
            <a:off x="0" y="9515475"/>
            <a:ext cx="2984500" cy="501650"/>
          </a:xfrm>
          <a:prstGeom prst="rect">
            <a:avLst/>
          </a:prstGeom>
          <a:noFill/>
          <a:ln w="9525">
            <a:noFill/>
            <a:miter lim="800000"/>
          </a:ln>
          <a:effectLst/>
        </p:spPr>
        <p:txBody>
          <a:bodyPr vert="horz" wrap="square" lIns="92528" tIns="46264" rIns="92528" bIns="46264" numCol="1" anchor="b" anchorCtr="0" compatLnSpc="1"/>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sldNum" sz="quarter" idx="3"/>
          </p:nvPr>
        </p:nvSpPr>
        <p:spPr bwMode="auto">
          <a:xfrm>
            <a:off x="3902075" y="9515475"/>
            <a:ext cx="2984500" cy="501650"/>
          </a:xfrm>
          <a:prstGeom prst="rect">
            <a:avLst/>
          </a:prstGeom>
          <a:noFill/>
          <a:ln w="9525">
            <a:noFill/>
            <a:miter lim="800000"/>
          </a:ln>
          <a:effectLst/>
        </p:spPr>
        <p:txBody>
          <a:bodyPr vert="horz" wrap="square" lIns="92528" tIns="46264" rIns="92528" bIns="46264" numCol="1" anchor="b" anchorCtr="0" compatLnSpc="1"/>
          <a:lstStyle/>
          <a:p>
            <a:pPr lvl="0" algn="r" eaLnBrk="1" hangingPunct="1">
              <a:buNone/>
            </a:pPr>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84500" cy="501650"/>
          </a:xfrm>
          <a:prstGeom prst="rect">
            <a:avLst/>
          </a:prstGeom>
          <a:noFill/>
          <a:ln w="9525">
            <a:noFill/>
            <a:miter lim="800000"/>
          </a:ln>
          <a:effectLst/>
        </p:spPr>
        <p:txBody>
          <a:bodyPr vert="horz" wrap="square" lIns="92528" tIns="46264" rIns="92528" bIns="46264" numCol="1" anchor="t" anchorCtr="0" compatLnSpc="1"/>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699" name="Rectangle 3"/>
          <p:cNvSpPr>
            <a:spLocks noGrp="1" noChangeArrowheads="1"/>
          </p:cNvSpPr>
          <p:nvPr>
            <p:ph type="dt" idx="1"/>
          </p:nvPr>
        </p:nvSpPr>
        <p:spPr bwMode="auto">
          <a:xfrm>
            <a:off x="3902075" y="0"/>
            <a:ext cx="2984500" cy="501650"/>
          </a:xfrm>
          <a:prstGeom prst="rect">
            <a:avLst/>
          </a:prstGeom>
          <a:noFill/>
          <a:ln w="9525">
            <a:noFill/>
            <a:miter lim="800000"/>
          </a:ln>
          <a:effectLst/>
        </p:spPr>
        <p:txBody>
          <a:bodyPr vert="horz" wrap="square" lIns="92528" tIns="46264" rIns="92528" bIns="46264"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38213" y="750888"/>
            <a:ext cx="5013325" cy="3759200"/>
          </a:xfrm>
          <a:prstGeom prst="rect">
            <a:avLst/>
          </a:prstGeom>
          <a:noFill/>
          <a:ln w="9525" cap="flat" cmpd="sng">
            <a:solidFill>
              <a:srgbClr val="000000"/>
            </a:solidFill>
            <a:prstDash val="solid"/>
            <a:miter/>
            <a:headEnd type="none" w="med" len="med"/>
            <a:tailEnd type="none" w="med" len="med"/>
          </a:ln>
        </p:spPr>
      </p:sp>
      <p:sp>
        <p:nvSpPr>
          <p:cNvPr id="29701" name="Rectangle 5"/>
          <p:cNvSpPr>
            <a:spLocks noGrp="1" noChangeArrowheads="1"/>
          </p:cNvSpPr>
          <p:nvPr>
            <p:ph type="body" sz="quarter" idx="3"/>
          </p:nvPr>
        </p:nvSpPr>
        <p:spPr bwMode="auto">
          <a:xfrm>
            <a:off x="688975" y="4759325"/>
            <a:ext cx="5510213" cy="4508500"/>
          </a:xfrm>
          <a:prstGeom prst="rect">
            <a:avLst/>
          </a:prstGeom>
          <a:noFill/>
          <a:ln w="9525">
            <a:noFill/>
            <a:miter lim="800000"/>
          </a:ln>
          <a:effectLst/>
        </p:spPr>
        <p:txBody>
          <a:bodyPr vert="horz" wrap="square" lIns="92528" tIns="46264" rIns="92528" bIns="4626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9702" name="Rectangle 6"/>
          <p:cNvSpPr>
            <a:spLocks noGrp="1" noChangeArrowheads="1"/>
          </p:cNvSpPr>
          <p:nvPr>
            <p:ph type="ftr" sz="quarter" idx="4"/>
          </p:nvPr>
        </p:nvSpPr>
        <p:spPr bwMode="auto">
          <a:xfrm>
            <a:off x="0" y="9515475"/>
            <a:ext cx="2984500" cy="501650"/>
          </a:xfrm>
          <a:prstGeom prst="rect">
            <a:avLst/>
          </a:prstGeom>
          <a:noFill/>
          <a:ln w="9525">
            <a:noFill/>
            <a:miter lim="800000"/>
          </a:ln>
          <a:effectLst/>
        </p:spPr>
        <p:txBody>
          <a:bodyPr vert="horz" wrap="square" lIns="92528" tIns="46264" rIns="92528" bIns="46264" numCol="1" anchor="b" anchorCtr="0" compatLnSpc="1"/>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703" name="Rectangle 7"/>
          <p:cNvSpPr>
            <a:spLocks noGrp="1" noChangeArrowheads="1"/>
          </p:cNvSpPr>
          <p:nvPr>
            <p:ph type="sldNum" sz="quarter" idx="5"/>
          </p:nvPr>
        </p:nvSpPr>
        <p:spPr bwMode="auto">
          <a:xfrm>
            <a:off x="3902075" y="9515475"/>
            <a:ext cx="2984500" cy="501650"/>
          </a:xfrm>
          <a:prstGeom prst="rect">
            <a:avLst/>
          </a:prstGeom>
          <a:noFill/>
          <a:ln w="9525">
            <a:noFill/>
            <a:miter lim="800000"/>
          </a:ln>
          <a:effectLst/>
        </p:spPr>
        <p:txBody>
          <a:bodyPr vert="horz" wrap="square" lIns="92528" tIns="46264" rIns="92528" bIns="46264" numCol="1" anchor="b" anchorCtr="0" compatLnSpc="1"/>
          <a:lstStyle/>
          <a:p>
            <a:pPr lvl="0" algn="r" eaLnBrk="1" hangingPunct="1">
              <a:buNone/>
            </a:pPr>
            <a:fld id="{9A0DB2DC-4C9A-4742-B13C-FB6460FD3503}" type="slidenum">
              <a:rPr lang="en-US" altLang="zh-CN" sz="1200" dirty="0">
                <a:latin typeface="Arial" panose="020B0604020202020204" pitchFamily="34" charset="0"/>
              </a:rPr>
              <a:t>‹#›</a:t>
            </a:fld>
            <a:endParaRPr lang="en-US" altLang="zh-CN" sz="120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1</a:t>
            </a:fld>
            <a:endParaRPr lang="en-US" altLang="zh-CN" sz="1200" dirty="0">
              <a:latin typeface="Arial" panose="020B0604020202020204" pitchFamily="34" charset="0"/>
            </a:endParaRPr>
          </a:p>
        </p:txBody>
      </p:sp>
      <p:sp>
        <p:nvSpPr>
          <p:cNvPr id="6147" name="Rectangle 2"/>
          <p:cNvSpPr>
            <a:spLocks noGrp="1" noRot="1" noChangeAspect="1" noTextEdit="1"/>
          </p:cNvSpPr>
          <p:nvPr>
            <p:ph type="sldImg"/>
          </p:nvPr>
        </p:nvSpPr>
        <p:spPr/>
      </p:sp>
      <p:sp>
        <p:nvSpPr>
          <p:cNvPr id="6148" name="Rectangle 3"/>
          <p:cNvSpPr>
            <a:spLocks noGrp="1"/>
          </p:cNvSpPr>
          <p:nvPr>
            <p:ph type="body" idx="1"/>
          </p:nvPr>
        </p:nvSpPr>
        <p:spPr/>
        <p:txBody>
          <a:bodyPr wrap="square" lIns="92528" tIns="46264" rIns="92528" bIns="46264"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p:sp>
      <p:sp>
        <p:nvSpPr>
          <p:cNvPr id="10243" name="备注占位符 2"/>
          <p:cNvSpPr>
            <a:spLocks noGrp="1"/>
          </p:cNvSpPr>
          <p:nvPr>
            <p:ph type="body" idx="1"/>
          </p:nvPr>
        </p:nvSpPr>
        <p:spPr/>
        <p:txBody>
          <a:bodyPr wrap="square" lIns="92528" tIns="46264" rIns="92528" bIns="46264" anchor="t" anchorCtr="0"/>
          <a:lstStyle/>
          <a:p>
            <a:pPr lvl="0"/>
            <a:endParaRPr lang="zh-CN" altLang="en-US" dirty="0"/>
          </a:p>
        </p:txBody>
      </p:sp>
      <p:sp>
        <p:nvSpPr>
          <p:cNvPr id="10244"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2</a:t>
            </a:fld>
            <a:endParaRPr lang="en-US" altLang="zh-CN" sz="1200"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p:sp>
      <p:sp>
        <p:nvSpPr>
          <p:cNvPr id="10243" name="备注占位符 2"/>
          <p:cNvSpPr>
            <a:spLocks noGrp="1"/>
          </p:cNvSpPr>
          <p:nvPr>
            <p:ph type="body" idx="1"/>
          </p:nvPr>
        </p:nvSpPr>
        <p:spPr/>
        <p:txBody>
          <a:bodyPr wrap="square" lIns="92528" tIns="46264" rIns="92528" bIns="46264" anchor="t" anchorCtr="0"/>
          <a:lstStyle/>
          <a:p>
            <a:pPr lvl="0"/>
            <a:endParaRPr lang="zh-CN" altLang="en-US" dirty="0"/>
          </a:p>
        </p:txBody>
      </p:sp>
      <p:sp>
        <p:nvSpPr>
          <p:cNvPr id="10244"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4</a:t>
            </a:fld>
            <a:endParaRPr lang="en-US" altLang="zh-CN" sz="1200"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idx="1"/>
          </p:nvPr>
        </p:nvSpPr>
        <p:spPr/>
        <p:txBody>
          <a:bodyPr wrap="square" lIns="92528" tIns="46264" rIns="92528" bIns="46264" anchor="t" anchorCtr="0"/>
          <a:lstStyle/>
          <a:p>
            <a:pPr lvl="0"/>
            <a:r>
              <a:rPr lang="zh-CN" altLang="en-US" dirty="0"/>
              <a:t>学习了第二章文法和语言的概念和表示之后，就应该能读懂文法，通过分析文法，写出符合文法的程序，称之为测试程序是因为可以用这些程序来测试编译器。之后就是增量式开发编译器，学了词法分析，就编写编译器的词法分析部分，学了语法分析，就编写编译器的语法分析部分，这两部分都是只针对正确的测试程序来考核的。在学了符号表管理技术之后，可以在编译器中添加符号表。学了错误处理之后，就不仅能处理词法、语法错误，也能在符号表的支持下处理语义错误。学了运行时存储组织及管理，会了解到目标程序运行时的存储分配方案，学了源程序的中间形式，会设计中间代码，在学习了语法制导翻译技术的基础上，了解了常用语法成分的翻译方法，就能为编译器实现代码生成部分，学了目标代码生成和优化部分，为生成</a:t>
            </a:r>
            <a:r>
              <a:rPr lang="en-US" altLang="zh-CN" dirty="0"/>
              <a:t>MIPS</a:t>
            </a:r>
            <a:r>
              <a:rPr lang="zh-CN" altLang="en-US" dirty="0"/>
              <a:t>汇编和目标代码的优化打基础。学习了代码优化技术之后，就能在中间代码上进行优化。整个实验过程中，我们希望大家先读一读编译器源代码，可以读</a:t>
            </a:r>
            <a:r>
              <a:rPr lang="en-US" altLang="zh-CN" dirty="0"/>
              <a:t>PASCAL-S</a:t>
            </a:r>
            <a:r>
              <a:rPr lang="zh-CN" altLang="en-US" dirty="0"/>
              <a:t>源码，也可以读编译大赛的作品源码，了解编译器的全貌、复杂度，代码量，为构造自己的编译器打基础。在每一步都做好设计再开始编码，如果编码过程中对设计进行了修改，需要记录下来。这些都写在设计文档中。大家提交的测试程序用来建立公共测试程序库，进行编译器的调试。</a:t>
            </a:r>
          </a:p>
        </p:txBody>
      </p:sp>
      <p:sp>
        <p:nvSpPr>
          <p:cNvPr id="12292"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5</a:t>
            </a:fld>
            <a:endParaRPr lang="en-US" altLang="zh-CN" sz="1200"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6</a:t>
            </a:fld>
            <a:endParaRPr lang="en-US" altLang="zh-CN" sz="1200" dirty="0">
              <a:latin typeface="Arial" panose="020B0604020202020204" pitchFamily="34" charset="0"/>
            </a:endParaRPr>
          </a:p>
        </p:txBody>
      </p:sp>
      <p:sp>
        <p:nvSpPr>
          <p:cNvPr id="14339" name="Rectangle 2"/>
          <p:cNvSpPr>
            <a:spLocks noGrp="1" noRot="1" noChangeAspect="1" noTextEdit="1"/>
          </p:cNvSpPr>
          <p:nvPr>
            <p:ph type="sldImg"/>
          </p:nvPr>
        </p:nvSpPr>
        <p:spPr/>
      </p:sp>
      <p:sp>
        <p:nvSpPr>
          <p:cNvPr id="14340" name="Rectangle 3"/>
          <p:cNvSpPr>
            <a:spLocks noGrp="1"/>
          </p:cNvSpPr>
          <p:nvPr>
            <p:ph type="body" idx="1"/>
          </p:nvPr>
        </p:nvSpPr>
        <p:spPr/>
        <p:txBody>
          <a:bodyPr wrap="square" lIns="92528" tIns="46264" rIns="92528" bIns="46264" anchor="t" anchorCtr="0"/>
          <a:lstStyle/>
          <a:p>
            <a:pPr lvl="0" eaLnBrk="1" hangingPunct="1"/>
            <a:r>
              <a:rPr lang="zh-CN" altLang="en-US" dirty="0"/>
              <a:t>实验题目是实现一个小型编译器，该编译器按典型编译器的组成，划分成几个功能模块，对应几次作业的任务依次来完成。下面先对总体要求逐一说明，再来说明不同任务的输入输出要求。</a:t>
            </a:r>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7</a:t>
            </a:fld>
            <a:endParaRPr lang="en-US" altLang="zh-CN" sz="1200" dirty="0">
              <a:latin typeface="Arial" panose="020B0604020202020204" pitchFamily="34" charset="0"/>
            </a:endParaRPr>
          </a:p>
        </p:txBody>
      </p:sp>
      <p:sp>
        <p:nvSpPr>
          <p:cNvPr id="16387" name="Rectangle 2"/>
          <p:cNvSpPr>
            <a:spLocks noGrp="1" noRot="1" noChangeAspect="1" noTextEdit="1"/>
          </p:cNvSpPr>
          <p:nvPr>
            <p:ph type="sldImg"/>
          </p:nvPr>
        </p:nvSpPr>
        <p:spPr/>
      </p:sp>
      <p:sp>
        <p:nvSpPr>
          <p:cNvPr id="16388" name="Rectangle 3"/>
          <p:cNvSpPr>
            <a:spLocks noGrp="1"/>
          </p:cNvSpPr>
          <p:nvPr>
            <p:ph type="body" idx="1"/>
          </p:nvPr>
        </p:nvSpPr>
        <p:spPr/>
        <p:txBody>
          <a:bodyPr wrap="square" lIns="92528" tIns="46264" rIns="92528" bIns="46264" anchor="t" anchorCtr="0"/>
          <a:lstStyle/>
          <a:p>
            <a:pPr lvl="0" eaLnBrk="1" hangingPunct="1"/>
            <a:r>
              <a:rPr lang="zh-CN" altLang="en-US" dirty="0"/>
              <a:t>文法的具体定义及说明见教学平台中的“2026编译技术实验文法定义及相关说明”文档</a:t>
            </a:r>
            <a:br>
              <a:rPr lang="zh-CN" altLang="en-US" dirty="0"/>
            </a:br>
            <a:r>
              <a:rPr lang="en-US" altLang="zh-CN" dirty="0"/>
              <a:t>char a = (char) 100, b = (char) 3;</a:t>
            </a:r>
          </a:p>
          <a:p>
            <a:pPr lvl="0" eaLnBrk="1" hangingPunct="1"/>
            <a:r>
              <a:rPr lang="en-US" altLang="zh-CN" dirty="0"/>
              <a:t>char c = (a * b) / b;</a:t>
            </a:r>
          </a:p>
          <a:p>
            <a:pPr lvl="0" eaLnBrk="1" hangingPunct="1"/>
            <a:endParaRPr lang="en-US" altLang="zh-CN" dirty="0"/>
          </a:p>
          <a:p>
            <a:pPr lvl="0" eaLnBrk="1" hangingPunct="1"/>
            <a:r>
              <a:rPr lang="zh-CN" altLang="en-US" dirty="0"/>
              <a:t>对于 </a:t>
            </a:r>
            <a:r>
              <a:rPr lang="en-US" altLang="zh-CN" dirty="0"/>
              <a:t>gcc </a:t>
            </a:r>
            <a:r>
              <a:rPr lang="zh-CN" altLang="en-US" dirty="0"/>
              <a:t>由于 </a:t>
            </a:r>
            <a:r>
              <a:rPr lang="en-US" altLang="zh-CN" dirty="0"/>
              <a:t>char </a:t>
            </a:r>
            <a:r>
              <a:rPr lang="zh-CN" altLang="en-US" dirty="0"/>
              <a:t>类型的计算，在计算过程中会隐式类型转换为 </a:t>
            </a:r>
            <a:r>
              <a:rPr lang="en-US" altLang="zh-CN" dirty="0"/>
              <a:t>int（</a:t>
            </a:r>
            <a:r>
              <a:rPr lang="zh-CN" altLang="en-US" dirty="0"/>
              <a:t>整型提升），赋值给 </a:t>
            </a:r>
            <a:r>
              <a:rPr lang="en-US" altLang="zh-CN" dirty="0"/>
              <a:t>c </a:t>
            </a:r>
            <a:r>
              <a:rPr lang="zh-CN" altLang="en-US" dirty="0"/>
              <a:t>时才再转为 </a:t>
            </a:r>
            <a:r>
              <a:rPr lang="en-US" altLang="zh-CN" dirty="0"/>
              <a:t>char </a:t>
            </a:r>
            <a:r>
              <a:rPr lang="zh-CN" altLang="en-US" dirty="0"/>
              <a:t>类型，因此 </a:t>
            </a:r>
            <a:r>
              <a:rPr lang="en-US" altLang="zh-CN" dirty="0"/>
              <a:t>c = 100</a:t>
            </a:r>
          </a:p>
          <a:p>
            <a:pPr lvl="0" eaLnBrk="1" hangingPunct="1"/>
            <a:r>
              <a:rPr lang="zh-CN" altLang="en-US" dirty="0"/>
              <a:t>而我们的文法由于不支持隐式类型转换，</a:t>
            </a:r>
            <a:r>
              <a:rPr lang="en-US" altLang="zh-CN" dirty="0"/>
              <a:t>a * b </a:t>
            </a:r>
            <a:r>
              <a:rPr lang="zh-CN" altLang="en-US" dirty="0"/>
              <a:t>溢出为 44，再除 3 得到 11</a:t>
            </a:r>
          </a:p>
          <a:p>
            <a:pPr lvl="0" eaLnBrk="1" hangingPunct="1"/>
            <a:endParaRPr lang="zh-CN" altLang="en-US" dirty="0"/>
          </a:p>
          <a:p>
            <a:pPr lvl="0" eaLnBrk="1" hangingPunct="1"/>
            <a:r>
              <a:rPr lang="zh-CN" altLang="en-US" dirty="0"/>
              <a:t>该问题仅在溢出后进行除法或取模运算，以及溢出后赋值 </a:t>
            </a:r>
            <a:r>
              <a:rPr lang="en-US" altLang="zh-CN" dirty="0"/>
              <a:t>int </a:t>
            </a:r>
            <a:r>
              <a:rPr lang="zh-CN" altLang="en-US" dirty="0"/>
              <a:t>时出现</a:t>
            </a:r>
          </a:p>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8</a:t>
            </a:fld>
            <a:endParaRPr lang="en-US" altLang="zh-CN" sz="1200" dirty="0">
              <a:latin typeface="Arial" panose="020B0604020202020204" pitchFamily="34" charset="0"/>
            </a:endParaRPr>
          </a:p>
        </p:txBody>
      </p:sp>
      <p:sp>
        <p:nvSpPr>
          <p:cNvPr id="18435" name="Rectangle 2"/>
          <p:cNvSpPr>
            <a:spLocks noGrp="1" noRot="1" noChangeAspect="1" noTextEdit="1"/>
          </p:cNvSpPr>
          <p:nvPr>
            <p:ph type="sldImg"/>
          </p:nvPr>
        </p:nvSpPr>
        <p:spPr/>
      </p:sp>
      <p:sp>
        <p:nvSpPr>
          <p:cNvPr id="18436" name="Rectangle 3"/>
          <p:cNvSpPr>
            <a:spLocks noGrp="1"/>
          </p:cNvSpPr>
          <p:nvPr>
            <p:ph type="body" idx="1"/>
          </p:nvPr>
        </p:nvSpPr>
        <p:spPr/>
        <p:txBody>
          <a:bodyPr wrap="square" lIns="92528" tIns="46264" rIns="92528" bIns="46264"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9</a:t>
            </a:fld>
            <a:endParaRPr lang="en-US" altLang="zh-CN" sz="1200" dirty="0">
              <a:latin typeface="Arial" panose="020B0604020202020204" pitchFamily="34" charset="0"/>
            </a:endParaRPr>
          </a:p>
        </p:txBody>
      </p:sp>
      <p:sp>
        <p:nvSpPr>
          <p:cNvPr id="20483" name="Rectangle 2"/>
          <p:cNvSpPr>
            <a:spLocks noGrp="1" noRot="1" noChangeAspect="1" noTextEdit="1"/>
          </p:cNvSpPr>
          <p:nvPr>
            <p:ph type="sldImg"/>
          </p:nvPr>
        </p:nvSpPr>
        <p:spPr/>
      </p:sp>
      <p:sp>
        <p:nvSpPr>
          <p:cNvPr id="20484" name="Rectangle 3"/>
          <p:cNvSpPr>
            <a:spLocks noGrp="1"/>
          </p:cNvSpPr>
          <p:nvPr>
            <p:ph type="body" idx="1"/>
          </p:nvPr>
        </p:nvSpPr>
        <p:spPr/>
        <p:txBody>
          <a:bodyPr wrap="square" lIns="92528" tIns="46264" rIns="92528" bIns="46264" anchor="t" anchorCtr="0"/>
          <a:lstStyle/>
          <a:p>
            <a:pPr lvl="0" eaLnBrk="1" hangingPunct="1"/>
            <a:r>
              <a:rPr lang="zh-CN" altLang="en-US" dirty="0"/>
              <a:t>三种目标代码只需选择一种完成，若生成</a:t>
            </a:r>
            <a:r>
              <a:rPr lang="en-US" altLang="zh-CN" dirty="0"/>
              <a:t>PCODE</a:t>
            </a:r>
            <a:r>
              <a:rPr lang="zh-CN" altLang="en-US" dirty="0"/>
              <a:t>，需编写解释执行程序，直接得到</a:t>
            </a:r>
            <a:r>
              <a:rPr lang="en-US" altLang="zh-CN" dirty="0"/>
              <a:t>PCODE</a:t>
            </a:r>
            <a:r>
              <a:rPr lang="zh-CN" altLang="en-US" dirty="0"/>
              <a:t>代码的解释执行结果用于评判；若生成</a:t>
            </a:r>
            <a:r>
              <a:rPr lang="en-US" altLang="zh-CN" dirty="0"/>
              <a:t>MIPS</a:t>
            </a:r>
            <a:r>
              <a:rPr lang="zh-CN" altLang="en-US" dirty="0"/>
              <a:t>汇编，则在</a:t>
            </a:r>
            <a:r>
              <a:rPr lang="en-US" altLang="zh-CN" dirty="0"/>
              <a:t>Mars</a:t>
            </a:r>
            <a:r>
              <a:rPr lang="zh-CN" altLang="en-US" dirty="0"/>
              <a:t>上运行得到运行结果用于评判；若生成</a:t>
            </a:r>
            <a:r>
              <a:rPr lang="en-US" altLang="zh-CN" dirty="0"/>
              <a:t>LLVM IR</a:t>
            </a:r>
            <a:r>
              <a:rPr lang="zh-CN" altLang="en-US" dirty="0"/>
              <a:t>，则用</a:t>
            </a:r>
            <a:r>
              <a:rPr lang="en-US" altLang="zh-CN" dirty="0"/>
              <a:t>llc</a:t>
            </a:r>
            <a:r>
              <a:rPr lang="zh-CN" altLang="en-US" dirty="0"/>
              <a:t>工具得到运行结果，不要求生成</a:t>
            </a:r>
            <a:r>
              <a:rPr lang="en-US" altLang="zh-CN" dirty="0"/>
              <a:t>SSA</a:t>
            </a:r>
            <a:r>
              <a:rPr lang="zh-CN" altLang="en-US" dirty="0"/>
              <a:t>形式的</a:t>
            </a:r>
            <a:r>
              <a:rPr lang="en-US" altLang="zh-CN" dirty="0"/>
              <a:t>IR</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10</a:t>
            </a:fld>
            <a:endParaRPr lang="en-US" altLang="zh-CN" sz="1200" dirty="0">
              <a:latin typeface="Arial" panose="020B0604020202020204" pitchFamily="34" charset="0"/>
            </a:endParaRPr>
          </a:p>
        </p:txBody>
      </p:sp>
      <p:sp>
        <p:nvSpPr>
          <p:cNvPr id="22531" name="Rectangle 2"/>
          <p:cNvSpPr>
            <a:spLocks noGrp="1" noRot="1" noChangeAspect="1" noTextEdit="1"/>
          </p:cNvSpPr>
          <p:nvPr>
            <p:ph type="sldImg"/>
          </p:nvPr>
        </p:nvSpPr>
        <p:spPr/>
      </p:sp>
      <p:sp>
        <p:nvSpPr>
          <p:cNvPr id="22532" name="Rectangle 3"/>
          <p:cNvSpPr>
            <a:spLocks noGrp="1"/>
          </p:cNvSpPr>
          <p:nvPr>
            <p:ph type="body" idx="1"/>
          </p:nvPr>
        </p:nvSpPr>
        <p:spPr/>
        <p:txBody>
          <a:bodyPr wrap="square" lIns="92528" tIns="46264" rIns="92528" bIns="46264"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11</a:t>
            </a:fld>
            <a:endParaRPr lang="en-US" altLang="zh-CN" sz="1200" dirty="0">
              <a:latin typeface="Arial" panose="020B0604020202020204" pitchFamily="34" charset="0"/>
            </a:endParaRPr>
          </a:p>
        </p:txBody>
      </p:sp>
      <p:sp>
        <p:nvSpPr>
          <p:cNvPr id="40963" name="Rectangle 2"/>
          <p:cNvSpPr>
            <a:spLocks noGrp="1" noRot="1" noChangeAspect="1" noTextEdit="1"/>
          </p:cNvSpPr>
          <p:nvPr>
            <p:ph type="sldImg"/>
          </p:nvPr>
        </p:nvSpPr>
        <p:spPr/>
      </p:sp>
      <p:sp>
        <p:nvSpPr>
          <p:cNvPr id="40964" name="Rectangle 3"/>
          <p:cNvSpPr>
            <a:spLocks noGrp="1"/>
          </p:cNvSpPr>
          <p:nvPr>
            <p:ph type="body" idx="1"/>
          </p:nvPr>
        </p:nvSpPr>
        <p:spPr/>
        <p:txBody>
          <a:bodyPr wrap="square" lIns="92528" tIns="46264" rIns="92528" bIns="46264" anchor="t" anchorCtr="0"/>
          <a:lstStyle/>
          <a:p>
            <a:pPr lvl="0" eaLnBrk="1" hangingPunct="1"/>
            <a:r>
              <a:rPr lang="zh-CN" altLang="en-US" dirty="0"/>
              <a:t>图中展示了生成不同目标代码的编译器架构。</a:t>
            </a:r>
            <a:endParaRPr lang="en-US" altLang="zh-CN" dirty="0"/>
          </a:p>
          <a:p>
            <a:pPr lvl="0" eaLnBrk="1" hangingPunct="1"/>
            <a:r>
              <a:rPr lang="zh-CN" altLang="en-US" dirty="0"/>
              <a:t>（</a:t>
            </a:r>
            <a:r>
              <a:rPr lang="en-US" altLang="zh-CN" dirty="0"/>
              <a:t>1</a:t>
            </a:r>
            <a:r>
              <a:rPr lang="zh-CN" altLang="en-US" dirty="0"/>
              <a:t>）生成</a:t>
            </a:r>
            <a:r>
              <a:rPr lang="en-US" altLang="zh-CN" dirty="0"/>
              <a:t>PCODE</a:t>
            </a:r>
            <a:r>
              <a:rPr lang="zh-CN" altLang="en-US" dirty="0"/>
              <a:t>代码：从语义分析直接生成，再用虚拟机解释执行。虚拟机部分也需要自己编写。</a:t>
            </a:r>
            <a:endParaRPr lang="en-US" altLang="zh-CN" dirty="0"/>
          </a:p>
          <a:p>
            <a:pPr lvl="0" eaLnBrk="1" hangingPunct="1"/>
            <a:r>
              <a:rPr lang="zh-CN" altLang="en-US" dirty="0"/>
              <a:t>（</a:t>
            </a:r>
            <a:r>
              <a:rPr lang="en-US" altLang="zh-CN" dirty="0"/>
              <a:t>2</a:t>
            </a:r>
            <a:r>
              <a:rPr lang="zh-CN" altLang="en-US" dirty="0"/>
              <a:t>）生成</a:t>
            </a:r>
            <a:r>
              <a:rPr lang="en-US" altLang="zh-CN" dirty="0"/>
              <a:t>MIPS</a:t>
            </a:r>
            <a:r>
              <a:rPr lang="zh-CN" altLang="en-US" dirty="0"/>
              <a:t>汇编：从语义分析生成中间代码，从中间代码生成</a:t>
            </a:r>
            <a:r>
              <a:rPr lang="en-US" altLang="zh-CN" dirty="0"/>
              <a:t>MIPS</a:t>
            </a:r>
            <a:r>
              <a:rPr lang="zh-CN" altLang="en-US" dirty="0"/>
              <a:t>汇编，在</a:t>
            </a:r>
            <a:r>
              <a:rPr lang="en-US" altLang="zh-CN" dirty="0"/>
              <a:t>Mars</a:t>
            </a:r>
            <a:r>
              <a:rPr lang="zh-CN" altLang="en-US" dirty="0"/>
              <a:t>上运行。代码生成时合理利用临时寄存器（临时寄存器池），能生成较高质量的目标代码。先做好目标代码生成，再回头做中间代码上的优化。中间代码可以是自己定义的四元式，也可以用</a:t>
            </a:r>
            <a:r>
              <a:rPr lang="en-US" altLang="zh-CN" dirty="0"/>
              <a:t>LLVM IR</a:t>
            </a:r>
            <a:r>
              <a:rPr lang="zh-CN" altLang="en-US" dirty="0"/>
              <a:t>作为中间代码。</a:t>
            </a:r>
            <a:endParaRPr lang="en-US" altLang="zh-CN" dirty="0"/>
          </a:p>
          <a:p>
            <a:pPr lvl="0" eaLnBrk="1" hangingPunct="1"/>
            <a:r>
              <a:rPr lang="zh-CN" altLang="en-US" dirty="0"/>
              <a:t>（</a:t>
            </a:r>
            <a:r>
              <a:rPr lang="en-US" altLang="zh-CN" dirty="0"/>
              <a:t>3</a:t>
            </a:r>
            <a:r>
              <a:rPr lang="zh-CN" altLang="en-US" dirty="0"/>
              <a:t>）生成</a:t>
            </a:r>
            <a:r>
              <a:rPr lang="en-US" altLang="zh-CN" dirty="0"/>
              <a:t>LLVM IR</a:t>
            </a:r>
            <a:r>
              <a:rPr lang="zh-CN" altLang="en-US" dirty="0"/>
              <a:t>：从语义分析生成</a:t>
            </a:r>
            <a:r>
              <a:rPr lang="en-US" altLang="zh-CN" dirty="0"/>
              <a:t>LLVM IR</a:t>
            </a:r>
            <a:r>
              <a:rPr lang="zh-CN" altLang="en-US" dirty="0"/>
              <a:t>，将其作为目标代码，直接用</a:t>
            </a:r>
            <a:r>
              <a:rPr lang="en-US" altLang="zh-CN" dirty="0"/>
              <a:t>LLC</a:t>
            </a:r>
            <a:r>
              <a:rPr lang="zh-CN" altLang="en-US" dirty="0"/>
              <a:t>工具得到运行结果。</a:t>
            </a:r>
          </a:p>
          <a:p>
            <a:pPr lvl="0" eaLnBrk="1" hangingPunct="1"/>
            <a:r>
              <a:rPr lang="zh-CN" altLang="en-US" dirty="0"/>
              <a:t>上述三种路径选一种完成即可。</a:t>
            </a:r>
          </a:p>
          <a:p>
            <a:pPr lvl="0" eaLnBrk="1" hangingPunct="1"/>
            <a:r>
              <a:rPr lang="zh-CN" altLang="en-US" dirty="0"/>
              <a:t>图中蓝色框表示提交的代码中应包含的功能模块，红色实线框表示编译器要输出的几种目标代码，红色虚线框表示用内部数据结果来表示四元式，在输出时有统一的输出要求，见</a:t>
            </a:r>
            <a:r>
              <a:rPr lang="en-US" altLang="zh-CN" dirty="0"/>
              <a:t>“</a:t>
            </a:r>
            <a:r>
              <a:rPr lang="zh-CN" altLang="en-US" dirty="0"/>
              <a:t>2026编译技术实验中间代码输出格式说明</a:t>
            </a:r>
            <a:r>
              <a:rPr lang="en-US" altLang="zh-CN" dirty="0"/>
              <a:t>”</a:t>
            </a:r>
            <a:r>
              <a:rPr lang="zh-CN" altLang="en-US" dirty="0"/>
              <a:t>。</a:t>
            </a:r>
            <a:br>
              <a:rPr lang="zh-CN" altLang="en-US" dirty="0"/>
            </a:br>
            <a:endParaRPr lang="zh-CN" altLang="en-US" dirty="0"/>
          </a:p>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p:sp>
      <p:sp>
        <p:nvSpPr>
          <p:cNvPr id="24579" name="备注占位符 2"/>
          <p:cNvSpPr>
            <a:spLocks noGrp="1"/>
          </p:cNvSpPr>
          <p:nvPr>
            <p:ph type="body" idx="1"/>
          </p:nvPr>
        </p:nvSpPr>
        <p:spPr/>
        <p:txBody>
          <a:bodyPr wrap="square" lIns="92528" tIns="46264" rIns="92528" bIns="46264" anchor="t" anchorCtr="0"/>
          <a:lstStyle/>
          <a:p>
            <a:pPr lvl="0"/>
            <a:r>
              <a:rPr lang="zh-CN" altLang="en-US" dirty="0"/>
              <a:t>图中表示在公共测试库、设计文档和源代码阅读的基础上，逐步完成各项作业和考核的步骤及顺序</a:t>
            </a:r>
            <a:br>
              <a:rPr lang="zh-CN" altLang="en-US" dirty="0"/>
            </a:br>
            <a:r>
              <a:rPr lang="zh-CN" altLang="en-US" dirty="0"/>
              <a:t>（</a:t>
            </a:r>
            <a:r>
              <a:rPr lang="en-US" altLang="zh-CN" dirty="0"/>
              <a:t>1</a:t>
            </a:r>
            <a:r>
              <a:rPr lang="zh-CN" altLang="en-US" dirty="0"/>
              <a:t>）文法解读作业完成的测试程序会择优放入公共测试程序库，和其他由课程组提供的测试程序一起为大家调试程序提供帮助。公共测试程序一部分作为公开的作业发布，可以看到详细的评测结果；另一部分发布给大家自行测试。</a:t>
            </a:r>
          </a:p>
          <a:p>
            <a:pPr lvl="0"/>
            <a:r>
              <a:rPr lang="zh-CN" altLang="en-US" dirty="0"/>
              <a:t>（</a:t>
            </a:r>
            <a:r>
              <a:rPr lang="en-US" altLang="zh-CN" dirty="0"/>
              <a:t>2</a:t>
            </a:r>
            <a:r>
              <a:rPr lang="zh-CN" altLang="en-US" dirty="0"/>
              <a:t>）词法分析作业和语法分析作业之后会进行期中上机考核，在机房环境下进行，断外网，不能使用</a:t>
            </a:r>
            <a:r>
              <a:rPr lang="en-US" altLang="zh-CN" dirty="0"/>
              <a:t>AI</a:t>
            </a:r>
          </a:p>
          <a:p>
            <a:pPr lvl="0"/>
            <a:r>
              <a:rPr lang="zh-CN" altLang="en-US" dirty="0"/>
              <a:t>（</a:t>
            </a:r>
            <a:r>
              <a:rPr lang="en-US" altLang="zh-CN" dirty="0"/>
              <a:t>3</a:t>
            </a:r>
            <a:r>
              <a:rPr lang="zh-CN" altLang="en-US" dirty="0"/>
              <a:t>）期中考核会针对新的文法，在断网环境下，对自己提交的编译器进行修改，适应新的文法</a:t>
            </a:r>
          </a:p>
          <a:p>
            <a:pPr lvl="0"/>
            <a:r>
              <a:rPr lang="zh-CN" altLang="en-US" dirty="0"/>
              <a:t>（</a:t>
            </a:r>
            <a:r>
              <a:rPr lang="en-US" altLang="zh-CN" dirty="0"/>
              <a:t>5</a:t>
            </a:r>
            <a:r>
              <a:rPr lang="zh-CN" altLang="en-US" dirty="0"/>
              <a:t>）从语义分析开始，后续的几次作业会涉及到现场答辩，向老师或助教讲解自己的实现方案，并针对代码回答问题</a:t>
            </a:r>
          </a:p>
          <a:p>
            <a:pPr lvl="0"/>
            <a:r>
              <a:rPr lang="zh-CN" altLang="en-US" dirty="0"/>
              <a:t>（</a:t>
            </a:r>
            <a:r>
              <a:rPr lang="en-US" altLang="zh-CN" dirty="0"/>
              <a:t>6</a:t>
            </a:r>
            <a:r>
              <a:rPr lang="zh-CN" altLang="en-US" dirty="0"/>
              <a:t>）语义分析之后，在代码生成阶段要确定自己编译器的目标码。若选择</a:t>
            </a:r>
            <a:r>
              <a:rPr lang="en-US" altLang="zh-CN" dirty="0"/>
              <a:t>MIPS</a:t>
            </a:r>
            <a:r>
              <a:rPr lang="zh-CN" altLang="en-US" dirty="0"/>
              <a:t>汇编，则后续要做优化，在竞速排序作业提交；若选择</a:t>
            </a:r>
            <a:r>
              <a:rPr lang="en-US" altLang="zh-CN" dirty="0"/>
              <a:t>PCODE/</a:t>
            </a:r>
            <a:r>
              <a:rPr lang="zh-CN" altLang="en-US" dirty="0"/>
              <a:t>或</a:t>
            </a:r>
            <a:r>
              <a:rPr lang="en-US" altLang="zh-CN" dirty="0"/>
              <a:t>LLVM IR</a:t>
            </a:r>
            <a:r>
              <a:rPr lang="zh-CN" altLang="en-US" dirty="0"/>
              <a:t>作为目标码，则不用做代码优化。（</a:t>
            </a:r>
            <a:r>
              <a:rPr lang="en-US" altLang="zh-CN" dirty="0"/>
              <a:t>7</a:t>
            </a:r>
            <a:r>
              <a:rPr lang="zh-CN" altLang="en-US" dirty="0"/>
              <a:t>）代码生成作业分为两次完成，代码生成一是指代码生成的第一次作业，用一个简单的测试程序进行测试；代码生成二用综合的测试程序进行测试，包括正确和错误的测试程序</a:t>
            </a:r>
          </a:p>
          <a:p>
            <a:pPr lvl="0"/>
            <a:r>
              <a:rPr lang="zh-CN" altLang="en-US" dirty="0"/>
              <a:t>（</a:t>
            </a:r>
            <a:r>
              <a:rPr lang="en-US" altLang="zh-CN" dirty="0"/>
              <a:t>7</a:t>
            </a:r>
            <a:r>
              <a:rPr lang="zh-CN" altLang="en-US" dirty="0"/>
              <a:t>）</a:t>
            </a:r>
            <a:r>
              <a:rPr lang="zh-CN" altLang="en-US" dirty="0">
                <a:sym typeface="+mn-ea"/>
              </a:rPr>
              <a:t>无论选择哪种目标代码，期末考核是统一进行的，有部分题目要根据自己选择的目标代码来回答</a:t>
            </a:r>
            <a:endParaRPr lang="zh-CN" altLang="en-US" dirty="0"/>
          </a:p>
          <a:p>
            <a:pPr lvl="0"/>
            <a:r>
              <a:rPr lang="zh-CN" altLang="en-US" dirty="0"/>
              <a:t>（</a:t>
            </a:r>
            <a:r>
              <a:rPr lang="en-US" altLang="zh-CN" dirty="0"/>
              <a:t>8</a:t>
            </a:r>
            <a:r>
              <a:rPr lang="zh-CN" altLang="en-US" dirty="0"/>
              <a:t>）开发之前务必进行设计，随着开发的进行，设计应该是逐渐完善的，设计文档也是在逐渐扩充的。</a:t>
            </a:r>
            <a:endParaRPr lang="en-US" altLang="zh-CN" dirty="0"/>
          </a:p>
          <a:p>
            <a:pPr lvl="0"/>
            <a:r>
              <a:rPr lang="zh-CN" altLang="en-US" dirty="0"/>
              <a:t>（</a:t>
            </a:r>
            <a:r>
              <a:rPr lang="en-US" altLang="zh-CN" dirty="0"/>
              <a:t>9</a:t>
            </a:r>
            <a:r>
              <a:rPr lang="zh-CN" altLang="en-US" dirty="0"/>
              <a:t>）阅读教学编译器</a:t>
            </a:r>
            <a:r>
              <a:rPr lang="en-US" altLang="zh-CN" dirty="0"/>
              <a:t>PASCAL-S</a:t>
            </a:r>
            <a:r>
              <a:rPr lang="zh-CN" altLang="en-US" dirty="0"/>
              <a:t>的源代码，能为编译器的开发提供参考，可以在各阶段阅读相应部分的代码，建议阅读后自己写上注释，认真阅读有助于把握编译器难度、并为设计自己的编译器提供参考，作为教学参考编译器，其代码量适度，并且与理论课内容结合密切，便于理解。也可以阅读其他开源编译器。</a:t>
            </a:r>
          </a:p>
        </p:txBody>
      </p:sp>
      <p:sp>
        <p:nvSpPr>
          <p:cNvPr id="24580"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12</a:t>
            </a:fld>
            <a:endParaRPr lang="en-US" altLang="zh-CN" sz="1200"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p:txBody>
          <a:bodyPr wrap="square" lIns="92528" tIns="46264" rIns="92528" bIns="46264" anchor="t" anchorCtr="0"/>
          <a:lstStyle/>
          <a:p>
            <a:pPr lvl="0"/>
            <a:r>
              <a:rPr lang="zh-CN" altLang="en-US" dirty="0"/>
              <a:t>不同的目标代码对应了不同的分数：</a:t>
            </a:r>
          </a:p>
          <a:p>
            <a:pPr lvl="0"/>
            <a:r>
              <a:rPr lang="zh-CN" altLang="en-US" dirty="0"/>
              <a:t>（</a:t>
            </a:r>
            <a:r>
              <a:rPr lang="en-US" altLang="zh-CN" dirty="0"/>
              <a:t>1</a:t>
            </a:r>
            <a:r>
              <a:rPr lang="zh-CN" altLang="en-US" dirty="0"/>
              <a:t>）生成</a:t>
            </a:r>
            <a:r>
              <a:rPr lang="en-US" altLang="zh-CN" dirty="0"/>
              <a:t>PCODE</a:t>
            </a:r>
            <a:r>
              <a:rPr lang="zh-CN" altLang="en-US" dirty="0"/>
              <a:t>并解释执行：满分</a:t>
            </a:r>
            <a:r>
              <a:rPr lang="en-US" altLang="zh-CN" dirty="0"/>
              <a:t>85</a:t>
            </a:r>
            <a:r>
              <a:rPr lang="zh-CN" altLang="en-US" dirty="0"/>
              <a:t>，需要设计相应的</a:t>
            </a:r>
            <a:r>
              <a:rPr lang="en-US" altLang="zh-CN" dirty="0"/>
              <a:t>PCODE</a:t>
            </a:r>
            <a:r>
              <a:rPr lang="zh-CN" altLang="en-US" dirty="0"/>
              <a:t>，并在解释执行程序中写出对应执行步骤</a:t>
            </a:r>
            <a:endParaRPr lang="en-US" altLang="zh-CN" dirty="0"/>
          </a:p>
          <a:p>
            <a:pPr lvl="0"/>
            <a:r>
              <a:rPr lang="zh-CN" altLang="en-US" dirty="0"/>
              <a:t>（</a:t>
            </a:r>
            <a:r>
              <a:rPr lang="en-US" altLang="zh-CN" dirty="0"/>
              <a:t>2</a:t>
            </a:r>
            <a:r>
              <a:rPr lang="zh-CN" altLang="en-US" dirty="0"/>
              <a:t>）生成</a:t>
            </a:r>
            <a:r>
              <a:rPr lang="en-US" altLang="zh-CN" dirty="0"/>
              <a:t>LLVM IR</a:t>
            </a:r>
            <a:r>
              <a:rPr lang="zh-CN" altLang="en-US" dirty="0"/>
              <a:t>：满分</a:t>
            </a:r>
            <a:r>
              <a:rPr lang="en-US" altLang="zh-CN" dirty="0"/>
              <a:t>85</a:t>
            </a:r>
            <a:r>
              <a:rPr lang="zh-CN" altLang="en-US" dirty="0"/>
              <a:t>，可以不生成</a:t>
            </a:r>
            <a:r>
              <a:rPr lang="en-US" altLang="zh-CN" dirty="0"/>
              <a:t>SSA</a:t>
            </a:r>
            <a:r>
              <a:rPr lang="zh-CN" altLang="en-US" dirty="0"/>
              <a:t>形式的</a:t>
            </a:r>
          </a:p>
          <a:p>
            <a:pPr lvl="0"/>
            <a:r>
              <a:rPr lang="zh-CN" altLang="en-US" dirty="0"/>
              <a:t>（</a:t>
            </a:r>
            <a:r>
              <a:rPr lang="en-US" altLang="zh-CN" dirty="0"/>
              <a:t>3</a:t>
            </a:r>
            <a:r>
              <a:rPr lang="zh-CN" altLang="en-US" dirty="0"/>
              <a:t>）生成</a:t>
            </a:r>
            <a:r>
              <a:rPr lang="en-US" altLang="zh-CN" dirty="0"/>
              <a:t>MIPS</a:t>
            </a:r>
            <a:r>
              <a:rPr lang="zh-CN" altLang="en-US" dirty="0"/>
              <a:t>汇编：满分</a:t>
            </a:r>
            <a:r>
              <a:rPr lang="en-US" altLang="zh-CN" dirty="0"/>
              <a:t>100</a:t>
            </a:r>
            <a:r>
              <a:rPr lang="zh-CN" altLang="en-US" dirty="0"/>
              <a:t>，都要参加竞速排序、写优化有关的文章，排名得分、优化文章决定优化部分的得分</a:t>
            </a:r>
          </a:p>
        </p:txBody>
      </p:sp>
      <p:sp>
        <p:nvSpPr>
          <p:cNvPr id="35844"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13</a:t>
            </a:fld>
            <a:endParaRPr lang="en-US" altLang="zh-CN" sz="1200"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代码优化的成绩包括竞速排序作业成绩、期末考核中优化题目的竞速排序成绩，以及优化文章的成绩</a:t>
            </a:r>
            <a:endParaRPr lang="en-US" altLang="zh-CN" dirty="0"/>
          </a:p>
          <a:p>
            <a:r>
              <a:rPr lang="zh-CN" altLang="en-US" dirty="0"/>
              <a:t>文档包括设计文档和总结感想，设计文档包括参考编译器源代码阅读总结和各阶段作业的设计（含编码前和编码后的修改，对</a:t>
            </a:r>
            <a:r>
              <a:rPr lang="en-US" altLang="zh-CN" dirty="0"/>
              <a:t>AI</a:t>
            </a:r>
            <a:r>
              <a:rPr lang="zh-CN" altLang="en-US" dirty="0"/>
              <a:t>生成代码的修改等）</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代码优化的成绩包括竞速排序作业成绩、期末考核中优化题目的竞速排序成绩，以及优化文章的成绩</a:t>
            </a:r>
            <a:endParaRPr lang="en-US" altLang="zh-CN" dirty="0"/>
          </a:p>
          <a:p>
            <a:r>
              <a:rPr lang="zh-CN" altLang="en-US" dirty="0"/>
              <a:t>文档包括设计文档和总结感想，设计文档包括参考编译器源代码阅读总结和各阶段作业的设计（含编码前和编码后的修改，对</a:t>
            </a:r>
            <a:r>
              <a:rPr lang="en-US" altLang="zh-CN" dirty="0"/>
              <a:t>AI</a:t>
            </a:r>
            <a:r>
              <a:rPr lang="zh-CN" altLang="en-US" dirty="0"/>
              <a:t>生成代码的修改等）</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p:txBody>
          <a:bodyPr wrap="square" lIns="92528" tIns="46264" rIns="92528" bIns="46264" anchor="t" anchorCtr="0"/>
          <a:lstStyle/>
          <a:p>
            <a:pPr lvl="0"/>
            <a:r>
              <a:rPr lang="zh-CN" altLang="en-US" dirty="0"/>
              <a:t>以下简要说明各项作业的要求，具体要求详见教学平台的该次作业描述，以平台发布的版本为准。</a:t>
            </a:r>
            <a:endParaRPr lang="en-US" altLang="zh-CN" dirty="0"/>
          </a:p>
          <a:p>
            <a:pPr lvl="0"/>
            <a:r>
              <a:rPr lang="zh-CN" altLang="en-US" dirty="0"/>
              <a:t>这里要求每个测试程序有</a:t>
            </a:r>
            <a:r>
              <a:rPr lang="en-US" altLang="zh-CN" dirty="0"/>
              <a:t>10</a:t>
            </a:r>
            <a:r>
              <a:rPr lang="zh-CN" altLang="en-US" dirty="0"/>
              <a:t>行输出结果，主要是为了展示各种语法成分的处理结果，以方便进行调试，请不要写无意义或雷同的</a:t>
            </a:r>
            <a:r>
              <a:rPr lang="en-US" altLang="zh-CN" dirty="0"/>
              <a:t>10</a:t>
            </a:r>
            <a:r>
              <a:rPr lang="zh-CN" altLang="en-US" dirty="0"/>
              <a:t>行输出结果。</a:t>
            </a:r>
            <a:endParaRPr lang="en-US" altLang="zh-CN" dirty="0"/>
          </a:p>
          <a:p>
            <a:pPr lvl="0"/>
            <a:r>
              <a:rPr lang="zh-CN" altLang="en-US" dirty="0"/>
              <a:t>文档中列出的需覆盖项只是最基本的，希望能写出更多“刁钻”的测试程序</a:t>
            </a:r>
            <a:endParaRPr lang="zh-CN" altLang="zh-CN" dirty="0"/>
          </a:p>
        </p:txBody>
      </p:sp>
      <p:sp>
        <p:nvSpPr>
          <p:cNvPr id="26628"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16</a:t>
            </a:fld>
            <a:endParaRPr lang="en-US" altLang="zh-CN" sz="1200"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67986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要求手工编程实现</a:t>
            </a:r>
            <a:endParaRPr lang="en-US" altLang="zh-CN" dirty="0"/>
          </a:p>
          <a:p>
            <a:r>
              <a:rPr lang="zh-CN" altLang="en-US" dirty="0"/>
              <a:t>输出形式只是为了帮助大家调试编译器，需要设计内部存储结构保存信息</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要求手工编程实现</a:t>
            </a:r>
            <a:endParaRPr lang="en-US" altLang="zh-CN" dirty="0"/>
          </a:p>
          <a:p>
            <a:r>
              <a:rPr lang="zh-CN" altLang="en-US" dirty="0"/>
              <a:t>输出形式只是为了帮助大家调试编译器，需要设计内部存储结构保存信息</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要求手工编程实现</a:t>
            </a:r>
            <a:endParaRPr lang="en-US" altLang="zh-CN" dirty="0"/>
          </a:p>
          <a:p>
            <a:r>
              <a:rPr lang="zh-CN" altLang="en-US" dirty="0"/>
              <a:t>输出顺序是按原文法的顺序，若对文法进行了改写，需要注意输出顺序</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要求手工编程实现</a:t>
            </a:r>
            <a:endParaRPr lang="en-US" altLang="zh-CN" dirty="0"/>
          </a:p>
          <a:p>
            <a:r>
              <a:rPr lang="zh-CN" altLang="en-US" dirty="0"/>
              <a:t>输出顺序是按原文法的顺序，若对文法进行了改写，需要注意输出顺序</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大多数错误类型需要借助于符号表才能识别</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大多数错误类型需要借助于符号表才能识别</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解释执行程序需自己编写，</a:t>
            </a:r>
            <a:r>
              <a:rPr lang="en-US" altLang="zh-CN"/>
              <a:t>Mars</a:t>
            </a:r>
            <a:r>
              <a:rPr lang="zh-CN" altLang="en-US"/>
              <a:t>和</a:t>
            </a:r>
            <a:r>
              <a:rPr lang="en-US" altLang="zh-CN"/>
              <a:t>llc</a:t>
            </a:r>
            <a:r>
              <a:rPr lang="zh-CN" altLang="en-US"/>
              <a:t>直接使用现有工具</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解释执行程序需自己编写，</a:t>
            </a:r>
            <a:r>
              <a:rPr lang="en-US" altLang="zh-CN"/>
              <a:t>Mars</a:t>
            </a:r>
            <a:r>
              <a:rPr lang="zh-CN" altLang="en-US"/>
              <a:t>和</a:t>
            </a:r>
            <a:r>
              <a:rPr lang="en-US" altLang="zh-CN"/>
              <a:t>llc</a:t>
            </a:r>
            <a:r>
              <a:rPr lang="zh-CN" altLang="en-US"/>
              <a:t>直接使用现有工具</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解释执行程序需自己编写，</a:t>
            </a:r>
            <a:r>
              <a:rPr lang="en-US" altLang="zh-CN"/>
              <a:t>Mars</a:t>
            </a:r>
            <a:r>
              <a:rPr lang="zh-CN" altLang="en-US"/>
              <a:t>和</a:t>
            </a:r>
            <a:r>
              <a:rPr lang="en-US" altLang="zh-CN"/>
              <a:t>llc</a:t>
            </a:r>
            <a:r>
              <a:rPr lang="zh-CN" altLang="en-US"/>
              <a:t>直接使用现有工具</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67560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p:sp>
      <p:sp>
        <p:nvSpPr>
          <p:cNvPr id="43011" name="备注占位符 2"/>
          <p:cNvSpPr>
            <a:spLocks noGrp="1"/>
          </p:cNvSpPr>
          <p:nvPr>
            <p:ph type="body" idx="1"/>
          </p:nvPr>
        </p:nvSpPr>
        <p:spPr/>
        <p:txBody>
          <a:bodyPr wrap="square" lIns="92528" tIns="46264" rIns="92528" bIns="46264" anchor="t" anchorCtr="0"/>
          <a:lstStyle/>
          <a:p>
            <a:pPr lvl="0"/>
            <a:r>
              <a:rPr lang="zh-CN" altLang="en-US" dirty="0"/>
              <a:t>平时作业时，安装和平台同样的编译器版本，使用课程组推荐的集成开发环境，平时上机多熟悉机房的环境，以便于现场考核时能熟练用机房的机器编译调试。</a:t>
            </a:r>
            <a:endParaRPr lang="en-US" altLang="zh-CN" dirty="0"/>
          </a:p>
        </p:txBody>
      </p:sp>
      <p:sp>
        <p:nvSpPr>
          <p:cNvPr id="43012"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33</a:t>
            </a:fld>
            <a:endParaRPr lang="en-US" altLang="zh-CN" sz="1200"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idx="1"/>
          </p:nvPr>
        </p:nvSpPr>
        <p:spPr/>
        <p:txBody>
          <a:bodyPr wrap="square" lIns="92528" tIns="46264" rIns="92528" bIns="46264" anchor="t" anchorCtr="0"/>
          <a:lstStyle/>
          <a:p>
            <a:pPr lvl="0"/>
            <a:r>
              <a:rPr lang="zh-CN" altLang="en-US" dirty="0"/>
              <a:t>从词法分析作业开始，需要大家进行设计，并阅读</a:t>
            </a:r>
            <a:r>
              <a:rPr lang="en-US" altLang="zh-CN" dirty="0"/>
              <a:t>PASCAL-S</a:t>
            </a:r>
            <a:r>
              <a:rPr lang="zh-CN" altLang="en-US" dirty="0"/>
              <a:t>编译器源代码或其他编译器源代码。所列时间为规划时间，若课程进度有变化，会进行微调，以后续具体通知为准。</a:t>
            </a:r>
            <a:endParaRPr lang="en-US" altLang="zh-CN" dirty="0"/>
          </a:p>
          <a:p>
            <a:pPr lvl="0"/>
            <a:endParaRPr lang="zh-CN" altLang="en-US" dirty="0"/>
          </a:p>
        </p:txBody>
      </p:sp>
      <p:sp>
        <p:nvSpPr>
          <p:cNvPr id="38916"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34</a:t>
            </a:fld>
            <a:endParaRPr lang="en-US" altLang="zh-CN" sz="1200"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p:sp>
      <p:sp>
        <p:nvSpPr>
          <p:cNvPr id="38915" name="备注占位符 2"/>
          <p:cNvSpPr>
            <a:spLocks noGrp="1"/>
          </p:cNvSpPr>
          <p:nvPr>
            <p:ph type="body" idx="1"/>
          </p:nvPr>
        </p:nvSpPr>
        <p:spPr/>
        <p:txBody>
          <a:bodyPr wrap="square" lIns="92528" tIns="46264" rIns="92528" bIns="46264" anchor="t" anchorCtr="0"/>
          <a:lstStyle/>
          <a:p>
            <a:pPr lvl="0"/>
            <a:endParaRPr lang="zh-CN" altLang="en-US" dirty="0"/>
          </a:p>
        </p:txBody>
      </p:sp>
      <p:sp>
        <p:nvSpPr>
          <p:cNvPr id="38916" name="灯片编号占位符 3"/>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35</a:t>
            </a:fld>
            <a:endParaRPr lang="en-US" altLang="zh-CN" sz="1200" dirty="0">
              <a:latin typeface="Arial" panose="020B0604020202020204" pitchFamily="34" charset="0"/>
            </a:endParaRPr>
          </a:p>
        </p:txBody>
      </p:sp>
    </p:spTree>
    <p:extLst>
      <p:ext uri="{BB962C8B-B14F-4D97-AF65-F5344CB8AC3E}">
        <p14:creationId xmlns:p14="http://schemas.microsoft.com/office/powerpoint/2010/main" val="4148617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37</a:t>
            </a:fld>
            <a:endParaRPr lang="en-US" altLang="zh-CN" sz="1200" dirty="0">
              <a:latin typeface="Arial" panose="020B0604020202020204" pitchFamily="34" charset="0"/>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idx="1"/>
          </p:nvPr>
        </p:nvSpPr>
        <p:spPr/>
        <p:txBody>
          <a:bodyPr wrap="square" lIns="92528" tIns="46264" rIns="92528" bIns="46264"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180036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46</a:t>
            </a:fld>
            <a:endParaRPr lang="en-US" altLang="zh-CN" sz="1200" dirty="0">
              <a:latin typeface="Arial" panose="020B0604020202020204" pitchFamily="34" charset="0"/>
            </a:endParaRPr>
          </a:p>
        </p:txBody>
      </p:sp>
      <p:sp>
        <p:nvSpPr>
          <p:cNvPr id="49155" name="Rectangle 2"/>
          <p:cNvSpPr>
            <a:spLocks noGrp="1" noRot="1" noChangeAspect="1" noTextEdit="1"/>
          </p:cNvSpPr>
          <p:nvPr>
            <p:ph type="sldImg"/>
          </p:nvPr>
        </p:nvSpPr>
        <p:spPr/>
      </p:sp>
      <p:sp>
        <p:nvSpPr>
          <p:cNvPr id="49156" name="Rectangle 3"/>
          <p:cNvSpPr>
            <a:spLocks noGrp="1"/>
          </p:cNvSpPr>
          <p:nvPr>
            <p:ph type="body" idx="1"/>
          </p:nvPr>
        </p:nvSpPr>
        <p:spPr/>
        <p:txBody>
          <a:bodyPr wrap="square" lIns="92528" tIns="46264" rIns="92528" bIns="46264" anchor="t" anchorCtr="0"/>
          <a:lstStyle/>
          <a:p>
            <a:pPr lvl="0" eaLnBrk="1" hangingPunct="1"/>
            <a:r>
              <a:rPr lang="zh-CN" altLang="en-US" dirty="0"/>
              <a:t>建议提问之前先到论坛看看是否已有相同问题的解答，请勿重复</a:t>
            </a:r>
            <a:r>
              <a:rPr lang="zh-CN" altLang="en-US"/>
              <a:t>提问。助教</a:t>
            </a:r>
            <a:r>
              <a:rPr lang="zh-CN" altLang="en-US" dirty="0"/>
              <a:t>会回答提问，也欢迎同学积极参与回答问题和讨论。</a:t>
            </a:r>
            <a:endParaRPr lang="en-US" altLang="zh-CN" dirty="0"/>
          </a:p>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solidFill>
                  <a:srgbClr val="333333"/>
                </a:solidFill>
                <a:ea typeface="等线" panose="02010600030101010101" pitchFamily="2" charset="-122"/>
                <a:sym typeface="+mn-ea"/>
              </a:rPr>
              <a:t>总的来说就是，</a:t>
            </a:r>
            <a:r>
              <a:rPr lang="zh-CN" b="1">
                <a:solidFill>
                  <a:srgbClr val="333333"/>
                </a:solidFill>
                <a:ea typeface="等线" panose="02010600030101010101" pitchFamily="2" charset="-122"/>
                <a:sym typeface="+mn-ea"/>
              </a:rPr>
              <a:t>想，都是问题，做，才是答案</a:t>
            </a:r>
            <a:r>
              <a:rPr lang="zh-CN">
                <a:solidFill>
                  <a:srgbClr val="333333"/>
                </a:solidFill>
                <a:ea typeface="等线" panose="02010600030101010101" pitchFamily="2" charset="-122"/>
                <a:sym typeface="+mn-ea"/>
              </a:rPr>
              <a:t>。编译器的完成让我又一次体会到了实践出真知这句话的魅力。只有不断实践，不断努力，才能夯实理论基础，提升自己的编程水平与理论实践水平。</a:t>
            </a:r>
            <a:endParaRPr lang="zh-CN" altLang="en-US"/>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误操作：比如在补交时间错误提交了已经完成的作业</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p:cNvSpPr>
          <p:nvPr>
            <p:ph type="sldNum" sz="quarter"/>
          </p:nvPr>
        </p:nvSpPr>
        <p:spPr>
          <a:xfrm>
            <a:off x="3902075" y="9515475"/>
            <a:ext cx="2984500" cy="501650"/>
          </a:xfrm>
          <a:prstGeom prst="rect">
            <a:avLst/>
          </a:prstGeom>
          <a:noFill/>
          <a:ln w="9525">
            <a:noFill/>
          </a:ln>
        </p:spPr>
        <p:txBody>
          <a:bodyPr lIns="92528" tIns="46264" rIns="92528" bIns="46264" anchor="b" anchorCtr="0"/>
          <a:lstStyle/>
          <a:p>
            <a:pPr lvl="0" algn="r" eaLnBrk="1" hangingPunct="1"/>
            <a:fld id="{9A0DB2DC-4C9A-4742-B13C-FB6460FD3503}" type="slidenum">
              <a:rPr lang="en-US" altLang="zh-CN" sz="1200" dirty="0">
                <a:latin typeface="Arial" panose="020B0604020202020204" pitchFamily="34" charset="0"/>
              </a:rPr>
              <a:t>53</a:t>
            </a:fld>
            <a:endParaRPr lang="en-US" altLang="zh-CN" sz="1200" dirty="0">
              <a:latin typeface="Arial" panose="020B0604020202020204" pitchFamily="34" charset="0"/>
            </a:endParaRPr>
          </a:p>
        </p:txBody>
      </p:sp>
      <p:sp>
        <p:nvSpPr>
          <p:cNvPr id="57347" name="Rectangle 2"/>
          <p:cNvSpPr>
            <a:spLocks noGrp="1" noRot="1" noChangeAspect="1" noTextEdit="1"/>
          </p:cNvSpPr>
          <p:nvPr>
            <p:ph type="sldImg"/>
          </p:nvPr>
        </p:nvSpPr>
        <p:spPr/>
      </p:sp>
      <p:sp>
        <p:nvSpPr>
          <p:cNvPr id="57348" name="Rectangle 3"/>
          <p:cNvSpPr>
            <a:spLocks noGrp="1"/>
          </p:cNvSpPr>
          <p:nvPr>
            <p:ph type="body" idx="1"/>
          </p:nvPr>
        </p:nvSpPr>
        <p:spPr/>
        <p:txBody>
          <a:bodyPr wrap="square" lIns="92528" tIns="46264" rIns="92528" bIns="46264"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2438400"/>
            <a:ext cx="9009063" cy="1052513"/>
            <a:chOff x="0" y="1536"/>
            <a:chExt cx="5675" cy="663"/>
          </a:xfrm>
        </p:grpSpPr>
        <p:grpSp>
          <p:nvGrpSpPr>
            <p:cNvPr id="2056" name="Group 3"/>
            <p:cNvGrpSpPr/>
            <p:nvPr/>
          </p:nvGrpSpPr>
          <p:grpSpPr>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7" name="Group 6"/>
            <p:cNvGrpSpPr/>
            <p:nvPr/>
          </p:nvGrpSpPr>
          <p:grpSpPr>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8684"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868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2"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3"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4"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p>
            <a:pPr algn="r" eaLnBrk="1" hangingPunct="1">
              <a:buNone/>
            </a:pPr>
            <a:fld id="{9A0DB2DC-4C9A-4742-B13C-FB6460FD3503}" type="slidenum">
              <a:rPr lang="en-US" altLang="zh-CN" dirty="0">
                <a:solidFill>
                  <a:schemeClr val="bg2"/>
                </a:solidFill>
              </a:rPr>
              <a:t>‹#›</a:t>
            </a:fld>
            <a:endParaRPr lang="en-US" altLang="zh-CN" dirty="0">
              <a:solidFill>
                <a:schemeClr val="bg2"/>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ftr" sz="quarter" idx="10"/>
          </p:nvPr>
        </p:nvSpPr>
        <p:spPr/>
        <p:txBody>
          <a:bodyPr/>
          <a:lstStyle>
            <a:lvl1pPr>
              <a:defRPr>
                <a:ea typeface="楷体_GB2312"/>
              </a:defRPr>
            </a:lvl1pPr>
          </a:lstStyle>
          <a:p>
            <a:pPr>
              <a:defRPr/>
            </a:pPr>
            <a:r>
              <a:rPr lang="zh-CN" altLang="en-US" dirty="0"/>
              <a:t>北京航空航天大学计算机学院</a:t>
            </a:r>
            <a:endParaRPr lang="zh-CN" altLang="en-US" sz="1400" dirty="0">
              <a:ea typeface="楷体_GB231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49288" y="1449388"/>
            <a:ext cx="3914775" cy="4725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6463" y="1449388"/>
            <a:ext cx="3916362" cy="4725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338" y="609600"/>
            <a:ext cx="1995487" cy="5565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49288" y="609600"/>
            <a:ext cx="5835650" cy="5565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p:txBody>
          <a:bodyPr/>
          <a:lstStyle>
            <a:lvl1pPr>
              <a:defRPr/>
            </a:lvl1pPr>
          </a:lstStyle>
          <a:p>
            <a:pPr>
              <a:defRPr/>
            </a:pPr>
            <a:r>
              <a:rPr lang="zh-CN" altLang="en-US"/>
              <a:t>北京航空航天大学计算机学院</a:t>
            </a:r>
            <a:endParaRPr lang="zh-CN" altLang="en-US" sz="14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vmlDrawing" Target="../drawings/vmlDrawing1.v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214313"/>
            <a:ext cx="7793037" cy="1462087"/>
          </a:xfrm>
          <a:prstGeom prst="rect">
            <a:avLst/>
          </a:prstGeom>
          <a:noFill/>
          <a:ln w="9525">
            <a:noFill/>
          </a:ln>
        </p:spPr>
        <p:txBody>
          <a:bodyPr anchor="b" anchorCtr="0"/>
          <a:lstStyle/>
          <a:p>
            <a:pPr lvl="0"/>
            <a:r>
              <a:rPr lang="zh-CN" altLang="en-US" dirty="0"/>
              <a:t>单击此处编辑母版标题样式</a:t>
            </a:r>
          </a:p>
        </p:txBody>
      </p:sp>
      <p:sp>
        <p:nvSpPr>
          <p:cNvPr id="1034" name="Rectangle 10"/>
          <p:cNvSpPr>
            <a:spLocks noGrp="1"/>
          </p:cNvSpPr>
          <p:nvPr>
            <p:ph type="body" idx="1"/>
          </p:nvPr>
        </p:nvSpPr>
        <p:spPr>
          <a:xfrm>
            <a:off x="1182688" y="2017713"/>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765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400">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6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a:latin typeface="Tahoma" panose="020B060403050404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766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vl1pPr>
          </a:lstStyle>
          <a:p>
            <a:pPr lvl="0" eaLnBrk="1" hangingPunct="1">
              <a:buNone/>
            </a:pPr>
            <a:fld id="{9A0DB2DC-4C9A-4742-B13C-FB6460FD3503}" type="slidenum">
              <a:rPr lang="en-US" altLang="zh-CN" dirty="0">
                <a:latin typeface="Tahoma" panose="020B0604030504040204" pitchFamily="34" charset="0"/>
              </a:rPr>
              <a:t>‹#›</a:t>
            </a:fld>
            <a:endParaRPr lang="en-US" altLang="zh-CN"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17588" y="609600"/>
            <a:ext cx="6400800" cy="685800"/>
          </a:xfrm>
          <a:prstGeom prst="rect">
            <a:avLst/>
          </a:prstGeom>
          <a:noFill/>
          <a:ln w="9525">
            <a:noFill/>
            <a:miter lim="800000"/>
          </a:ln>
        </p:spPr>
        <p:txBody>
          <a:bodyPr vert="horz" wrap="square" lIns="91440" tIns="45720" rIns="91440" bIns="45720" numCol="1" anchor="ctr" anchorCtr="0" compatLnSpc="1"/>
          <a:lstStyle/>
          <a:p>
            <a:pPr lvl="0"/>
            <a:r>
              <a:rPr lang="zh-CN" altLang="zh-CN" dirty="0"/>
              <a:t>单击以编辑</a:t>
            </a:r>
            <a:r>
              <a:rPr lang="zh-CN" altLang="en-US" dirty="0"/>
              <a:t>母版标题样式</a:t>
            </a:r>
          </a:p>
        </p:txBody>
      </p:sp>
      <p:sp>
        <p:nvSpPr>
          <p:cNvPr id="1027" name="Rectangle 3"/>
          <p:cNvSpPr>
            <a:spLocks noGrp="1" noChangeArrowheads="1"/>
          </p:cNvSpPr>
          <p:nvPr>
            <p:ph type="body" idx="1"/>
          </p:nvPr>
        </p:nvSpPr>
        <p:spPr bwMode="auto">
          <a:xfrm>
            <a:off x="649288" y="1449388"/>
            <a:ext cx="7983537"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Rectangle 5"/>
          <p:cNvSpPr>
            <a:spLocks noGrp="1" noChangeArrowheads="1"/>
          </p:cNvSpPr>
          <p:nvPr>
            <p:ph type="ftr" sz="quarter" idx="3"/>
          </p:nvPr>
        </p:nvSpPr>
        <p:spPr bwMode="auto">
          <a:xfrm>
            <a:off x="471488" y="6400800"/>
            <a:ext cx="3781425" cy="457200"/>
          </a:xfrm>
          <a:prstGeom prst="rect">
            <a:avLst/>
          </a:prstGeom>
          <a:noFill/>
          <a:ln w="9525">
            <a:noFill/>
            <a:miter lim="800000"/>
          </a:ln>
        </p:spPr>
        <p:txBody>
          <a:bodyPr vert="horz" wrap="square" lIns="91440" tIns="45720" rIns="91440" bIns="45720" numCol="1" anchor="t" anchorCtr="0" compatLnSpc="1"/>
          <a:lstStyle>
            <a:lvl1pPr algn="ctr">
              <a:spcBef>
                <a:spcPct val="50000"/>
              </a:spcBef>
              <a:defRPr sz="1600" b="1">
                <a:latin typeface="楷体" panose="02010609060101010101" charset="-122"/>
                <a:ea typeface="楷体_GB2312"/>
              </a:defRPr>
            </a:lvl1pPr>
          </a:lstStyle>
          <a:p>
            <a:pPr>
              <a:defRPr/>
            </a:pPr>
            <a:r>
              <a:rPr lang="zh-CN" altLang="en-US" dirty="0"/>
              <a:t>北京航空航天大学计算机学院</a:t>
            </a:r>
            <a:endParaRPr lang="zh-CN" altLang="en-US" sz="1400" dirty="0">
              <a:ea typeface="楷体_GB2312"/>
            </a:endParaRPr>
          </a:p>
        </p:txBody>
      </p:sp>
      <p:sp>
        <p:nvSpPr>
          <p:cNvPr id="1029" name="Line 9"/>
          <p:cNvSpPr>
            <a:spLocks noChangeShapeType="1"/>
          </p:cNvSpPr>
          <p:nvPr/>
        </p:nvSpPr>
        <p:spPr bwMode="auto">
          <a:xfrm>
            <a:off x="0" y="6281738"/>
            <a:ext cx="9144000" cy="0"/>
          </a:xfrm>
          <a:prstGeom prst="line">
            <a:avLst/>
          </a:prstGeom>
          <a:noFill/>
          <a:ln w="9525">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sz="2400">
              <a:latin typeface="Times New Roman" panose="02020603050405020304" pitchFamily="18" charset="0"/>
              <a:ea typeface="楷体_GB2312" pitchFamily="49" charset="-122"/>
            </a:endParaRPr>
          </a:p>
        </p:txBody>
      </p:sp>
      <p:sp>
        <p:nvSpPr>
          <p:cNvPr id="1030" name="Line 18"/>
          <p:cNvSpPr>
            <a:spLocks noChangeShapeType="1"/>
          </p:cNvSpPr>
          <p:nvPr/>
        </p:nvSpPr>
        <p:spPr bwMode="auto">
          <a:xfrm>
            <a:off x="1588" y="568325"/>
            <a:ext cx="9142412" cy="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2400">
              <a:latin typeface="Times New Roman" panose="02020603050405020304" pitchFamily="18" charset="0"/>
              <a:ea typeface="楷体_GB2312" pitchFamily="49" charset="-122"/>
            </a:endParaRPr>
          </a:p>
        </p:txBody>
      </p:sp>
      <p:sp>
        <p:nvSpPr>
          <p:cNvPr id="1031" name="WordArt 20"/>
          <p:cNvSpPr>
            <a:spLocks noChangeArrowheads="1" noChangeShapeType="1" noTextEdit="1"/>
          </p:cNvSpPr>
          <p:nvPr/>
        </p:nvSpPr>
        <p:spPr bwMode="auto">
          <a:xfrm>
            <a:off x="174625" y="33338"/>
            <a:ext cx="1744663" cy="569912"/>
          </a:xfrm>
          <a:prstGeom prst="rect">
            <a:avLst/>
          </a:prstGeom>
        </p:spPr>
        <p:txBody>
          <a:bodyPr wrap="none" fromWordArt="1">
            <a:prstTxWarp prst="textPlain">
              <a:avLst>
                <a:gd name="adj" fmla="val 43708"/>
              </a:avLst>
            </a:prstTxWarp>
          </a:bodyPr>
          <a:lstStyle/>
          <a:p>
            <a:pPr algn="ctr"/>
            <a:r>
              <a:rPr lang="en-US" altLang="zh-CN" sz="3600" b="1" i="1"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panose="020B0604020202020204" pitchFamily="34" charset="0"/>
                <a:ea typeface="楷体_GB2312" pitchFamily="49" charset="-122"/>
                <a:cs typeface="Arial" panose="020B0604020202020204" pitchFamily="34" charset="0"/>
              </a:rPr>
              <a:t>Compiler</a:t>
            </a:r>
          </a:p>
        </p:txBody>
      </p:sp>
      <p:graphicFrame>
        <p:nvGraphicFramePr>
          <p:cNvPr id="1032" name="Object 22"/>
          <p:cNvGraphicFramePr>
            <a:graphicFrameLocks noChangeAspect="1"/>
          </p:cNvGraphicFramePr>
          <p:nvPr/>
        </p:nvGraphicFramePr>
        <p:xfrm>
          <a:off x="7112000" y="5927725"/>
          <a:ext cx="1447800" cy="714375"/>
        </p:xfrm>
        <a:graphic>
          <a:graphicData uri="http://schemas.openxmlformats.org/presentationml/2006/ole">
            <mc:AlternateContent xmlns:mc="http://schemas.openxmlformats.org/markup-compatibility/2006">
              <mc:Choice xmlns:v="urn:schemas-microsoft-com:vml" Requires="v">
                <p:oleObj spid="_x0000_s1038" name="BMP 图象" r:id="rId14" imgW="1447800" imgH="714375" progId="Paint.Picture">
                  <p:embed/>
                </p:oleObj>
              </mc:Choice>
              <mc:Fallback>
                <p:oleObj name="BMP 图象" r:id="rId14" imgW="1447800" imgH="714375" progId="Paint.Picture">
                  <p:embed/>
                  <p:pic>
                    <p:nvPicPr>
                      <p:cNvPr id="0"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112000" y="5927725"/>
                        <a:ext cx="1447800" cy="714375"/>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dt="0"/>
  <p:txStyles>
    <p:titleStyle>
      <a:lvl1pPr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mj-lt"/>
          <a:ea typeface="楷体_GB2312"/>
          <a:cs typeface="+mj-cs"/>
        </a:defRPr>
      </a:lvl1pPr>
      <a:lvl2pPr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2pPr>
      <a:lvl3pPr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3pPr>
      <a:lvl4pPr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4pPr>
      <a:lvl5pPr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5pPr>
      <a:lvl6pPr marL="4572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6pPr>
      <a:lvl7pPr marL="9144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7pPr>
      <a:lvl8pPr marL="13716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8pPr>
      <a:lvl9pPr marL="1828800" algn="ctr" rtl="0" eaLnBrk="0" fontAlgn="base" hangingPunct="0">
        <a:spcBef>
          <a:spcPct val="0"/>
        </a:spcBef>
        <a:spcAft>
          <a:spcPct val="0"/>
        </a:spcAft>
        <a:defRPr kumimoji="1" sz="3200" b="1">
          <a:solidFill>
            <a:schemeClr val="accent1"/>
          </a:solidFill>
          <a:effectLst>
            <a:outerShdw blurRad="38100" dist="38100" dir="2700000" algn="tl">
              <a:srgbClr val="C0C0C0"/>
            </a:outerShdw>
          </a:effectLst>
          <a:latin typeface="Times New Roman" panose="02020603050405020304" pitchFamily="18" charset="0"/>
          <a:ea typeface="仿宋_GB2312" panose="02010609030101010101" pitchFamily="49"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楷体_GB2312"/>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楷体_GB2312"/>
        </a:defRPr>
      </a:lvl2pPr>
      <a:lvl3pPr marL="1143000" indent="-228600" algn="l" rtl="0" eaLnBrk="0" fontAlgn="base" hangingPunct="0">
        <a:spcBef>
          <a:spcPct val="20000"/>
        </a:spcBef>
        <a:spcAft>
          <a:spcPct val="0"/>
        </a:spcAft>
        <a:buChar char="•"/>
        <a:defRPr kumimoji="1" sz="2400">
          <a:solidFill>
            <a:schemeClr val="tx1"/>
          </a:solidFill>
          <a:latin typeface="+mn-lt"/>
          <a:ea typeface="楷体_GB2312"/>
        </a:defRPr>
      </a:lvl3pPr>
      <a:lvl4pPr marL="1600200" indent="-228600" algn="l" rtl="0" eaLnBrk="0" fontAlgn="base" hangingPunct="0">
        <a:spcBef>
          <a:spcPct val="20000"/>
        </a:spcBef>
        <a:spcAft>
          <a:spcPct val="0"/>
        </a:spcAft>
        <a:buChar char="–"/>
        <a:defRPr kumimoji="1" sz="2000">
          <a:solidFill>
            <a:schemeClr val="tx1"/>
          </a:solidFill>
          <a:latin typeface="+mn-lt"/>
          <a:ea typeface="楷体_GB2312"/>
        </a:defRPr>
      </a:lvl4pPr>
      <a:lvl5pPr marL="2057400" indent="-228600" algn="l" rtl="0" eaLnBrk="0" fontAlgn="base" hangingPunct="0">
        <a:spcBef>
          <a:spcPct val="20000"/>
        </a:spcBef>
        <a:spcAft>
          <a:spcPct val="0"/>
        </a:spcAft>
        <a:buChar char="»"/>
        <a:defRPr kumimoji="1" sz="2000">
          <a:solidFill>
            <a:schemeClr val="tx1"/>
          </a:solidFill>
          <a:latin typeface="+mn-lt"/>
          <a:ea typeface="楷体_GB231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4.xml"/><Relationship Id="rId7"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runoob.com/cmake/cmake-basic.ht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46.xml.rels><?xml version="1.0" encoding="UTF-8" standalone="yes"?>
<Relationships xmlns="http://schemas.openxmlformats.org/package/2006/relationships"><Relationship Id="rId3" Type="http://schemas.openxmlformats.org/officeDocument/2006/relationships/hyperlink" Target="mailto:compiler_buaa@126.com"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4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ctrTitle"/>
          </p:nvPr>
        </p:nvSpPr>
        <p:spPr/>
        <p:txBody>
          <a:bodyPr vert="horz" wrap="square" lIns="91440" tIns="45720" rIns="91440" bIns="45720" anchor="b" anchorCtr="0"/>
          <a:lstStyle/>
          <a:p>
            <a:pPr eaLnBrk="1" hangingPunct="1">
              <a:buClrTx/>
              <a:buSzTx/>
              <a:buFontTx/>
            </a:pPr>
            <a:r>
              <a:rPr lang="zh-CN" altLang="en-US" dirty="0">
                <a:latin typeface="Tahoma" panose="020B0604030504040204" pitchFamily="34" charset="0"/>
                <a:ea typeface="宋体" panose="02010600030101010101" pitchFamily="2" charset="-122"/>
                <a:cs typeface="+mj-cs"/>
              </a:rPr>
              <a:t>编译技术实验</a:t>
            </a:r>
          </a:p>
        </p:txBody>
      </p:sp>
      <p:sp>
        <p:nvSpPr>
          <p:cNvPr id="5123" name="Rectangle 3"/>
          <p:cNvSpPr>
            <a:spLocks noGrp="1"/>
          </p:cNvSpPr>
          <p:nvPr>
            <p:ph type="subTitle" idx="1"/>
          </p:nvPr>
        </p:nvSpPr>
        <p:spPr/>
        <p:txBody>
          <a:bodyPr vert="horz" wrap="square" lIns="91440" tIns="45720" rIns="91440" bIns="45720" anchor="t" anchorCtr="0"/>
          <a:lstStyle/>
          <a:p>
            <a:pPr eaLnBrk="1" hangingPunct="1">
              <a:buSzPct val="60000"/>
            </a:pPr>
            <a:endParaRPr lang="en-US" altLang="zh-CN" sz="2400" dirty="0">
              <a:latin typeface="Tahoma" panose="020B0604030504040204" pitchFamily="34" charset="0"/>
              <a:ea typeface="宋体" panose="02010600030101010101" pitchFamily="2" charset="-122"/>
              <a:cs typeface="+mn-cs"/>
            </a:endParaRPr>
          </a:p>
          <a:p>
            <a:pPr eaLnBrk="1" hangingPunct="1">
              <a:buSzPct val="60000"/>
            </a:pPr>
            <a:r>
              <a:rPr lang="zh-CN" altLang="en-US" sz="2400" dirty="0">
                <a:latin typeface="Tahoma" panose="020B0604030504040204" pitchFamily="34" charset="0"/>
                <a:ea typeface="宋体" panose="02010600030101010101" pitchFamily="2" charset="-122"/>
                <a:cs typeface="+mn-cs"/>
              </a:rPr>
              <a:t>杨海燕</a:t>
            </a:r>
            <a:endParaRPr lang="en-US" altLang="zh-CN" sz="2400" dirty="0">
              <a:latin typeface="Tahoma" panose="020B0604030504040204" pitchFamily="34" charset="0"/>
              <a:ea typeface="宋体" panose="02010600030101010101" pitchFamily="2" charset="-122"/>
              <a:cs typeface="+mn-cs"/>
            </a:endParaRPr>
          </a:p>
          <a:p>
            <a:pPr eaLnBrk="1" hangingPunct="1">
              <a:buSzPct val="60000"/>
            </a:pPr>
            <a:fld id="{BB962C8B-B14F-4D97-AF65-F5344CB8AC3E}" type="datetime2">
              <a:rPr lang="zh-CN" altLang="en-US" sz="2400" smtClean="0">
                <a:latin typeface="Tahoma" panose="020B0604030504040204" pitchFamily="34" charset="0"/>
                <a:ea typeface="宋体" panose="02010600030101010101" pitchFamily="2" charset="-122"/>
                <a:cs typeface="+mn-cs"/>
              </a:rPr>
              <a:t>2026年9月19日</a:t>
            </a:fld>
            <a:endParaRPr lang="zh-CN" altLang="en-US" sz="2400" dirty="0">
              <a:latin typeface="Tahoma" panose="020B0604030504040204" pitchFamily="3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大赛标题"/>
          <p:cNvPicPr>
            <a:picLocks noChangeAspect="1"/>
          </p:cNvPicPr>
          <p:nvPr/>
        </p:nvPicPr>
        <p:blipFill>
          <a:blip r:embed="rId3"/>
          <a:stretch>
            <a:fillRect/>
          </a:stretch>
        </p:blipFill>
        <p:spPr>
          <a:xfrm>
            <a:off x="251460" y="184785"/>
            <a:ext cx="5533390" cy="2018665"/>
          </a:xfrm>
          <a:prstGeom prst="rect">
            <a:avLst/>
          </a:prstGeom>
        </p:spPr>
      </p:pic>
      <p:pic>
        <p:nvPicPr>
          <p:cNvPr id="3" name="图片 2" descr="微信图片_20260913135654_25_265"/>
          <p:cNvPicPr>
            <a:picLocks noChangeAspect="1"/>
          </p:cNvPicPr>
          <p:nvPr/>
        </p:nvPicPr>
        <p:blipFill>
          <a:blip r:embed="rId4"/>
          <a:srcRect b="24875"/>
          <a:stretch>
            <a:fillRect/>
          </a:stretch>
        </p:blipFill>
        <p:spPr>
          <a:xfrm>
            <a:off x="827405" y="2276475"/>
            <a:ext cx="3160395" cy="4479925"/>
          </a:xfrm>
          <a:prstGeom prst="rect">
            <a:avLst/>
          </a:prstGeom>
        </p:spPr>
      </p:pic>
      <p:pic>
        <p:nvPicPr>
          <p:cNvPr id="10" name="图片 9" descr="微信图片_20260913135656_27_265"/>
          <p:cNvPicPr>
            <a:picLocks noChangeAspect="1"/>
          </p:cNvPicPr>
          <p:nvPr/>
        </p:nvPicPr>
        <p:blipFill>
          <a:blip r:embed="rId5"/>
          <a:srcRect t="54279" b="39843"/>
          <a:stretch>
            <a:fillRect/>
          </a:stretch>
        </p:blipFill>
        <p:spPr>
          <a:xfrm>
            <a:off x="3563620" y="32592010"/>
            <a:ext cx="2910205" cy="1224280"/>
          </a:xfrm>
          <a:prstGeom prst="rect">
            <a:avLst/>
          </a:prstGeom>
        </p:spPr>
      </p:pic>
      <p:grpSp>
        <p:nvGrpSpPr>
          <p:cNvPr id="14" name="组合 13"/>
          <p:cNvGrpSpPr/>
          <p:nvPr/>
        </p:nvGrpSpPr>
        <p:grpSpPr>
          <a:xfrm>
            <a:off x="6012180" y="332105"/>
            <a:ext cx="2909570" cy="2304415"/>
            <a:chOff x="5045" y="4833"/>
            <a:chExt cx="4582" cy="3629"/>
          </a:xfrm>
        </p:grpSpPr>
        <p:pic>
          <p:nvPicPr>
            <p:cNvPr id="6" name="图片 5" descr="微信图片_20260913135656_27_265"/>
            <p:cNvPicPr>
              <a:picLocks noChangeAspect="1"/>
            </p:cNvPicPr>
            <p:nvPr/>
          </p:nvPicPr>
          <p:blipFill>
            <a:blip r:embed="rId5"/>
            <a:srcRect t="10560" b="87009"/>
            <a:stretch>
              <a:fillRect/>
            </a:stretch>
          </p:blipFill>
          <p:spPr>
            <a:xfrm>
              <a:off x="5045" y="5853"/>
              <a:ext cx="4557" cy="793"/>
            </a:xfrm>
            <a:prstGeom prst="rect">
              <a:avLst/>
            </a:prstGeom>
          </p:spPr>
        </p:pic>
        <p:pic>
          <p:nvPicPr>
            <p:cNvPr id="9" name="图片 8" descr="微信图片_20260913135656_27_265"/>
            <p:cNvPicPr>
              <a:picLocks noChangeAspect="1"/>
            </p:cNvPicPr>
            <p:nvPr/>
          </p:nvPicPr>
          <p:blipFill>
            <a:blip r:embed="rId5"/>
            <a:srcRect b="96542"/>
            <a:stretch>
              <a:fillRect/>
            </a:stretch>
          </p:blipFill>
          <p:spPr>
            <a:xfrm>
              <a:off x="5045" y="4833"/>
              <a:ext cx="4582" cy="1134"/>
            </a:xfrm>
            <a:prstGeom prst="rect">
              <a:avLst/>
            </a:prstGeom>
          </p:spPr>
        </p:pic>
        <p:pic>
          <p:nvPicPr>
            <p:cNvPr id="13" name="图片 12" descr="微信图片_20260913135656_27_265"/>
            <p:cNvPicPr>
              <a:picLocks noChangeAspect="1"/>
            </p:cNvPicPr>
            <p:nvPr/>
          </p:nvPicPr>
          <p:blipFill>
            <a:blip r:embed="rId5"/>
            <a:srcRect t="54239" b="39850"/>
            <a:stretch>
              <a:fillRect/>
            </a:stretch>
          </p:blipFill>
          <p:spPr>
            <a:xfrm>
              <a:off x="5045" y="6534"/>
              <a:ext cx="4557" cy="1928"/>
            </a:xfrm>
            <a:prstGeom prst="rect">
              <a:avLst/>
            </a:prstGeom>
          </p:spPr>
        </p:pic>
      </p:grpSp>
      <p:sp>
        <p:nvSpPr>
          <p:cNvPr id="16" name="文本框 15"/>
          <p:cNvSpPr txBox="1"/>
          <p:nvPr/>
        </p:nvSpPr>
        <p:spPr>
          <a:xfrm>
            <a:off x="2987675" y="6608445"/>
            <a:ext cx="522605" cy="128905"/>
          </a:xfrm>
          <a:prstGeom prst="rect">
            <a:avLst/>
          </a:prstGeom>
          <a:noFill/>
          <a:ln>
            <a:noFill/>
          </a:ln>
        </p:spPr>
        <p:txBody>
          <a:bodyPr wrap="square" lIns="0" tIns="0" rIns="0" rtlCol="0">
            <a:noAutofit/>
          </a:bodyPr>
          <a:lstStyle/>
          <a:p>
            <a:r>
              <a:rPr lang="zh-CN" altLang="en-US" sz="700" dirty="0">
                <a:latin typeface="黑体" panose="02010609060101010101" charset="-122"/>
                <a:ea typeface="黑体" panose="02010609060101010101" charset="-122"/>
                <a:cs typeface="黑体" panose="02010609060101010101" charset="-122"/>
              </a:rPr>
              <a:t>陈润</a:t>
            </a:r>
            <a:r>
              <a:rPr lang="en-US" altLang="zh-CN" sz="700" dirty="0">
                <a:latin typeface="黑体" panose="02010609060101010101" charset="-122"/>
                <a:ea typeface="黑体" panose="02010609060101010101" charset="-122"/>
                <a:cs typeface="黑体" panose="02010609060101010101" charset="-122"/>
              </a:rPr>
              <a:t> </a:t>
            </a:r>
            <a:r>
              <a:rPr lang="zh-CN" altLang="en-US" sz="700" dirty="0">
                <a:latin typeface="黑体" panose="02010609060101010101" charset="-122"/>
                <a:ea typeface="黑体" panose="02010609060101010101" charset="-122"/>
                <a:cs typeface="黑体" panose="02010609060101010101" charset="-122"/>
              </a:rPr>
              <a:t>传真奇</a:t>
            </a:r>
          </a:p>
        </p:txBody>
      </p:sp>
      <p:pic>
        <p:nvPicPr>
          <p:cNvPr id="17" name="图片 16" descr="微信图片_20260913135655_26_265"/>
          <p:cNvPicPr>
            <a:picLocks noChangeAspect="1"/>
          </p:cNvPicPr>
          <p:nvPr/>
        </p:nvPicPr>
        <p:blipFill>
          <a:blip r:embed="rId6"/>
          <a:srcRect b="61148"/>
          <a:stretch>
            <a:fillRect/>
          </a:stretch>
        </p:blipFill>
        <p:spPr>
          <a:xfrm>
            <a:off x="4859655" y="3500755"/>
            <a:ext cx="3206115" cy="2664460"/>
          </a:xfrm>
          <a:prstGeom prst="rect">
            <a:avLst/>
          </a:prstGeom>
        </p:spPr>
      </p:pic>
      <p:sp>
        <p:nvSpPr>
          <p:cNvPr id="18" name="椭圆 17"/>
          <p:cNvSpPr/>
          <p:nvPr/>
        </p:nvSpPr>
        <p:spPr>
          <a:xfrm>
            <a:off x="683260" y="3789045"/>
            <a:ext cx="3528695" cy="503555"/>
          </a:xfrm>
          <a:prstGeom prst="ellipse">
            <a:avLst/>
          </a:prstGeom>
          <a:noFill/>
          <a:ln w="9525" cap="flat" cmpd="sng" algn="ctr">
            <a:solidFill>
              <a:srgbClr val="C0000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19" name="椭圆 18"/>
          <p:cNvSpPr/>
          <p:nvPr/>
        </p:nvSpPr>
        <p:spPr>
          <a:xfrm>
            <a:off x="539115" y="6471920"/>
            <a:ext cx="3528695" cy="340995"/>
          </a:xfrm>
          <a:prstGeom prst="ellipse">
            <a:avLst/>
          </a:prstGeom>
          <a:noFill/>
          <a:ln w="9525" cap="flat" cmpd="sng" algn="ctr">
            <a:solidFill>
              <a:srgbClr val="C0000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20" name="椭圆 19"/>
          <p:cNvSpPr/>
          <p:nvPr/>
        </p:nvSpPr>
        <p:spPr>
          <a:xfrm>
            <a:off x="5652135" y="942340"/>
            <a:ext cx="3528695" cy="503555"/>
          </a:xfrm>
          <a:prstGeom prst="ellipse">
            <a:avLst/>
          </a:prstGeom>
          <a:noFill/>
          <a:ln w="9525" cap="flat" cmpd="sng" algn="ctr">
            <a:solidFill>
              <a:srgbClr val="C0000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21" name="椭圆 20"/>
          <p:cNvSpPr/>
          <p:nvPr/>
        </p:nvSpPr>
        <p:spPr>
          <a:xfrm>
            <a:off x="5652135" y="1412240"/>
            <a:ext cx="3528695" cy="503555"/>
          </a:xfrm>
          <a:prstGeom prst="ellipse">
            <a:avLst/>
          </a:prstGeom>
          <a:noFill/>
          <a:ln w="9525" cap="flat" cmpd="sng" algn="ctr">
            <a:solidFill>
              <a:srgbClr val="C0000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22" name="椭圆 21"/>
          <p:cNvSpPr/>
          <p:nvPr/>
        </p:nvSpPr>
        <p:spPr>
          <a:xfrm>
            <a:off x="4715510" y="4380865"/>
            <a:ext cx="3528695" cy="331470"/>
          </a:xfrm>
          <a:prstGeom prst="ellipse">
            <a:avLst/>
          </a:prstGeom>
          <a:noFill/>
          <a:ln w="9525" cap="flat" cmpd="sng" algn="ctr">
            <a:solidFill>
              <a:srgbClr val="C0000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23" name="椭圆 22"/>
          <p:cNvSpPr/>
          <p:nvPr/>
        </p:nvSpPr>
        <p:spPr>
          <a:xfrm>
            <a:off x="4643755" y="5876925"/>
            <a:ext cx="3528695" cy="288925"/>
          </a:xfrm>
          <a:prstGeom prst="ellipse">
            <a:avLst/>
          </a:prstGeom>
          <a:noFill/>
          <a:ln w="9525" cap="flat" cmpd="sng" algn="ctr">
            <a:solidFill>
              <a:srgbClr val="C0000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zh-CN" altLang="en-US"/>
              <a:t>北京航空航天大学计算机学院</a:t>
            </a:r>
            <a:endParaRPr lang="zh-CN" altLang="en-US" sz="1400"/>
          </a:p>
        </p:txBody>
      </p:sp>
      <p:sp>
        <p:nvSpPr>
          <p:cNvPr id="131074" name="Rectangle 2"/>
          <p:cNvSpPr>
            <a:spLocks noGrp="1" noChangeArrowheads="1"/>
          </p:cNvSpPr>
          <p:nvPr>
            <p:ph type="title"/>
          </p:nvPr>
        </p:nvSpPr>
        <p:spPr/>
        <p:txBody>
          <a:bodyPr/>
          <a:lstStyle/>
          <a:p>
            <a:pPr>
              <a:defRPr/>
            </a:pPr>
            <a:r>
              <a:rPr lang="zh-CN" altLang="en-US" dirty="0">
                <a:solidFill>
                  <a:srgbClr val="0033CC"/>
                </a:solidFill>
                <a:sym typeface="+mn-ea"/>
              </a:rPr>
              <a:t>课程目标</a:t>
            </a:r>
            <a:endParaRPr lang="zh-CN" altLang="en-US" dirty="0">
              <a:solidFill>
                <a:srgbClr val="C00000"/>
              </a:solidFill>
            </a:endParaRPr>
          </a:p>
        </p:txBody>
      </p:sp>
      <p:sp>
        <p:nvSpPr>
          <p:cNvPr id="97284" name="Rectangle 3"/>
          <p:cNvSpPr>
            <a:spLocks noGrp="1" noChangeArrowheads="1"/>
          </p:cNvSpPr>
          <p:nvPr>
            <p:ph type="body" idx="1"/>
          </p:nvPr>
        </p:nvSpPr>
        <p:spPr>
          <a:xfrm>
            <a:off x="567055" y="1484630"/>
            <a:ext cx="7824470" cy="2785745"/>
          </a:xfrm>
        </p:spPr>
        <p:txBody>
          <a:bodyPr/>
          <a:lstStyle/>
          <a:p>
            <a:r>
              <a:rPr lang="zh-CN" altLang="en-US" sz="2000">
                <a:latin typeface="楷体" panose="02010609060101010101" charset="-122"/>
                <a:ea typeface="宋体" panose="02010600030101010101" pitchFamily="2" charset="-122"/>
                <a:sym typeface="+mn-ea"/>
              </a:rPr>
              <a:t>掌握编译系统的功能、原理和构造方法（不局限于特定的程序设计语言和目标机）；</a:t>
            </a:r>
            <a:r>
              <a:rPr lang="zh-CN" altLang="en-US" sz="2000">
                <a:solidFill>
                  <a:srgbClr val="C00000"/>
                </a:solidFill>
                <a:latin typeface="楷体" panose="02010609060101010101" charset="-122"/>
                <a:ea typeface="宋体" panose="02010600030101010101" pitchFamily="2" charset="-122"/>
                <a:sym typeface="+mn-ea"/>
              </a:rPr>
              <a:t>理解高级程序设计语言的运行机理</a:t>
            </a:r>
            <a:r>
              <a:rPr lang="zh-CN" altLang="en-US" sz="2000">
                <a:latin typeface="楷体" panose="02010609060101010101" charset="-122"/>
                <a:ea typeface="宋体" panose="02010600030101010101" pitchFamily="2" charset="-122"/>
                <a:sym typeface="+mn-ea"/>
              </a:rPr>
              <a:t>。</a:t>
            </a:r>
          </a:p>
          <a:p>
            <a:r>
              <a:rPr lang="zh-CN" altLang="en-US" sz="2000">
                <a:latin typeface="楷体" panose="02010609060101010101" charset="-122"/>
                <a:ea typeface="宋体" panose="02010600030101010101" pitchFamily="2" charset="-122"/>
                <a:sym typeface="+mn-ea"/>
              </a:rPr>
              <a:t>具备完整小型编译系统的设计、实现和测试的能力；</a:t>
            </a:r>
            <a:r>
              <a:rPr lang="zh-CN" altLang="en-US" sz="2000">
                <a:solidFill>
                  <a:srgbClr val="C00000"/>
                </a:solidFill>
                <a:latin typeface="楷体" panose="02010609060101010101" charset="-122"/>
                <a:ea typeface="宋体" panose="02010600030101010101" pitchFamily="2" charset="-122"/>
                <a:sym typeface="+mn-ea"/>
              </a:rPr>
              <a:t>理解一种程序设计语言程序到另一种程序等价转化的理论和方法</a:t>
            </a:r>
            <a:r>
              <a:rPr lang="zh-CN" altLang="en-US" sz="2000">
                <a:latin typeface="楷体" panose="02010609060101010101" charset="-122"/>
                <a:ea typeface="宋体" panose="02010600030101010101" pitchFamily="2" charset="-122"/>
                <a:sym typeface="+mn-ea"/>
              </a:rPr>
              <a:t>。</a:t>
            </a:r>
            <a:endParaRPr lang="zh-CN" altLang="en-US" sz="2000">
              <a:latin typeface="楷体" panose="02010609060101010101" charset="-122"/>
              <a:ea typeface="宋体" panose="02010600030101010101" pitchFamily="2" charset="-122"/>
            </a:endParaRPr>
          </a:p>
          <a:p>
            <a:r>
              <a:rPr lang="zh-CN" altLang="en-US" sz="2000">
                <a:latin typeface="楷体" panose="02010609060101010101" charset="-122"/>
                <a:ea typeface="宋体" panose="02010600030101010101" pitchFamily="2" charset="-122"/>
                <a:sym typeface="+mn-ea"/>
              </a:rPr>
              <a:t>掌握基本优化算法，</a:t>
            </a:r>
            <a:r>
              <a:rPr lang="zh-CN" altLang="en-US" sz="2000">
                <a:solidFill>
                  <a:srgbClr val="C00000"/>
                </a:solidFill>
                <a:latin typeface="楷体" panose="02010609060101010101" charset="-122"/>
                <a:ea typeface="宋体" panose="02010600030101010101" pitchFamily="2" charset="-122"/>
                <a:sym typeface="+mn-ea"/>
              </a:rPr>
              <a:t>具备针对特定目标体系架构生成目标代码的能力；理解程序运行的安全和性能问题</a:t>
            </a:r>
            <a:r>
              <a:rPr lang="zh-CN" altLang="en-US" sz="2000">
                <a:latin typeface="楷体" panose="02010609060101010101" charset="-122"/>
                <a:ea typeface="宋体" panose="02010600030101010101" pitchFamily="2" charset="-122"/>
                <a:sym typeface="+mn-ea"/>
              </a:rPr>
              <a:t>。</a:t>
            </a:r>
            <a:endParaRPr lang="zh-CN" altLang="en-US" sz="2000">
              <a:latin typeface="楷体" panose="02010609060101010101" charset="-122"/>
              <a:ea typeface="宋体" panose="02010600030101010101" pitchFamily="2" charset="-122"/>
            </a:endParaRPr>
          </a:p>
          <a:p>
            <a:r>
              <a:rPr lang="zh-CN" altLang="en-US" sz="2000">
                <a:latin typeface="楷体" panose="02010609060101010101" charset="-122"/>
                <a:ea typeface="宋体" panose="02010600030101010101" pitchFamily="2" charset="-122"/>
                <a:sym typeface="+mn-ea"/>
              </a:rPr>
              <a:t>掌握形式语言以及自动机理论在</a:t>
            </a:r>
            <a:r>
              <a:rPr lang="zh-CN" altLang="en-US" sz="2000">
                <a:solidFill>
                  <a:srgbClr val="C00000"/>
                </a:solidFill>
                <a:latin typeface="楷体" panose="02010609060101010101" charset="-122"/>
                <a:ea typeface="宋体" panose="02010600030101010101" pitchFamily="2" charset="-122"/>
                <a:sym typeface="+mn-ea"/>
              </a:rPr>
              <a:t>编译器前端自动生成中的应用</a:t>
            </a:r>
            <a:r>
              <a:rPr lang="zh-CN" altLang="en-US" sz="2000">
                <a:latin typeface="楷体" panose="02010609060101010101" charset="-122"/>
                <a:ea typeface="宋体" panose="02010600030101010101" pitchFamily="2" charset="-122"/>
                <a:sym typeface="+mn-ea"/>
              </a:rPr>
              <a:t>；理解不同方法和工具的作用和局限性。</a:t>
            </a:r>
            <a:endParaRPr lang="zh-CN" altLang="en-US">
              <a:latin typeface="楷体_GB2312" pitchFamily="49" charset="-122"/>
              <a:ea typeface="楷体_GB2312" pitchFamily="49" charset="-122"/>
            </a:endParaRPr>
          </a:p>
        </p:txBody>
      </p:sp>
      <p:sp>
        <p:nvSpPr>
          <p:cNvPr id="2" name="文本框 1"/>
          <p:cNvSpPr txBox="1"/>
          <p:nvPr/>
        </p:nvSpPr>
        <p:spPr>
          <a:xfrm>
            <a:off x="1151890" y="4329430"/>
            <a:ext cx="1720850" cy="1648460"/>
          </a:xfrm>
          <a:prstGeom prst="rect">
            <a:avLst/>
          </a:prstGeom>
          <a:solidFill>
            <a:srgbClr val="F8E57F">
              <a:alpha val="69000"/>
            </a:srgbClr>
          </a:solidFill>
          <a:effectLst>
            <a:softEdge rad="12700"/>
          </a:effectLst>
        </p:spPr>
        <p:txBody>
          <a:bodyPr wrap="square" rtlCol="0" anchor="t">
            <a:noAutofit/>
          </a:bodyPr>
          <a:lstStyle/>
          <a:p>
            <a:pPr lvl="0" algn="l">
              <a:lnSpc>
                <a:spcPct val="150000"/>
              </a:lnSpc>
              <a:spcAft>
                <a:spcPts val="800"/>
              </a:spcAft>
              <a:buClrTx/>
              <a:buSzTx/>
              <a:buFontTx/>
            </a:pPr>
            <a:r>
              <a:rPr lang="zh-CN" altLang="en-US" sz="1400">
                <a:latin typeface="宋体" panose="02010600030101010101" pitchFamily="2" charset="-122"/>
                <a:ea typeface="宋体" panose="02010600030101010101" pitchFamily="2" charset="-122"/>
                <a:cs typeface="宋体" panose="02010600030101010101" pitchFamily="2" charset="-122"/>
                <a:sym typeface="+mn-ea"/>
              </a:rPr>
              <a:t>能将专业知识和数学分析方法用于推演、分析计算机领域复杂工程问题</a:t>
            </a:r>
          </a:p>
        </p:txBody>
      </p:sp>
      <p:sp>
        <p:nvSpPr>
          <p:cNvPr id="3" name="文本框 2"/>
          <p:cNvSpPr txBox="1"/>
          <p:nvPr/>
        </p:nvSpPr>
        <p:spPr>
          <a:xfrm>
            <a:off x="3449320" y="4329430"/>
            <a:ext cx="1691005" cy="1648460"/>
          </a:xfrm>
          <a:prstGeom prst="rect">
            <a:avLst/>
          </a:prstGeom>
          <a:solidFill>
            <a:srgbClr val="F8E57F">
              <a:alpha val="69000"/>
            </a:srgbClr>
          </a:solidFill>
        </p:spPr>
        <p:txBody>
          <a:bodyPr wrap="square" rtlCol="0" anchor="t">
            <a:noAutofit/>
          </a:bodyPr>
          <a:lstStyle/>
          <a:p>
            <a:pPr lvl="0" algn="l">
              <a:lnSpc>
                <a:spcPct val="150000"/>
              </a:lnSpc>
              <a:spcAft>
                <a:spcPts val="800"/>
              </a:spcAft>
              <a:buClrTx/>
              <a:buSzTx/>
              <a:buFontTx/>
            </a:pPr>
            <a:r>
              <a:rPr lang="zh-CN" altLang="en-US" sz="1400">
                <a:latin typeface="宋体" panose="02010600030101010101" pitchFamily="2" charset="-122"/>
                <a:ea typeface="宋体" panose="02010600030101010101" pitchFamily="2" charset="-122"/>
                <a:cs typeface="宋体" panose="02010600030101010101" pitchFamily="2" charset="-122"/>
                <a:sym typeface="+mn-ea"/>
              </a:rPr>
              <a:t>能够针对计算机领域复杂工程问题的特定需求，完成系统、单元的设计</a:t>
            </a:r>
          </a:p>
        </p:txBody>
      </p:sp>
      <p:sp>
        <p:nvSpPr>
          <p:cNvPr id="5" name="文本框 4"/>
          <p:cNvSpPr txBox="1"/>
          <p:nvPr/>
        </p:nvSpPr>
        <p:spPr>
          <a:xfrm>
            <a:off x="5688330" y="4328795"/>
            <a:ext cx="1713865" cy="1649095"/>
          </a:xfrm>
          <a:prstGeom prst="rect">
            <a:avLst/>
          </a:prstGeom>
          <a:solidFill>
            <a:srgbClr val="F8E57F">
              <a:alpha val="69000"/>
            </a:srgbClr>
          </a:solidFill>
        </p:spPr>
        <p:txBody>
          <a:bodyPr wrap="square" rtlCol="0" anchor="t">
            <a:noAutofit/>
          </a:bodyPr>
          <a:lstStyle/>
          <a:p>
            <a:pPr marL="0" indent="0" algn="l">
              <a:lnSpc>
                <a:spcPct val="125000"/>
              </a:lnSpc>
              <a:spcBef>
                <a:spcPts val="0"/>
              </a:spcBef>
              <a:spcAft>
                <a:spcPts val="800"/>
              </a:spcAft>
            </a:pPr>
            <a:r>
              <a:rPr lang="zh-CN" altLang="en-US" sz="1400">
                <a:latin typeface="宋体" panose="02010600030101010101" pitchFamily="2" charset="-122"/>
                <a:ea typeface="宋体" panose="02010600030101010101" pitchFamily="2" charset="-122"/>
                <a:cs typeface="宋体" panose="02010600030101010101" pitchFamily="2" charset="-122"/>
                <a:sym typeface="+mn-ea"/>
              </a:rPr>
              <a:t>能够根据计算机领域的对象特征，选择研究路线，设计研究方案，构建系统，采集相关数据</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vert="horz" wrap="square" lIns="91440" tIns="45720" rIns="91440" bIns="45720" anchor="b" anchorCtr="0"/>
          <a:lstStyle/>
          <a:p>
            <a:r>
              <a:rPr lang="zh-CN" altLang="en-US" dirty="0"/>
              <a:t>三次学习编译全过程</a:t>
            </a:r>
          </a:p>
        </p:txBody>
      </p:sp>
      <p:sp>
        <p:nvSpPr>
          <p:cNvPr id="9219" name="内容占位符 2"/>
          <p:cNvSpPr>
            <a:spLocks noGrp="1"/>
          </p:cNvSpPr>
          <p:nvPr>
            <p:ph idx="1"/>
          </p:nvPr>
        </p:nvSpPr>
        <p:spPr/>
        <p:txBody>
          <a:bodyPr vert="horz" wrap="square" lIns="91440" tIns="45720" rIns="91440" bIns="45720" anchor="t" anchorCtr="0"/>
          <a:lstStyle/>
          <a:p>
            <a:r>
              <a:rPr lang="zh-CN" altLang="en-US" dirty="0"/>
              <a:t>第一次：概述</a:t>
            </a:r>
            <a:endParaRPr lang="en-US" altLang="zh-CN" dirty="0"/>
          </a:p>
          <a:p>
            <a:pPr lvl="1"/>
            <a:r>
              <a:rPr lang="zh-CN" altLang="en-US" dirty="0"/>
              <a:t>大致了解编译的过程和编译程序的构造</a:t>
            </a:r>
            <a:endParaRPr lang="en-US" altLang="zh-CN" dirty="0"/>
          </a:p>
          <a:p>
            <a:r>
              <a:rPr lang="zh-CN" altLang="en-US" dirty="0"/>
              <a:t>第二次：第</a:t>
            </a:r>
            <a:r>
              <a:rPr lang="en-US" altLang="zh-CN" dirty="0"/>
              <a:t>3-10</a:t>
            </a:r>
            <a:r>
              <a:rPr lang="zh-CN" altLang="en-US" dirty="0"/>
              <a:t>，</a:t>
            </a:r>
            <a:r>
              <a:rPr lang="en-US" altLang="zh-CN" dirty="0"/>
              <a:t>14</a:t>
            </a:r>
            <a:r>
              <a:rPr lang="zh-CN" altLang="en-US" dirty="0"/>
              <a:t>，</a:t>
            </a:r>
            <a:r>
              <a:rPr lang="en-US" altLang="zh-CN" dirty="0"/>
              <a:t>15</a:t>
            </a:r>
            <a:r>
              <a:rPr lang="zh-CN" altLang="en-US" dirty="0"/>
              <a:t>章</a:t>
            </a:r>
            <a:endParaRPr lang="en-US" altLang="zh-CN" dirty="0"/>
          </a:p>
          <a:p>
            <a:pPr lvl="1"/>
            <a:r>
              <a:rPr lang="zh-CN" altLang="en-US" dirty="0"/>
              <a:t>详细学习各部分的原理和方法</a:t>
            </a:r>
            <a:endParaRPr lang="en-US" altLang="zh-CN" dirty="0"/>
          </a:p>
          <a:p>
            <a:r>
              <a:rPr lang="zh-CN" altLang="en-US" dirty="0"/>
              <a:t>第三次：实验</a:t>
            </a:r>
            <a:endParaRPr lang="en-US" altLang="zh-CN" dirty="0"/>
          </a:p>
          <a:p>
            <a:pPr lvl="1"/>
            <a:r>
              <a:rPr lang="zh-CN" altLang="en-US" dirty="0"/>
              <a:t>基于理论学习，逐步实现一个完整编译器</a:t>
            </a:r>
            <a:endParaRPr lang="en-US" altLang="zh-CN" dirty="0"/>
          </a:p>
          <a:p>
            <a:endParaRPr lang="en-US" altLang="zh-CN" dirty="0"/>
          </a:p>
          <a:p>
            <a:pPr lvl="1"/>
            <a:endParaRPr lang="zh-CN" altLang="en-US" dirty="0"/>
          </a:p>
        </p:txBody>
      </p:sp>
      <p:sp>
        <p:nvSpPr>
          <p:cNvPr id="4" name="下箭头 3"/>
          <p:cNvSpPr/>
          <p:nvPr/>
        </p:nvSpPr>
        <p:spPr bwMode="auto">
          <a:xfrm>
            <a:off x="8388424" y="2071678"/>
            <a:ext cx="612732" cy="4402148"/>
          </a:xfrm>
          <a:prstGeom prst="downArrow">
            <a:avLst>
              <a:gd name="adj1" fmla="val 50000"/>
              <a:gd name="adj2" fmla="val 36872"/>
            </a:avLst>
          </a:prstGeom>
          <a:gradFill flip="none" rotWithShape="1">
            <a:gsLst>
              <a:gs pos="0">
                <a:srgbClr val="5E9EFF"/>
              </a:gs>
              <a:gs pos="39999">
                <a:srgbClr val="85C2FF"/>
              </a:gs>
              <a:gs pos="70000">
                <a:srgbClr val="C4D6EB"/>
              </a:gs>
              <a:gs pos="100000">
                <a:srgbClr val="FFEBFA"/>
              </a:gs>
            </a:gsLst>
            <a:path path="circle">
              <a:fillToRect l="100000" t="100000"/>
            </a:path>
            <a:tileRect r="-100000" b="-100000"/>
          </a:gradFill>
          <a:ln w="9525" cap="flat"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深</a:t>
            </a: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入</a:t>
            </a: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应</a:t>
            </a: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用</a:t>
            </a: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巩</a:t>
            </a:r>
            <a:endParaRPr kumimoji="0" lang="en-US" altLang="zh-CN"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up)">
                                      <p:cBhvr>
                                        <p:cTn id="10" dur="500"/>
                                        <p:tgtEl>
                                          <p:spTgt spid="4">
                                            <p:txEl>
                                              <p:pRg st="0" end="0"/>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wipe(up)">
                                      <p:cBhvr>
                                        <p:cTn id="13" dur="500"/>
                                        <p:tgtEl>
                                          <p:spTgt spid="4">
                                            <p:txEl>
                                              <p:pRg st="1" end="1"/>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up)">
                                      <p:cBhvr>
                                        <p:cTn id="16" dur="500"/>
                                        <p:tgtEl>
                                          <p:spTgt spid="4">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wipe(up)">
                                      <p:cBhvr>
                                        <p:cTn id="19" dur="500"/>
                                        <p:tgtEl>
                                          <p:spTgt spid="4">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up)">
                                      <p:cBhvr>
                                        <p:cTn id="22" dur="500"/>
                                        <p:tgtEl>
                                          <p:spTgt spid="4">
                                            <p:txEl>
                                              <p:pRg st="6" end="6"/>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wipe(up)">
                                      <p:cBhvr>
                                        <p:cTn id="2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Box 4"/>
          <p:cNvSpPr txBox="1"/>
          <p:nvPr/>
        </p:nvSpPr>
        <p:spPr>
          <a:xfrm>
            <a:off x="2182180" y="4423886"/>
            <a:ext cx="5400675" cy="541337"/>
          </a:xfrm>
          <a:prstGeom prst="rect">
            <a:avLst/>
          </a:prstGeom>
          <a:gradFill flip="none" rotWithShape="1">
            <a:gsLst>
              <a:gs pos="0">
                <a:srgbClr val="5E9EFF">
                  <a:alpha val="100000"/>
                </a:srgbClr>
              </a:gs>
              <a:gs pos="39999">
                <a:srgbClr val="85C2FF">
                  <a:alpha val="100000"/>
                </a:srgbClr>
              </a:gs>
              <a:gs pos="70000">
                <a:srgbClr val="C4D6EB">
                  <a:alpha val="100000"/>
                </a:srgbClr>
              </a:gs>
              <a:gs pos="100000">
                <a:srgbClr val="FFEBFA">
                  <a:alpha val="100000"/>
                </a:srgbClr>
              </a:gs>
            </a:gsLst>
            <a:path path="circle">
              <a:fillToRect l="100000" t="100000"/>
            </a:path>
            <a:tileRect r="-100000" b="-100000"/>
          </a:gradFill>
          <a:ln w="9525" cap="flat" cmpd="sng">
            <a:solidFill>
              <a:schemeClr val="accent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600" dirty="0"/>
              <a:t>编译器源代码阅读</a:t>
            </a:r>
          </a:p>
        </p:txBody>
      </p:sp>
      <p:sp>
        <p:nvSpPr>
          <p:cNvPr id="3" name="箭头: 右 2"/>
          <p:cNvSpPr/>
          <p:nvPr/>
        </p:nvSpPr>
        <p:spPr bwMode="auto">
          <a:xfrm>
            <a:off x="1548124" y="4639891"/>
            <a:ext cx="6208866" cy="1885967"/>
          </a:xfrm>
          <a:prstGeom prst="rightArrow">
            <a:avLst>
              <a:gd name="adj1" fmla="val 50000"/>
              <a:gd name="adj2" fmla="val 20313"/>
            </a:avLst>
          </a:prstGeom>
          <a:solidFill>
            <a:srgbClr val="99CCFF"/>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8196" name="TextBox 8"/>
          <p:cNvSpPr txBox="1"/>
          <p:nvPr/>
        </p:nvSpPr>
        <p:spPr>
          <a:xfrm>
            <a:off x="2182180" y="3882145"/>
            <a:ext cx="5400675" cy="503238"/>
          </a:xfrm>
          <a:prstGeom prst="rect">
            <a:avLst/>
          </a:prstGeom>
          <a:gradFill flip="none" rotWithShape="1">
            <a:gsLst>
              <a:gs pos="0">
                <a:srgbClr val="5E9EFF">
                  <a:alpha val="100000"/>
                </a:srgbClr>
              </a:gs>
              <a:gs pos="39999">
                <a:srgbClr val="85C2FF">
                  <a:alpha val="100000"/>
                </a:srgbClr>
              </a:gs>
              <a:gs pos="70000">
                <a:srgbClr val="C4D6EB">
                  <a:alpha val="100000"/>
                </a:srgbClr>
              </a:gs>
              <a:gs pos="100000">
                <a:srgbClr val="FFEBFA">
                  <a:alpha val="100000"/>
                </a:srgbClr>
              </a:gs>
            </a:gsLst>
            <a:path path="circle">
              <a:fillToRect l="100000" t="100000"/>
            </a:path>
            <a:tileRect r="-100000" b="-100000"/>
          </a:gradFill>
          <a:ln w="9525" cap="rnd" cmpd="sng">
            <a:solidFill>
              <a:schemeClr val="accent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600" dirty="0"/>
              <a:t>编译器设计</a:t>
            </a:r>
          </a:p>
        </p:txBody>
      </p:sp>
      <p:sp>
        <p:nvSpPr>
          <p:cNvPr id="8197" name="矩形 28"/>
          <p:cNvSpPr/>
          <p:nvPr/>
        </p:nvSpPr>
        <p:spPr>
          <a:xfrm>
            <a:off x="2212825" y="1981343"/>
            <a:ext cx="493539" cy="1222376"/>
          </a:xfrm>
          <a:prstGeom prst="rect">
            <a:avLst/>
          </a:prstGeom>
          <a:solidFill>
            <a:srgbClr val="CCECFF"/>
          </a:solidFill>
          <a:ln w="9525" cap="flat" cmpd="sng">
            <a:solidFill>
              <a:srgbClr val="FFC000"/>
            </a:solidFill>
            <a:prstDash val="solid"/>
            <a:miter/>
            <a:headEnd type="none" w="med" len="med"/>
            <a:tailEnd type="none" w="med" len="med"/>
          </a:ln>
        </p:spPr>
        <p:txBody>
          <a:bodyPr vert="eaVert" wrap="square">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600" dirty="0"/>
              <a:t>词法分析</a:t>
            </a:r>
          </a:p>
        </p:txBody>
      </p:sp>
      <p:cxnSp>
        <p:nvCxnSpPr>
          <p:cNvPr id="8198" name="直接连接符 46"/>
          <p:cNvCxnSpPr/>
          <p:nvPr/>
        </p:nvCxnSpPr>
        <p:spPr>
          <a:xfrm flipV="1">
            <a:off x="1854994" y="3501008"/>
            <a:ext cx="0" cy="281282"/>
          </a:xfrm>
          <a:prstGeom prst="line">
            <a:avLst/>
          </a:prstGeom>
          <a:ln w="9525" cap="flat" cmpd="sng">
            <a:solidFill>
              <a:schemeClr val="tx1"/>
            </a:solidFill>
            <a:prstDash val="solid"/>
            <a:headEnd type="none" w="med" len="med"/>
            <a:tailEnd type="triangle" w="med" len="med"/>
          </a:ln>
        </p:spPr>
      </p:cxnSp>
      <p:sp>
        <p:nvSpPr>
          <p:cNvPr id="8199" name="矩形 28"/>
          <p:cNvSpPr/>
          <p:nvPr/>
        </p:nvSpPr>
        <p:spPr>
          <a:xfrm>
            <a:off x="1580113" y="3743102"/>
            <a:ext cx="504825" cy="1200150"/>
          </a:xfrm>
          <a:prstGeom prst="rect">
            <a:avLst/>
          </a:prstGeom>
          <a:solidFill>
            <a:srgbClr val="CCECFF"/>
          </a:solidFill>
          <a:ln w="9525" cap="flat" cmpd="sng">
            <a:solidFill>
              <a:srgbClr val="FFC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800" dirty="0"/>
              <a:t>文法解读</a:t>
            </a:r>
          </a:p>
        </p:txBody>
      </p:sp>
      <p:sp>
        <p:nvSpPr>
          <p:cNvPr id="11271" name="Rectangle 2"/>
          <p:cNvSpPr>
            <a:spLocks noGrp="1"/>
          </p:cNvSpPr>
          <p:nvPr>
            <p:ph type="title"/>
          </p:nvPr>
        </p:nvSpPr>
        <p:spPr>
          <a:xfrm>
            <a:off x="827088" y="608013"/>
            <a:ext cx="7793037" cy="839787"/>
          </a:xfrm>
        </p:spPr>
        <p:txBody>
          <a:bodyPr vert="horz" wrap="square" lIns="91440" tIns="45720" rIns="91440" bIns="45720" anchor="b" anchorCtr="0"/>
          <a:lstStyle/>
          <a:p>
            <a:pPr eaLnBrk="1" hangingPunct="1"/>
            <a:r>
              <a:rPr lang="zh-CN" altLang="en-US" dirty="0"/>
              <a:t>理论课与实验作业概览</a:t>
            </a:r>
          </a:p>
        </p:txBody>
      </p:sp>
      <p:sp>
        <p:nvSpPr>
          <p:cNvPr id="8201" name="矩形 28"/>
          <p:cNvSpPr/>
          <p:nvPr/>
        </p:nvSpPr>
        <p:spPr>
          <a:xfrm>
            <a:off x="1584325" y="5186363"/>
            <a:ext cx="541338"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lIns="36000" tIns="36000" rIns="36000" bIns="3600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文法和语言的概念和表示</a:t>
            </a:r>
          </a:p>
        </p:txBody>
      </p:sp>
      <p:sp>
        <p:nvSpPr>
          <p:cNvPr id="8202" name="矩形 28"/>
          <p:cNvSpPr/>
          <p:nvPr/>
        </p:nvSpPr>
        <p:spPr>
          <a:xfrm>
            <a:off x="2155825" y="5186363"/>
            <a:ext cx="503238"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vert="eaVert"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词法分析</a:t>
            </a:r>
          </a:p>
        </p:txBody>
      </p:sp>
      <p:sp>
        <p:nvSpPr>
          <p:cNvPr id="8203" name="矩形 28"/>
          <p:cNvSpPr/>
          <p:nvPr/>
        </p:nvSpPr>
        <p:spPr>
          <a:xfrm>
            <a:off x="2686050" y="5187950"/>
            <a:ext cx="503238"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vert="eaVert"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buClrTx/>
              <a:buSzTx/>
              <a:buNone/>
            </a:pPr>
            <a:r>
              <a:rPr lang="zh-CN" altLang="en-US" sz="1200" dirty="0"/>
              <a:t>语法分析</a:t>
            </a:r>
          </a:p>
        </p:txBody>
      </p:sp>
      <p:sp>
        <p:nvSpPr>
          <p:cNvPr id="8204" name="矩形 28"/>
          <p:cNvSpPr/>
          <p:nvPr/>
        </p:nvSpPr>
        <p:spPr>
          <a:xfrm>
            <a:off x="4284663" y="5186363"/>
            <a:ext cx="539750"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lIns="36000" tIns="36000" rIns="36000" bIns="3600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运行时存储组织及管理</a:t>
            </a:r>
          </a:p>
        </p:txBody>
      </p:sp>
      <p:sp>
        <p:nvSpPr>
          <p:cNvPr id="8205" name="矩形 28"/>
          <p:cNvSpPr/>
          <p:nvPr/>
        </p:nvSpPr>
        <p:spPr>
          <a:xfrm>
            <a:off x="4859338" y="5192713"/>
            <a:ext cx="504825"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源程序的中间形式</a:t>
            </a:r>
          </a:p>
        </p:txBody>
      </p:sp>
      <p:sp>
        <p:nvSpPr>
          <p:cNvPr id="8206" name="矩形 28"/>
          <p:cNvSpPr/>
          <p:nvPr/>
        </p:nvSpPr>
        <p:spPr>
          <a:xfrm>
            <a:off x="3754438" y="5180013"/>
            <a:ext cx="504825" cy="83820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vert="eaVert"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buClrTx/>
              <a:buSzTx/>
              <a:buNone/>
            </a:pPr>
            <a:r>
              <a:rPr lang="zh-CN" altLang="en-US" sz="1200" dirty="0"/>
              <a:t>错误处理</a:t>
            </a:r>
          </a:p>
        </p:txBody>
      </p:sp>
      <p:sp>
        <p:nvSpPr>
          <p:cNvPr id="8207" name="矩形 28"/>
          <p:cNvSpPr/>
          <p:nvPr/>
        </p:nvSpPr>
        <p:spPr>
          <a:xfrm>
            <a:off x="5413375" y="5180013"/>
            <a:ext cx="503238"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语法制导翻译技术</a:t>
            </a:r>
          </a:p>
        </p:txBody>
      </p:sp>
      <p:sp>
        <p:nvSpPr>
          <p:cNvPr id="8208" name="矩形 28"/>
          <p:cNvSpPr/>
          <p:nvPr/>
        </p:nvSpPr>
        <p:spPr>
          <a:xfrm>
            <a:off x="5965825" y="5173663"/>
            <a:ext cx="503238"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语义分析代码生成</a:t>
            </a:r>
          </a:p>
        </p:txBody>
      </p:sp>
      <p:sp>
        <p:nvSpPr>
          <p:cNvPr id="8209" name="矩形 28"/>
          <p:cNvSpPr/>
          <p:nvPr/>
        </p:nvSpPr>
        <p:spPr>
          <a:xfrm>
            <a:off x="7050088" y="5173663"/>
            <a:ext cx="504825"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vert="eaVert"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buClrTx/>
              <a:buSzTx/>
              <a:buNone/>
            </a:pPr>
            <a:r>
              <a:rPr lang="zh-CN" altLang="en-US" sz="1200" dirty="0"/>
              <a:t>代码优化</a:t>
            </a:r>
          </a:p>
        </p:txBody>
      </p:sp>
      <p:sp>
        <p:nvSpPr>
          <p:cNvPr id="8210" name="矩形 28"/>
          <p:cNvSpPr/>
          <p:nvPr/>
        </p:nvSpPr>
        <p:spPr>
          <a:xfrm>
            <a:off x="6513513" y="5173663"/>
            <a:ext cx="503237"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200" dirty="0"/>
              <a:t>目标代码生成优化</a:t>
            </a:r>
          </a:p>
        </p:txBody>
      </p:sp>
      <p:sp>
        <p:nvSpPr>
          <p:cNvPr id="8212" name="圆角矩形 52"/>
          <p:cNvSpPr/>
          <p:nvPr/>
        </p:nvSpPr>
        <p:spPr>
          <a:xfrm>
            <a:off x="2181900" y="1916832"/>
            <a:ext cx="5427900" cy="1906265"/>
          </a:xfrm>
          <a:prstGeom prst="roundRect">
            <a:avLst>
              <a:gd name="adj" fmla="val 5875"/>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endParaRPr lang="zh-CN" altLang="en-US" sz="1800" dirty="0"/>
          </a:p>
        </p:txBody>
      </p:sp>
      <p:sp>
        <p:nvSpPr>
          <p:cNvPr id="8213" name="流程图: 多文档 53"/>
          <p:cNvSpPr/>
          <p:nvPr/>
        </p:nvSpPr>
        <p:spPr>
          <a:xfrm>
            <a:off x="1568450" y="1844825"/>
            <a:ext cx="460375" cy="1760388"/>
          </a:xfrm>
          <a:prstGeom prst="flowChartMultidocument">
            <a:avLst/>
          </a:prstGeom>
          <a:solidFill>
            <a:srgbClr val="99CCFF"/>
          </a:solidFill>
          <a:ln w="9525" cap="flat" cmpd="sng">
            <a:solidFill>
              <a:schemeClr val="tx1"/>
            </a:solidFill>
            <a:prstDash val="solid"/>
            <a:round/>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r>
              <a:rPr lang="zh-CN" altLang="en-US" sz="1600" dirty="0"/>
              <a:t>测试程序</a:t>
            </a:r>
          </a:p>
        </p:txBody>
      </p:sp>
      <p:sp>
        <p:nvSpPr>
          <p:cNvPr id="8214" name="矩形 28"/>
          <p:cNvSpPr/>
          <p:nvPr/>
        </p:nvSpPr>
        <p:spPr>
          <a:xfrm>
            <a:off x="3214688" y="5180013"/>
            <a:ext cx="504825" cy="831850"/>
          </a:xfrm>
          <a:prstGeom prst="rect">
            <a:avLst/>
          </a:prstGeom>
          <a:solidFill>
            <a:schemeClr val="accent6">
              <a:lumMod val="40000"/>
              <a:lumOff val="60000"/>
            </a:schemeClr>
          </a:solidFill>
          <a:ln w="9525" cap="flat" cmpd="sng">
            <a:solidFill>
              <a:schemeClr val="accent1"/>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buClrTx/>
              <a:buSzTx/>
              <a:buNone/>
            </a:pPr>
            <a:r>
              <a:rPr lang="zh-CN" altLang="en-US" sz="1200" dirty="0"/>
              <a:t>符号表管理技术</a:t>
            </a:r>
          </a:p>
        </p:txBody>
      </p:sp>
      <p:sp>
        <p:nvSpPr>
          <p:cNvPr id="8215" name="矩形 28"/>
          <p:cNvSpPr/>
          <p:nvPr/>
        </p:nvSpPr>
        <p:spPr>
          <a:xfrm>
            <a:off x="2723676" y="1987698"/>
            <a:ext cx="473225" cy="1222376"/>
          </a:xfrm>
          <a:prstGeom prst="rect">
            <a:avLst/>
          </a:prstGeom>
          <a:solidFill>
            <a:srgbClr val="CCECFF"/>
          </a:solidFill>
          <a:ln w="9525" cap="flat" cmpd="sng">
            <a:solidFill>
              <a:srgbClr val="FFC000"/>
            </a:solidFill>
            <a:prstDash val="solid"/>
            <a:miter/>
            <a:headEnd type="none" w="med" len="med"/>
            <a:tailEnd type="none" w="med" len="med"/>
          </a:ln>
        </p:spPr>
        <p:txBody>
          <a:bodyPr vert="eaVert" wrap="square">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indent="0" algn="ctr">
              <a:buClrTx/>
              <a:buSzTx/>
              <a:buNone/>
            </a:pPr>
            <a:r>
              <a:rPr lang="zh-CN" altLang="en-US" sz="1600" dirty="0"/>
              <a:t>语法分析</a:t>
            </a:r>
          </a:p>
        </p:txBody>
      </p:sp>
      <p:sp>
        <p:nvSpPr>
          <p:cNvPr id="8216" name="矩形 28"/>
          <p:cNvSpPr/>
          <p:nvPr/>
        </p:nvSpPr>
        <p:spPr>
          <a:xfrm>
            <a:off x="3219151" y="1987699"/>
            <a:ext cx="2329161" cy="1222375"/>
          </a:xfrm>
          <a:prstGeom prst="rect">
            <a:avLst/>
          </a:prstGeom>
          <a:solidFill>
            <a:srgbClr val="CCECFF"/>
          </a:solidFill>
          <a:ln w="9525" cap="flat" cmpd="sng">
            <a:solidFill>
              <a:srgbClr val="FFC000"/>
            </a:solidFill>
            <a:prstDash val="solid"/>
            <a:miter/>
            <a:headEnd type="none" w="med" len="med"/>
            <a:tailEnd type="none" w="med" len="med"/>
          </a:ln>
        </p:spPr>
        <p:txBody>
          <a:bodyPr vert="eaVert"/>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600" dirty="0"/>
          </a:p>
          <a:p>
            <a:pPr marL="0" lvl="0" indent="0" algn="ctr">
              <a:spcBef>
                <a:spcPct val="0"/>
              </a:spcBef>
              <a:buClrTx/>
              <a:buSzTx/>
              <a:buFontTx/>
              <a:buNone/>
            </a:pPr>
            <a:endParaRPr lang="en-US" altLang="zh-CN" sz="1600" dirty="0"/>
          </a:p>
          <a:p>
            <a:pPr marL="0" lvl="0" indent="0" algn="ctr">
              <a:spcBef>
                <a:spcPct val="0"/>
              </a:spcBef>
              <a:buClrTx/>
              <a:buSzTx/>
              <a:buFontTx/>
              <a:buNone/>
            </a:pPr>
            <a:endParaRPr lang="en-US" altLang="zh-CN" sz="1600" dirty="0"/>
          </a:p>
          <a:p>
            <a:pPr marL="0" lvl="0" indent="0" algn="ctr">
              <a:spcBef>
                <a:spcPct val="0"/>
              </a:spcBef>
              <a:buClrTx/>
              <a:buSzTx/>
              <a:buFontTx/>
              <a:buNone/>
            </a:pPr>
            <a:endParaRPr lang="en-US" altLang="zh-CN" sz="1600" dirty="0"/>
          </a:p>
          <a:p>
            <a:pPr marL="0" lvl="0" indent="0" algn="ctr">
              <a:spcBef>
                <a:spcPct val="0"/>
              </a:spcBef>
              <a:buClrTx/>
              <a:buSzTx/>
              <a:buFontTx/>
              <a:buNone/>
            </a:pPr>
            <a:r>
              <a:rPr lang="zh-CN" altLang="en-US" sz="1600" dirty="0"/>
              <a:t>语义分析</a:t>
            </a:r>
            <a:endParaRPr lang="en-US" altLang="zh-CN" sz="1600" dirty="0"/>
          </a:p>
        </p:txBody>
      </p:sp>
      <p:sp>
        <p:nvSpPr>
          <p:cNvPr id="8218" name="矩形 28"/>
          <p:cNvSpPr/>
          <p:nvPr/>
        </p:nvSpPr>
        <p:spPr>
          <a:xfrm>
            <a:off x="5565624" y="1987699"/>
            <a:ext cx="1213719" cy="1222375"/>
          </a:xfrm>
          <a:prstGeom prst="rect">
            <a:avLst/>
          </a:prstGeom>
          <a:solidFill>
            <a:srgbClr val="CCECFF"/>
          </a:solidFill>
          <a:ln w="9525" cap="flat" cmpd="sng">
            <a:solidFill>
              <a:srgbClr val="FFC000"/>
            </a:solidFill>
            <a:prstDash val="solid"/>
            <a:miter/>
            <a:headEnd type="none" w="med" len="med"/>
            <a:tailEnd type="none" w="med" len="med"/>
          </a:ln>
        </p:spPr>
        <p:txBody>
          <a:bodyPr vert="eaVert"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600" dirty="0"/>
              <a:t>代码生成</a:t>
            </a:r>
          </a:p>
        </p:txBody>
      </p:sp>
      <p:sp>
        <p:nvSpPr>
          <p:cNvPr id="8219" name="矩形 28"/>
          <p:cNvSpPr/>
          <p:nvPr/>
        </p:nvSpPr>
        <p:spPr>
          <a:xfrm>
            <a:off x="6787281" y="1987699"/>
            <a:ext cx="808907" cy="1216025"/>
          </a:xfrm>
          <a:prstGeom prst="rect">
            <a:avLst/>
          </a:prstGeom>
          <a:solidFill>
            <a:srgbClr val="CCECFF"/>
          </a:solidFill>
          <a:ln w="9525" cap="flat" cmpd="sng">
            <a:solidFill>
              <a:schemeClr val="accent2"/>
            </a:solidFill>
            <a:prstDash val="solid"/>
            <a:miter/>
            <a:headEnd type="none" w="med" len="med"/>
            <a:tailEnd type="none" w="med" len="med"/>
          </a:ln>
        </p:spPr>
        <p:txBody>
          <a:bodyPr vert="eaVert"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600" dirty="0"/>
              <a:t>代码优化</a:t>
            </a:r>
          </a:p>
        </p:txBody>
      </p:sp>
      <p:sp>
        <p:nvSpPr>
          <p:cNvPr id="8220" name="箭头: 右 4"/>
          <p:cNvSpPr/>
          <p:nvPr/>
        </p:nvSpPr>
        <p:spPr>
          <a:xfrm>
            <a:off x="2028825" y="2421086"/>
            <a:ext cx="166688" cy="287338"/>
          </a:xfrm>
          <a:prstGeom prst="rightArrow">
            <a:avLst>
              <a:gd name="adj1" fmla="val 50000"/>
              <a:gd name="adj2" fmla="val 50000"/>
            </a:avLst>
          </a:prstGeom>
          <a:solidFill>
            <a:srgbClr val="99CCFF"/>
          </a:solid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endParaRPr lang="zh-CN" altLang="en-US" sz="1800" dirty="0"/>
          </a:p>
        </p:txBody>
      </p:sp>
      <p:sp>
        <p:nvSpPr>
          <p:cNvPr id="28" name="矩形 28"/>
          <p:cNvSpPr/>
          <p:nvPr/>
        </p:nvSpPr>
        <p:spPr>
          <a:xfrm>
            <a:off x="2754163" y="3528839"/>
            <a:ext cx="4842025" cy="260201"/>
          </a:xfrm>
          <a:prstGeom prst="rect">
            <a:avLst/>
          </a:prstGeom>
          <a:gradFill flip="none" rotWithShape="1">
            <a:gsLst>
              <a:gs pos="0">
                <a:schemeClr val="accent1">
                  <a:lumMod val="5000"/>
                  <a:lumOff val="95000"/>
                </a:schemeClr>
              </a:gs>
              <a:gs pos="47000">
                <a:schemeClr val="accent2">
                  <a:lumMod val="20000"/>
                  <a:lumOff val="80000"/>
                </a:schemeClr>
              </a:gs>
              <a:gs pos="71000">
                <a:schemeClr val="accent2">
                  <a:lumMod val="20000"/>
                  <a:lumOff val="80000"/>
                </a:schemeClr>
              </a:gs>
              <a:gs pos="95000">
                <a:schemeClr val="accent2">
                  <a:lumMod val="20000"/>
                  <a:lumOff val="80000"/>
                </a:schemeClr>
              </a:gs>
            </a:gsLst>
            <a:lin ang="10800000" scaled="1"/>
            <a:tileRect/>
          </a:gradFill>
          <a:ln w="9525" cap="flat" cmpd="sng">
            <a:solidFill>
              <a:srgbClr val="FFC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indent="0">
              <a:buClrTx/>
              <a:buSzTx/>
              <a:buNone/>
            </a:pPr>
            <a:r>
              <a:rPr lang="zh-CN" altLang="en-US" sz="1400" dirty="0"/>
              <a:t>                            符号表管理</a:t>
            </a:r>
          </a:p>
        </p:txBody>
      </p:sp>
      <p:sp>
        <p:nvSpPr>
          <p:cNvPr id="29" name="矩形 28"/>
          <p:cNvSpPr/>
          <p:nvPr/>
        </p:nvSpPr>
        <p:spPr>
          <a:xfrm>
            <a:off x="2216150" y="3240807"/>
            <a:ext cx="4571131" cy="260201"/>
          </a:xfrm>
          <a:prstGeom prst="rect">
            <a:avLst/>
          </a:prstGeom>
          <a:gradFill flip="none" rotWithShape="1">
            <a:gsLst>
              <a:gs pos="0">
                <a:schemeClr val="accent1">
                  <a:lumMod val="5000"/>
                  <a:lumOff val="95000"/>
                </a:schemeClr>
              </a:gs>
              <a:gs pos="47000">
                <a:schemeClr val="accent2">
                  <a:lumMod val="20000"/>
                  <a:lumOff val="80000"/>
                </a:schemeClr>
              </a:gs>
              <a:gs pos="71000">
                <a:schemeClr val="accent2">
                  <a:lumMod val="20000"/>
                  <a:lumOff val="80000"/>
                </a:schemeClr>
              </a:gs>
              <a:gs pos="95000">
                <a:schemeClr val="accent2">
                  <a:lumMod val="20000"/>
                  <a:lumOff val="80000"/>
                </a:schemeClr>
              </a:gs>
            </a:gsLst>
            <a:lin ang="10800000" scaled="1"/>
            <a:tileRect/>
          </a:gradFill>
          <a:ln w="9525" cap="flat" cmpd="sng">
            <a:solidFill>
              <a:srgbClr val="FFC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400" dirty="0"/>
              <a:t>            错误处理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201"/>
                                        </p:tgtEl>
                                        <p:attrNameLst>
                                          <p:attrName>style.visibility</p:attrName>
                                        </p:attrNameLst>
                                      </p:cBhvr>
                                      <p:to>
                                        <p:strVal val="visible"/>
                                      </p:to>
                                    </p:set>
                                    <p:animEffect transition="in" filter="wipe(up)">
                                      <p:cBhvr>
                                        <p:cTn id="12" dur="500"/>
                                        <p:tgtEl>
                                          <p:spTgt spid="82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199"/>
                                        </p:tgtEl>
                                        <p:attrNameLst>
                                          <p:attrName>style.visibility</p:attrName>
                                        </p:attrNameLst>
                                      </p:cBhvr>
                                      <p:to>
                                        <p:strVal val="visible"/>
                                      </p:to>
                                    </p:set>
                                    <p:animEffect transition="in" filter="wipe(up)">
                                      <p:cBhvr>
                                        <p:cTn id="17" dur="500"/>
                                        <p:tgtEl>
                                          <p:spTgt spid="81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198"/>
                                        </p:tgtEl>
                                        <p:attrNameLst>
                                          <p:attrName>style.visibility</p:attrName>
                                        </p:attrNameLst>
                                      </p:cBhvr>
                                      <p:to>
                                        <p:strVal val="visible"/>
                                      </p:to>
                                    </p:set>
                                    <p:animEffect transition="in" filter="wipe(down)">
                                      <p:cBhvr>
                                        <p:cTn id="22" dur="500"/>
                                        <p:tgtEl>
                                          <p:spTgt spid="819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213"/>
                                        </p:tgtEl>
                                        <p:attrNameLst>
                                          <p:attrName>style.visibility</p:attrName>
                                        </p:attrNameLst>
                                      </p:cBhvr>
                                      <p:to>
                                        <p:strVal val="visible"/>
                                      </p:to>
                                    </p:set>
                                    <p:animEffect transition="in" filter="wipe(up)">
                                      <p:cBhvr>
                                        <p:cTn id="27" dur="500"/>
                                        <p:tgtEl>
                                          <p:spTgt spid="82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202"/>
                                        </p:tgtEl>
                                        <p:attrNameLst>
                                          <p:attrName>style.visibility</p:attrName>
                                        </p:attrNameLst>
                                      </p:cBhvr>
                                      <p:to>
                                        <p:strVal val="visible"/>
                                      </p:to>
                                    </p:set>
                                    <p:animEffect transition="in" filter="wipe(up)">
                                      <p:cBhvr>
                                        <p:cTn id="32" dur="500"/>
                                        <p:tgtEl>
                                          <p:spTgt spid="8202"/>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8197"/>
                                        </p:tgtEl>
                                        <p:attrNameLst>
                                          <p:attrName>style.visibility</p:attrName>
                                        </p:attrNameLst>
                                      </p:cBhvr>
                                      <p:to>
                                        <p:strVal val="visible"/>
                                      </p:to>
                                    </p:set>
                                    <p:anim calcmode="lin" valueType="num">
                                      <p:cBhvr>
                                        <p:cTn id="37" dur="500" fill="hold"/>
                                        <p:tgtEl>
                                          <p:spTgt spid="8197"/>
                                        </p:tgtEl>
                                        <p:attrNameLst>
                                          <p:attrName>ppt_w</p:attrName>
                                        </p:attrNameLst>
                                      </p:cBhvr>
                                      <p:tavLst>
                                        <p:tav tm="0">
                                          <p:val>
                                            <p:fltVal val="0"/>
                                          </p:val>
                                        </p:tav>
                                        <p:tav tm="100000">
                                          <p:val>
                                            <p:strVal val="#ppt_w"/>
                                          </p:val>
                                        </p:tav>
                                      </p:tavLst>
                                    </p:anim>
                                    <p:anim calcmode="lin" valueType="num">
                                      <p:cBhvr>
                                        <p:cTn id="38" dur="500" fill="hold"/>
                                        <p:tgtEl>
                                          <p:spTgt spid="8197"/>
                                        </p:tgtEl>
                                        <p:attrNameLst>
                                          <p:attrName>ppt_h</p:attrName>
                                        </p:attrNameLst>
                                      </p:cBhvr>
                                      <p:tavLst>
                                        <p:tav tm="0">
                                          <p:val>
                                            <p:fltVal val="0"/>
                                          </p:val>
                                        </p:tav>
                                        <p:tav tm="100000">
                                          <p:val>
                                            <p:strVal val="#ppt_h"/>
                                          </p:val>
                                        </p:tav>
                                      </p:tavLst>
                                    </p:anim>
                                    <p:animEffect transition="in" filter="fade">
                                      <p:cBhvr>
                                        <p:cTn id="39" dur="500"/>
                                        <p:tgtEl>
                                          <p:spTgt spid="819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8203"/>
                                        </p:tgtEl>
                                        <p:attrNameLst>
                                          <p:attrName>style.visibility</p:attrName>
                                        </p:attrNameLst>
                                      </p:cBhvr>
                                      <p:to>
                                        <p:strVal val="visible"/>
                                      </p:to>
                                    </p:set>
                                    <p:animEffect transition="in" filter="wipe(up)">
                                      <p:cBhvr>
                                        <p:cTn id="44" dur="500"/>
                                        <p:tgtEl>
                                          <p:spTgt spid="8203"/>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8215"/>
                                        </p:tgtEl>
                                        <p:attrNameLst>
                                          <p:attrName>style.visibility</p:attrName>
                                        </p:attrNameLst>
                                      </p:cBhvr>
                                      <p:to>
                                        <p:strVal val="visible"/>
                                      </p:to>
                                    </p:set>
                                    <p:anim calcmode="lin" valueType="num">
                                      <p:cBhvr>
                                        <p:cTn id="49" dur="500" fill="hold"/>
                                        <p:tgtEl>
                                          <p:spTgt spid="8215"/>
                                        </p:tgtEl>
                                        <p:attrNameLst>
                                          <p:attrName>ppt_w</p:attrName>
                                        </p:attrNameLst>
                                      </p:cBhvr>
                                      <p:tavLst>
                                        <p:tav tm="0">
                                          <p:val>
                                            <p:fltVal val="0"/>
                                          </p:val>
                                        </p:tav>
                                        <p:tav tm="100000">
                                          <p:val>
                                            <p:strVal val="#ppt_w"/>
                                          </p:val>
                                        </p:tav>
                                      </p:tavLst>
                                    </p:anim>
                                    <p:anim calcmode="lin" valueType="num">
                                      <p:cBhvr>
                                        <p:cTn id="50" dur="500" fill="hold"/>
                                        <p:tgtEl>
                                          <p:spTgt spid="8215"/>
                                        </p:tgtEl>
                                        <p:attrNameLst>
                                          <p:attrName>ppt_h</p:attrName>
                                        </p:attrNameLst>
                                      </p:cBhvr>
                                      <p:tavLst>
                                        <p:tav tm="0">
                                          <p:val>
                                            <p:fltVal val="0"/>
                                          </p:val>
                                        </p:tav>
                                        <p:tav tm="100000">
                                          <p:val>
                                            <p:strVal val="#ppt_h"/>
                                          </p:val>
                                        </p:tav>
                                      </p:tavLst>
                                    </p:anim>
                                    <p:animEffect transition="in" filter="fade">
                                      <p:cBhvr>
                                        <p:cTn id="51" dur="500"/>
                                        <p:tgtEl>
                                          <p:spTgt spid="82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8214"/>
                                        </p:tgtEl>
                                        <p:attrNameLst>
                                          <p:attrName>style.visibility</p:attrName>
                                        </p:attrNameLst>
                                      </p:cBhvr>
                                      <p:to>
                                        <p:strVal val="visible"/>
                                      </p:to>
                                    </p:set>
                                    <p:animEffect transition="in" filter="wipe(up)">
                                      <p:cBhvr>
                                        <p:cTn id="56" dur="500"/>
                                        <p:tgtEl>
                                          <p:spTgt spid="8214"/>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8216"/>
                                        </p:tgtEl>
                                        <p:attrNameLst>
                                          <p:attrName>style.visibility</p:attrName>
                                        </p:attrNameLst>
                                      </p:cBhvr>
                                      <p:to>
                                        <p:strVal val="visible"/>
                                      </p:to>
                                    </p:set>
                                    <p:anim calcmode="lin" valueType="num">
                                      <p:cBhvr>
                                        <p:cTn id="61" dur="500" fill="hold"/>
                                        <p:tgtEl>
                                          <p:spTgt spid="8216"/>
                                        </p:tgtEl>
                                        <p:attrNameLst>
                                          <p:attrName>ppt_w</p:attrName>
                                        </p:attrNameLst>
                                      </p:cBhvr>
                                      <p:tavLst>
                                        <p:tav tm="0">
                                          <p:val>
                                            <p:fltVal val="0"/>
                                          </p:val>
                                        </p:tav>
                                        <p:tav tm="100000">
                                          <p:val>
                                            <p:strVal val="#ppt_w"/>
                                          </p:val>
                                        </p:tav>
                                      </p:tavLst>
                                    </p:anim>
                                    <p:anim calcmode="lin" valueType="num">
                                      <p:cBhvr>
                                        <p:cTn id="62" dur="500" fill="hold"/>
                                        <p:tgtEl>
                                          <p:spTgt spid="8216"/>
                                        </p:tgtEl>
                                        <p:attrNameLst>
                                          <p:attrName>ppt_h</p:attrName>
                                        </p:attrNameLst>
                                      </p:cBhvr>
                                      <p:tavLst>
                                        <p:tav tm="0">
                                          <p:val>
                                            <p:fltVal val="0"/>
                                          </p:val>
                                        </p:tav>
                                        <p:tav tm="100000">
                                          <p:val>
                                            <p:strVal val="#ppt_h"/>
                                          </p:val>
                                        </p:tav>
                                      </p:tavLst>
                                    </p:anim>
                                    <p:animEffect transition="in" filter="fade">
                                      <p:cBhvr>
                                        <p:cTn id="63" dur="500"/>
                                        <p:tgtEl>
                                          <p:spTgt spid="821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8206"/>
                                        </p:tgtEl>
                                        <p:attrNameLst>
                                          <p:attrName>style.visibility</p:attrName>
                                        </p:attrNameLst>
                                      </p:cBhvr>
                                      <p:to>
                                        <p:strVal val="visible"/>
                                      </p:to>
                                    </p:set>
                                    <p:animEffect transition="in" filter="wipe(up)">
                                      <p:cBhvr>
                                        <p:cTn id="68" dur="500"/>
                                        <p:tgtEl>
                                          <p:spTgt spid="820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8204"/>
                                        </p:tgtEl>
                                        <p:attrNameLst>
                                          <p:attrName>style.visibility</p:attrName>
                                        </p:attrNameLst>
                                      </p:cBhvr>
                                      <p:to>
                                        <p:strVal val="visible"/>
                                      </p:to>
                                    </p:set>
                                    <p:animEffect transition="in" filter="wipe(up)">
                                      <p:cBhvr>
                                        <p:cTn id="73" dur="500"/>
                                        <p:tgtEl>
                                          <p:spTgt spid="820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8205"/>
                                        </p:tgtEl>
                                        <p:attrNameLst>
                                          <p:attrName>style.visibility</p:attrName>
                                        </p:attrNameLst>
                                      </p:cBhvr>
                                      <p:to>
                                        <p:strVal val="visible"/>
                                      </p:to>
                                    </p:set>
                                    <p:animEffect transition="in" filter="wipe(up)">
                                      <p:cBhvr>
                                        <p:cTn id="78" dur="500"/>
                                        <p:tgtEl>
                                          <p:spTgt spid="820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8207"/>
                                        </p:tgtEl>
                                        <p:attrNameLst>
                                          <p:attrName>style.visibility</p:attrName>
                                        </p:attrNameLst>
                                      </p:cBhvr>
                                      <p:to>
                                        <p:strVal val="visible"/>
                                      </p:to>
                                    </p:set>
                                    <p:animEffect transition="in" filter="wipe(up)">
                                      <p:cBhvr>
                                        <p:cTn id="83" dur="500"/>
                                        <p:tgtEl>
                                          <p:spTgt spid="820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grpId="0" nodeType="clickEffect">
                                  <p:stCondLst>
                                    <p:cond delay="0"/>
                                  </p:stCondLst>
                                  <p:childTnLst>
                                    <p:set>
                                      <p:cBhvr>
                                        <p:cTn id="87" dur="1" fill="hold">
                                          <p:stCondLst>
                                            <p:cond delay="0"/>
                                          </p:stCondLst>
                                        </p:cTn>
                                        <p:tgtEl>
                                          <p:spTgt spid="8208"/>
                                        </p:tgtEl>
                                        <p:attrNameLst>
                                          <p:attrName>style.visibility</p:attrName>
                                        </p:attrNameLst>
                                      </p:cBhvr>
                                      <p:to>
                                        <p:strVal val="visible"/>
                                      </p:to>
                                    </p:set>
                                    <p:animEffect transition="in" filter="wipe(up)">
                                      <p:cBhvr>
                                        <p:cTn id="88" dur="500"/>
                                        <p:tgtEl>
                                          <p:spTgt spid="820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grpId="0" nodeType="clickEffect">
                                  <p:stCondLst>
                                    <p:cond delay="0"/>
                                  </p:stCondLst>
                                  <p:childTnLst>
                                    <p:set>
                                      <p:cBhvr>
                                        <p:cTn id="92" dur="1" fill="hold">
                                          <p:stCondLst>
                                            <p:cond delay="0"/>
                                          </p:stCondLst>
                                        </p:cTn>
                                        <p:tgtEl>
                                          <p:spTgt spid="8210"/>
                                        </p:tgtEl>
                                        <p:attrNameLst>
                                          <p:attrName>style.visibility</p:attrName>
                                        </p:attrNameLst>
                                      </p:cBhvr>
                                      <p:to>
                                        <p:strVal val="visible"/>
                                      </p:to>
                                    </p:set>
                                    <p:animEffect transition="in" filter="wipe(up)">
                                      <p:cBhvr>
                                        <p:cTn id="93" dur="500"/>
                                        <p:tgtEl>
                                          <p:spTgt spid="8210"/>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8218"/>
                                        </p:tgtEl>
                                        <p:attrNameLst>
                                          <p:attrName>style.visibility</p:attrName>
                                        </p:attrNameLst>
                                      </p:cBhvr>
                                      <p:to>
                                        <p:strVal val="visible"/>
                                      </p:to>
                                    </p:set>
                                    <p:anim calcmode="lin" valueType="num">
                                      <p:cBhvr>
                                        <p:cTn id="98" dur="500" fill="hold"/>
                                        <p:tgtEl>
                                          <p:spTgt spid="8218"/>
                                        </p:tgtEl>
                                        <p:attrNameLst>
                                          <p:attrName>ppt_w</p:attrName>
                                        </p:attrNameLst>
                                      </p:cBhvr>
                                      <p:tavLst>
                                        <p:tav tm="0">
                                          <p:val>
                                            <p:fltVal val="0"/>
                                          </p:val>
                                        </p:tav>
                                        <p:tav tm="100000">
                                          <p:val>
                                            <p:strVal val="#ppt_w"/>
                                          </p:val>
                                        </p:tav>
                                      </p:tavLst>
                                    </p:anim>
                                    <p:anim calcmode="lin" valueType="num">
                                      <p:cBhvr>
                                        <p:cTn id="99" dur="500" fill="hold"/>
                                        <p:tgtEl>
                                          <p:spTgt spid="8218"/>
                                        </p:tgtEl>
                                        <p:attrNameLst>
                                          <p:attrName>ppt_h</p:attrName>
                                        </p:attrNameLst>
                                      </p:cBhvr>
                                      <p:tavLst>
                                        <p:tav tm="0">
                                          <p:val>
                                            <p:fltVal val="0"/>
                                          </p:val>
                                        </p:tav>
                                        <p:tav tm="100000">
                                          <p:val>
                                            <p:strVal val="#ppt_h"/>
                                          </p:val>
                                        </p:tav>
                                      </p:tavLst>
                                    </p:anim>
                                    <p:animEffect transition="in" filter="fade">
                                      <p:cBhvr>
                                        <p:cTn id="100" dur="500"/>
                                        <p:tgtEl>
                                          <p:spTgt spid="8218"/>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8209"/>
                                        </p:tgtEl>
                                        <p:attrNameLst>
                                          <p:attrName>style.visibility</p:attrName>
                                        </p:attrNameLst>
                                      </p:cBhvr>
                                      <p:to>
                                        <p:strVal val="visible"/>
                                      </p:to>
                                    </p:set>
                                    <p:animEffect transition="in" filter="wipe(up)">
                                      <p:cBhvr>
                                        <p:cTn id="105" dur="500"/>
                                        <p:tgtEl>
                                          <p:spTgt spid="8209"/>
                                        </p:tgtEl>
                                      </p:cBhvr>
                                    </p:animEffect>
                                  </p:childTnLst>
                                </p:cTn>
                              </p:par>
                            </p:childTnLst>
                          </p:cTn>
                        </p:par>
                      </p:childTnLst>
                    </p:cTn>
                  </p:par>
                  <p:par>
                    <p:cTn id="106" fill="hold">
                      <p:stCondLst>
                        <p:cond delay="indefinite"/>
                      </p:stCondLst>
                      <p:childTnLst>
                        <p:par>
                          <p:cTn id="107" fill="hold">
                            <p:stCondLst>
                              <p:cond delay="0"/>
                            </p:stCondLst>
                            <p:childTnLst>
                              <p:par>
                                <p:cTn id="108" presetID="53" presetClass="entr" presetSubtype="16" fill="hold" grpId="0" nodeType="clickEffect">
                                  <p:stCondLst>
                                    <p:cond delay="0"/>
                                  </p:stCondLst>
                                  <p:childTnLst>
                                    <p:set>
                                      <p:cBhvr>
                                        <p:cTn id="109" dur="1" fill="hold">
                                          <p:stCondLst>
                                            <p:cond delay="0"/>
                                          </p:stCondLst>
                                        </p:cTn>
                                        <p:tgtEl>
                                          <p:spTgt spid="8219"/>
                                        </p:tgtEl>
                                        <p:attrNameLst>
                                          <p:attrName>style.visibility</p:attrName>
                                        </p:attrNameLst>
                                      </p:cBhvr>
                                      <p:to>
                                        <p:strVal val="visible"/>
                                      </p:to>
                                    </p:set>
                                    <p:anim calcmode="lin" valueType="num">
                                      <p:cBhvr>
                                        <p:cTn id="110" dur="500" fill="hold"/>
                                        <p:tgtEl>
                                          <p:spTgt spid="8219"/>
                                        </p:tgtEl>
                                        <p:attrNameLst>
                                          <p:attrName>ppt_w</p:attrName>
                                        </p:attrNameLst>
                                      </p:cBhvr>
                                      <p:tavLst>
                                        <p:tav tm="0">
                                          <p:val>
                                            <p:fltVal val="0"/>
                                          </p:val>
                                        </p:tav>
                                        <p:tav tm="100000">
                                          <p:val>
                                            <p:strVal val="#ppt_w"/>
                                          </p:val>
                                        </p:tav>
                                      </p:tavLst>
                                    </p:anim>
                                    <p:anim calcmode="lin" valueType="num">
                                      <p:cBhvr>
                                        <p:cTn id="111" dur="500" fill="hold"/>
                                        <p:tgtEl>
                                          <p:spTgt spid="8219"/>
                                        </p:tgtEl>
                                        <p:attrNameLst>
                                          <p:attrName>ppt_h</p:attrName>
                                        </p:attrNameLst>
                                      </p:cBhvr>
                                      <p:tavLst>
                                        <p:tav tm="0">
                                          <p:val>
                                            <p:fltVal val="0"/>
                                          </p:val>
                                        </p:tav>
                                        <p:tav tm="100000">
                                          <p:val>
                                            <p:strVal val="#ppt_h"/>
                                          </p:val>
                                        </p:tav>
                                      </p:tavLst>
                                    </p:anim>
                                    <p:animEffect transition="in" filter="fade">
                                      <p:cBhvr>
                                        <p:cTn id="112" dur="500"/>
                                        <p:tgtEl>
                                          <p:spTgt spid="8219"/>
                                        </p:tgtEl>
                                      </p:cBhvr>
                                    </p:animEffect>
                                  </p:childTnLst>
                                </p:cTn>
                              </p:par>
                            </p:childTnLst>
                          </p:cTn>
                        </p:par>
                      </p:childTnLst>
                    </p:cTn>
                  </p:par>
                  <p:par>
                    <p:cTn id="113" fill="hold">
                      <p:stCondLst>
                        <p:cond delay="indefinite"/>
                      </p:stCondLst>
                      <p:childTnLst>
                        <p:par>
                          <p:cTn id="114" fill="hold">
                            <p:stCondLst>
                              <p:cond delay="0"/>
                            </p:stCondLst>
                            <p:childTnLst>
                              <p:par>
                                <p:cTn id="115" presetID="53" presetClass="entr" presetSubtype="16" fill="hold" grpId="0" nodeType="clickEffect">
                                  <p:stCondLst>
                                    <p:cond delay="0"/>
                                  </p:stCondLst>
                                  <p:childTnLst>
                                    <p:set>
                                      <p:cBhvr>
                                        <p:cTn id="116" dur="1" fill="hold">
                                          <p:stCondLst>
                                            <p:cond delay="0"/>
                                          </p:stCondLst>
                                        </p:cTn>
                                        <p:tgtEl>
                                          <p:spTgt spid="29"/>
                                        </p:tgtEl>
                                        <p:attrNameLst>
                                          <p:attrName>style.visibility</p:attrName>
                                        </p:attrNameLst>
                                      </p:cBhvr>
                                      <p:to>
                                        <p:strVal val="visible"/>
                                      </p:to>
                                    </p:set>
                                    <p:anim calcmode="lin" valueType="num">
                                      <p:cBhvr>
                                        <p:cTn id="117" dur="500" fill="hold"/>
                                        <p:tgtEl>
                                          <p:spTgt spid="29"/>
                                        </p:tgtEl>
                                        <p:attrNameLst>
                                          <p:attrName>ppt_w</p:attrName>
                                        </p:attrNameLst>
                                      </p:cBhvr>
                                      <p:tavLst>
                                        <p:tav tm="0">
                                          <p:val>
                                            <p:fltVal val="0"/>
                                          </p:val>
                                        </p:tav>
                                        <p:tav tm="100000">
                                          <p:val>
                                            <p:strVal val="#ppt_w"/>
                                          </p:val>
                                        </p:tav>
                                      </p:tavLst>
                                    </p:anim>
                                    <p:anim calcmode="lin" valueType="num">
                                      <p:cBhvr>
                                        <p:cTn id="118" dur="500" fill="hold"/>
                                        <p:tgtEl>
                                          <p:spTgt spid="29"/>
                                        </p:tgtEl>
                                        <p:attrNameLst>
                                          <p:attrName>ppt_h</p:attrName>
                                        </p:attrNameLst>
                                      </p:cBhvr>
                                      <p:tavLst>
                                        <p:tav tm="0">
                                          <p:val>
                                            <p:fltVal val="0"/>
                                          </p:val>
                                        </p:tav>
                                        <p:tav tm="100000">
                                          <p:val>
                                            <p:strVal val="#ppt_h"/>
                                          </p:val>
                                        </p:tav>
                                      </p:tavLst>
                                    </p:anim>
                                    <p:animEffect transition="in" filter="fade">
                                      <p:cBhvr>
                                        <p:cTn id="119" dur="500"/>
                                        <p:tgtEl>
                                          <p:spTgt spid="29"/>
                                        </p:tgtEl>
                                      </p:cBhvr>
                                    </p:animEffect>
                                  </p:childTnLst>
                                </p:cTn>
                              </p:par>
                            </p:childTnLst>
                          </p:cTn>
                        </p:par>
                      </p:childTnLst>
                    </p:cTn>
                  </p:par>
                  <p:par>
                    <p:cTn id="120" fill="hold">
                      <p:stCondLst>
                        <p:cond delay="indefinite"/>
                      </p:stCondLst>
                      <p:childTnLst>
                        <p:par>
                          <p:cTn id="121" fill="hold">
                            <p:stCondLst>
                              <p:cond delay="0"/>
                            </p:stCondLst>
                            <p:childTnLst>
                              <p:par>
                                <p:cTn id="122" presetID="53" presetClass="entr" presetSubtype="16" fill="hold" grpId="0" nodeType="clickEffect">
                                  <p:stCondLst>
                                    <p:cond delay="0"/>
                                  </p:stCondLst>
                                  <p:childTnLst>
                                    <p:set>
                                      <p:cBhvr>
                                        <p:cTn id="123" dur="1" fill="hold">
                                          <p:stCondLst>
                                            <p:cond delay="0"/>
                                          </p:stCondLst>
                                        </p:cTn>
                                        <p:tgtEl>
                                          <p:spTgt spid="28"/>
                                        </p:tgtEl>
                                        <p:attrNameLst>
                                          <p:attrName>style.visibility</p:attrName>
                                        </p:attrNameLst>
                                      </p:cBhvr>
                                      <p:to>
                                        <p:strVal val="visible"/>
                                      </p:to>
                                    </p:set>
                                    <p:anim calcmode="lin" valueType="num">
                                      <p:cBhvr>
                                        <p:cTn id="124" dur="500" fill="hold"/>
                                        <p:tgtEl>
                                          <p:spTgt spid="28"/>
                                        </p:tgtEl>
                                        <p:attrNameLst>
                                          <p:attrName>ppt_w</p:attrName>
                                        </p:attrNameLst>
                                      </p:cBhvr>
                                      <p:tavLst>
                                        <p:tav tm="0">
                                          <p:val>
                                            <p:fltVal val="0"/>
                                          </p:val>
                                        </p:tav>
                                        <p:tav tm="100000">
                                          <p:val>
                                            <p:strVal val="#ppt_w"/>
                                          </p:val>
                                        </p:tav>
                                      </p:tavLst>
                                    </p:anim>
                                    <p:anim calcmode="lin" valueType="num">
                                      <p:cBhvr>
                                        <p:cTn id="125" dur="500" fill="hold"/>
                                        <p:tgtEl>
                                          <p:spTgt spid="28"/>
                                        </p:tgtEl>
                                        <p:attrNameLst>
                                          <p:attrName>ppt_h</p:attrName>
                                        </p:attrNameLst>
                                      </p:cBhvr>
                                      <p:tavLst>
                                        <p:tav tm="0">
                                          <p:val>
                                            <p:fltVal val="0"/>
                                          </p:val>
                                        </p:tav>
                                        <p:tav tm="100000">
                                          <p:val>
                                            <p:strVal val="#ppt_h"/>
                                          </p:val>
                                        </p:tav>
                                      </p:tavLst>
                                    </p:anim>
                                    <p:animEffect transition="in" filter="fade">
                                      <p:cBhvr>
                                        <p:cTn id="126" dur="500"/>
                                        <p:tgtEl>
                                          <p:spTgt spid="28"/>
                                        </p:tgtEl>
                                      </p:cBhvr>
                                    </p:animEffect>
                                  </p:childTnLst>
                                </p:cTn>
                              </p:par>
                            </p:childTnLst>
                          </p:cTn>
                        </p:par>
                      </p:childTnLst>
                    </p:cTn>
                  </p:par>
                  <p:par>
                    <p:cTn id="127" fill="hold">
                      <p:stCondLst>
                        <p:cond delay="indefinite"/>
                      </p:stCondLst>
                      <p:childTnLst>
                        <p:par>
                          <p:cTn id="128" fill="hold">
                            <p:stCondLst>
                              <p:cond delay="0"/>
                            </p:stCondLst>
                            <p:childTnLst>
                              <p:par>
                                <p:cTn id="129" presetID="53" presetClass="entr" presetSubtype="16" fill="hold" grpId="0" nodeType="clickEffect">
                                  <p:stCondLst>
                                    <p:cond delay="0"/>
                                  </p:stCondLst>
                                  <p:childTnLst>
                                    <p:set>
                                      <p:cBhvr>
                                        <p:cTn id="130" dur="1" fill="hold">
                                          <p:stCondLst>
                                            <p:cond delay="0"/>
                                          </p:stCondLst>
                                        </p:cTn>
                                        <p:tgtEl>
                                          <p:spTgt spid="8212"/>
                                        </p:tgtEl>
                                        <p:attrNameLst>
                                          <p:attrName>style.visibility</p:attrName>
                                        </p:attrNameLst>
                                      </p:cBhvr>
                                      <p:to>
                                        <p:strVal val="visible"/>
                                      </p:to>
                                    </p:set>
                                    <p:anim calcmode="lin" valueType="num">
                                      <p:cBhvr>
                                        <p:cTn id="131" dur="500" fill="hold"/>
                                        <p:tgtEl>
                                          <p:spTgt spid="8212"/>
                                        </p:tgtEl>
                                        <p:attrNameLst>
                                          <p:attrName>ppt_w</p:attrName>
                                        </p:attrNameLst>
                                      </p:cBhvr>
                                      <p:tavLst>
                                        <p:tav tm="0">
                                          <p:val>
                                            <p:fltVal val="0"/>
                                          </p:val>
                                        </p:tav>
                                        <p:tav tm="100000">
                                          <p:val>
                                            <p:strVal val="#ppt_w"/>
                                          </p:val>
                                        </p:tav>
                                      </p:tavLst>
                                    </p:anim>
                                    <p:anim calcmode="lin" valueType="num">
                                      <p:cBhvr>
                                        <p:cTn id="132" dur="500" fill="hold"/>
                                        <p:tgtEl>
                                          <p:spTgt spid="8212"/>
                                        </p:tgtEl>
                                        <p:attrNameLst>
                                          <p:attrName>ppt_h</p:attrName>
                                        </p:attrNameLst>
                                      </p:cBhvr>
                                      <p:tavLst>
                                        <p:tav tm="0">
                                          <p:val>
                                            <p:fltVal val="0"/>
                                          </p:val>
                                        </p:tav>
                                        <p:tav tm="100000">
                                          <p:val>
                                            <p:strVal val="#ppt_h"/>
                                          </p:val>
                                        </p:tav>
                                      </p:tavLst>
                                    </p:anim>
                                    <p:animEffect transition="in" filter="fade">
                                      <p:cBhvr>
                                        <p:cTn id="133" dur="500"/>
                                        <p:tgtEl>
                                          <p:spTgt spid="821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8195"/>
                                        </p:tgtEl>
                                        <p:attrNameLst>
                                          <p:attrName>style.visibility</p:attrName>
                                        </p:attrNameLst>
                                      </p:cBhvr>
                                      <p:to>
                                        <p:strVal val="visible"/>
                                      </p:to>
                                    </p:set>
                                    <p:animEffect transition="in" filter="wipe(left)">
                                      <p:cBhvr>
                                        <p:cTn id="138" dur="500"/>
                                        <p:tgtEl>
                                          <p:spTgt spid="8195"/>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8196"/>
                                        </p:tgtEl>
                                        <p:attrNameLst>
                                          <p:attrName>style.visibility</p:attrName>
                                        </p:attrNameLst>
                                      </p:cBhvr>
                                      <p:to>
                                        <p:strVal val="visible"/>
                                      </p:to>
                                    </p:set>
                                    <p:animEffect transition="in" filter="wipe(left)">
                                      <p:cBhvr>
                                        <p:cTn id="143" dur="500"/>
                                        <p:tgtEl>
                                          <p:spTgt spid="8196"/>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8220"/>
                                        </p:tgtEl>
                                        <p:attrNameLst>
                                          <p:attrName>style.visibility</p:attrName>
                                        </p:attrNameLst>
                                      </p:cBhvr>
                                      <p:to>
                                        <p:strVal val="visible"/>
                                      </p:to>
                                    </p:set>
                                    <p:animEffect transition="in" filter="wipe(left)">
                                      <p:cBhvr>
                                        <p:cTn id="148" dur="500"/>
                                        <p:tgtEl>
                                          <p:spTgt spid="8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nimBg="1"/>
      <p:bldP spid="3" grpId="0" animBg="1"/>
      <p:bldP spid="8196" grpId="0" animBg="1"/>
      <p:bldP spid="8197" grpId="0" animBg="1"/>
      <p:bldP spid="8199" grpId="0" animBg="1"/>
      <p:bldP spid="8201" grpId="0" animBg="1"/>
      <p:bldP spid="8202" grpId="0" animBg="1"/>
      <p:bldP spid="8203" grpId="0" animBg="1"/>
      <p:bldP spid="8204" grpId="0" animBg="1"/>
      <p:bldP spid="8205" grpId="0" animBg="1"/>
      <p:bldP spid="8206" grpId="0" animBg="1"/>
      <p:bldP spid="8207" grpId="0" animBg="1"/>
      <p:bldP spid="8208" grpId="0" animBg="1"/>
      <p:bldP spid="8209" grpId="0" animBg="1"/>
      <p:bldP spid="8210" grpId="0" animBg="1"/>
      <p:bldP spid="8212" grpId="0" animBg="1"/>
      <p:bldP spid="8213" grpId="0" animBg="1"/>
      <p:bldP spid="8214" grpId="0" animBg="1"/>
      <p:bldP spid="8215" grpId="0" animBg="1"/>
      <p:bldP spid="8216" grpId="0" animBg="1"/>
      <p:bldP spid="8218" grpId="0" animBg="1"/>
      <p:bldP spid="8219" grpId="0" animBg="1"/>
      <p:bldP spid="8220"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vert="horz" wrap="square" lIns="91440" tIns="45720" rIns="91440" bIns="45720" anchor="b" anchorCtr="0"/>
          <a:lstStyle/>
          <a:p>
            <a:pPr eaLnBrk="1" hangingPunct="1"/>
            <a:r>
              <a:rPr lang="zh-CN" altLang="en-US" dirty="0"/>
              <a:t>实验题目</a:t>
            </a:r>
          </a:p>
        </p:txBody>
      </p:sp>
      <p:sp>
        <p:nvSpPr>
          <p:cNvPr id="13315" name="Rectangle 3"/>
          <p:cNvSpPr>
            <a:spLocks noGrp="1"/>
          </p:cNvSpPr>
          <p:nvPr>
            <p:ph idx="1"/>
          </p:nvPr>
        </p:nvSpPr>
        <p:spPr/>
        <p:txBody>
          <a:bodyPr vert="horz" wrap="square" lIns="91440" tIns="45720" rIns="91440" bIns="45720" anchor="t" anchorCtr="0"/>
          <a:lstStyle/>
          <a:p>
            <a:pPr eaLnBrk="1" hangingPunct="1"/>
            <a:r>
              <a:rPr lang="zh-CN" altLang="en-US" dirty="0"/>
              <a:t>根据</a:t>
            </a:r>
            <a:r>
              <a:rPr lang="zh-CN" altLang="en-US" dirty="0">
                <a:solidFill>
                  <a:schemeClr val="hlink"/>
                </a:solidFill>
              </a:rPr>
              <a:t>给定的文法和要求</a:t>
            </a:r>
            <a:r>
              <a:rPr lang="zh-CN" altLang="en-US" dirty="0"/>
              <a:t>实现编译器</a:t>
            </a:r>
            <a:endParaRPr lang="en-US" altLang="zh-CN" dirty="0"/>
          </a:p>
          <a:p>
            <a:pPr lvl="1" eaLnBrk="1" hangingPunct="1">
              <a:lnSpc>
                <a:spcPct val="150000"/>
              </a:lnSpc>
            </a:pPr>
            <a:r>
              <a:rPr lang="zh-CN" altLang="en-US" dirty="0"/>
              <a:t>文法（语法定义、语义约定）</a:t>
            </a:r>
          </a:p>
          <a:p>
            <a:pPr lvl="1" eaLnBrk="1" hangingPunct="1">
              <a:lnSpc>
                <a:spcPct val="150000"/>
              </a:lnSpc>
            </a:pPr>
            <a:r>
              <a:rPr lang="zh-CN" altLang="en-US" dirty="0"/>
              <a:t>中间代码</a:t>
            </a:r>
          </a:p>
          <a:p>
            <a:pPr lvl="1" eaLnBrk="1" hangingPunct="1">
              <a:lnSpc>
                <a:spcPct val="150000"/>
              </a:lnSpc>
            </a:pPr>
            <a:r>
              <a:rPr lang="zh-CN" altLang="en-US" dirty="0"/>
              <a:t>目标码</a:t>
            </a:r>
            <a:endParaRPr lang="en-US" altLang="zh-CN" dirty="0"/>
          </a:p>
          <a:p>
            <a:pPr lvl="1" eaLnBrk="1" hangingPunct="1">
              <a:lnSpc>
                <a:spcPct val="150000"/>
              </a:lnSpc>
            </a:pPr>
            <a:r>
              <a:rPr lang="zh-CN" altLang="en-US" dirty="0"/>
              <a:t>优化</a:t>
            </a:r>
            <a:endParaRPr lang="en-US" altLang="zh-CN" dirty="0"/>
          </a:p>
          <a:p>
            <a:pPr eaLnBrk="1" hangingPunct="1">
              <a:lnSpc>
                <a:spcPct val="150000"/>
              </a:lnSpc>
              <a:buNone/>
            </a:pPr>
            <a:endParaRPr lang="en-US" altLang="zh-CN" dirty="0"/>
          </a:p>
          <a:p>
            <a:pPr eaLnBrk="1" hangingPunct="1"/>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vert="horz" wrap="square" lIns="91440" tIns="45720" rIns="91440" bIns="45720" anchor="b" anchorCtr="0"/>
          <a:lstStyle/>
          <a:p>
            <a:pPr eaLnBrk="1" hangingPunct="1"/>
            <a:r>
              <a:rPr lang="zh-CN" altLang="en-US" dirty="0"/>
              <a:t>文法</a:t>
            </a:r>
          </a:p>
        </p:txBody>
      </p:sp>
      <p:sp>
        <p:nvSpPr>
          <p:cNvPr id="15363" name="Rectangle 3"/>
          <p:cNvSpPr>
            <a:spLocks noGrp="1"/>
          </p:cNvSpPr>
          <p:nvPr>
            <p:ph idx="1"/>
          </p:nvPr>
        </p:nvSpPr>
        <p:spPr>
          <a:xfrm>
            <a:off x="1182688" y="2017713"/>
            <a:ext cx="7772400" cy="4291012"/>
          </a:xfrm>
        </p:spPr>
        <p:txBody>
          <a:bodyPr vert="horz" wrap="square" lIns="91440" tIns="45720" rIns="91440" bIns="45720" anchor="t" anchorCtr="0"/>
          <a:lstStyle/>
          <a:p>
            <a:pPr eaLnBrk="1" hangingPunct="1"/>
            <a:r>
              <a:rPr lang="en-US" altLang="zh-CN" dirty="0"/>
              <a:t>SysY</a:t>
            </a:r>
            <a:r>
              <a:rPr lang="zh-CN" altLang="en-US" dirty="0"/>
              <a:t>语言简化版</a:t>
            </a:r>
            <a:endParaRPr lang="en-US" altLang="zh-CN" dirty="0"/>
          </a:p>
          <a:p>
            <a:pPr eaLnBrk="1" hangingPunct="1"/>
            <a:r>
              <a:rPr lang="zh-CN" altLang="en-US" dirty="0"/>
              <a:t>如无特殊说明，语义参照</a:t>
            </a:r>
            <a:r>
              <a:rPr lang="en-US" altLang="zh-CN" dirty="0"/>
              <a:t>C</a:t>
            </a:r>
            <a:r>
              <a:rPr lang="zh-CN" altLang="en-US" dirty="0"/>
              <a:t>语言</a:t>
            </a:r>
          </a:p>
          <a:p>
            <a:pPr lvl="1" eaLnBrk="1" hangingPunct="1"/>
            <a:r>
              <a:rPr lang="zh-CN" altLang="en-US" dirty="0"/>
              <a:t>算术运算不进行整型提升</a:t>
            </a:r>
            <a:endParaRPr lang="en-US" altLang="zh-CN" dirty="0"/>
          </a:p>
          <a:p>
            <a:pPr marL="342900" lvl="1" indent="-342900" eaLnBrk="1" hangingPunct="1">
              <a:buClr>
                <a:schemeClr val="folHlink"/>
              </a:buClr>
              <a:buSzPct val="60000"/>
            </a:pPr>
            <a:r>
              <a:rPr lang="zh-CN" altLang="en-US" dirty="0"/>
              <a:t>具有常量、变量、整数、字符、字符串、一维数组、函数（带参数）、赋值语句、</a:t>
            </a:r>
            <a:r>
              <a:rPr lang="en-US" altLang="zh-CN" dirty="0"/>
              <a:t>if</a:t>
            </a:r>
            <a:r>
              <a:rPr lang="zh-CN" altLang="en-US" dirty="0"/>
              <a:t>语句、</a:t>
            </a:r>
            <a:r>
              <a:rPr lang="en-US" altLang="zh-CN" dirty="0"/>
              <a:t>while</a:t>
            </a:r>
            <a:r>
              <a:rPr lang="zh-CN" altLang="en-US" dirty="0"/>
              <a:t>语句、</a:t>
            </a:r>
            <a:r>
              <a:rPr lang="en-US" altLang="zh-CN" dirty="0"/>
              <a:t>switch</a:t>
            </a:r>
            <a:r>
              <a:rPr lang="zh-CN" altLang="en-US" dirty="0"/>
              <a:t>语句、</a:t>
            </a:r>
            <a:r>
              <a:rPr lang="en-US" altLang="zh-CN" dirty="0"/>
              <a:t>break</a:t>
            </a:r>
            <a:r>
              <a:rPr lang="zh-CN" altLang="en-US" dirty="0"/>
              <a:t>语句、</a:t>
            </a:r>
            <a:r>
              <a:rPr lang="en-US" altLang="zh-CN" dirty="0"/>
              <a:t>continue</a:t>
            </a:r>
            <a:r>
              <a:rPr lang="zh-CN" altLang="en-US" dirty="0"/>
              <a:t>语句、语句块、输入输出语句等</a:t>
            </a:r>
            <a:endParaRPr lang="en-US" altLang="zh-CN" dirty="0"/>
          </a:p>
          <a:p>
            <a:pPr eaLnBrk="1" hangingPunct="1">
              <a:buNone/>
            </a:pPr>
            <a:r>
              <a:rPr lang="en-US" altLang="zh-CN"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vert="horz" wrap="square" lIns="91440" tIns="45720" rIns="91440" bIns="45720" anchor="b" anchorCtr="0"/>
          <a:lstStyle/>
          <a:p>
            <a:pPr eaLnBrk="1" hangingPunct="1"/>
            <a:r>
              <a:rPr lang="zh-CN" altLang="en-US" dirty="0"/>
              <a:t>中间代码</a:t>
            </a:r>
          </a:p>
        </p:txBody>
      </p:sp>
      <p:sp>
        <p:nvSpPr>
          <p:cNvPr id="17411" name="Rectangle 3"/>
          <p:cNvSpPr>
            <a:spLocks noGrp="1"/>
          </p:cNvSpPr>
          <p:nvPr>
            <p:ph idx="1"/>
          </p:nvPr>
        </p:nvSpPr>
        <p:spPr>
          <a:xfrm>
            <a:off x="1182688" y="2017713"/>
            <a:ext cx="7772400" cy="4291012"/>
          </a:xfrm>
        </p:spPr>
        <p:txBody>
          <a:bodyPr vert="horz" wrap="square" lIns="91440" tIns="45720" rIns="91440" bIns="45720" anchor="t" anchorCtr="0"/>
          <a:lstStyle/>
          <a:p>
            <a:pPr eaLnBrk="1" hangingPunct="1"/>
            <a:r>
              <a:rPr lang="zh-CN" altLang="en-US" dirty="0"/>
              <a:t>按一定要求自行设计的四元式</a:t>
            </a:r>
            <a:endParaRPr lang="en-US" altLang="zh-CN" dirty="0"/>
          </a:p>
          <a:p>
            <a:pPr eaLnBrk="1" hangingPunct="1"/>
            <a:r>
              <a:rPr lang="zh-CN" altLang="en-US" dirty="0"/>
              <a:t>也可以用</a:t>
            </a:r>
            <a:r>
              <a:rPr lang="en-US" altLang="zh-CN" dirty="0"/>
              <a:t>LLVM IR</a:t>
            </a:r>
            <a:r>
              <a:rPr lang="zh-CN" altLang="en-US" dirty="0"/>
              <a:t>作为中间代码</a:t>
            </a:r>
            <a:endParaRPr lang="en-US" altLang="zh-CN" dirty="0"/>
          </a:p>
          <a:p>
            <a:pPr eaLnBrk="1" hangingPunct="1"/>
            <a:r>
              <a:rPr lang="zh-CN" altLang="en-US" dirty="0"/>
              <a:t>生成</a:t>
            </a:r>
            <a:r>
              <a:rPr lang="en-US" altLang="zh-CN" dirty="0"/>
              <a:t>PCODE</a:t>
            </a:r>
            <a:r>
              <a:rPr lang="zh-CN" altLang="en-US" dirty="0"/>
              <a:t>时可以没有中间代码</a:t>
            </a:r>
            <a:endParaRPr lang="en-US" altLang="zh-CN" dirty="0"/>
          </a:p>
          <a:p>
            <a:pPr eaLnBrk="1" hangingPunct="1">
              <a:buNone/>
            </a:pPr>
            <a:endParaRPr lang="en-US" altLang="zh-CN" dirty="0"/>
          </a:p>
          <a:p>
            <a:pPr eaLnBrk="1" hangingPunct="1">
              <a:buNone/>
            </a:pPr>
            <a:r>
              <a:rPr lang="en-US" altLang="zh-CN"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vert="horz" wrap="square" lIns="91440" tIns="45720" rIns="91440" bIns="45720" anchor="b" anchorCtr="0"/>
          <a:lstStyle/>
          <a:p>
            <a:pPr eaLnBrk="1" hangingPunct="1">
              <a:buNone/>
            </a:pPr>
            <a:r>
              <a:rPr lang="zh-CN" altLang="en-US" dirty="0"/>
              <a:t>目标代码（三选一）</a:t>
            </a:r>
          </a:p>
        </p:txBody>
      </p:sp>
      <p:sp>
        <p:nvSpPr>
          <p:cNvPr id="19459" name="Rectangle 3"/>
          <p:cNvSpPr>
            <a:spLocks noGrp="1"/>
          </p:cNvSpPr>
          <p:nvPr>
            <p:ph idx="1"/>
          </p:nvPr>
        </p:nvSpPr>
        <p:spPr>
          <a:xfrm>
            <a:off x="1182688" y="2017713"/>
            <a:ext cx="7961312" cy="4114800"/>
          </a:xfrm>
        </p:spPr>
        <p:txBody>
          <a:bodyPr vert="horz" wrap="square" lIns="91440" tIns="45720" rIns="91440" bIns="45720" anchor="t" anchorCtr="0"/>
          <a:lstStyle/>
          <a:p>
            <a:r>
              <a:rPr lang="en-US" altLang="zh-CN" sz="2800" dirty="0"/>
              <a:t>PCODE</a:t>
            </a:r>
          </a:p>
          <a:p>
            <a:pPr lvl="1"/>
            <a:r>
              <a:rPr lang="zh-CN" altLang="en-US" sz="2400" dirty="0"/>
              <a:t>可参照</a:t>
            </a:r>
            <a:r>
              <a:rPr lang="en-US" altLang="zh-CN" sz="2400" dirty="0"/>
              <a:t>PASCAL-S</a:t>
            </a:r>
            <a:r>
              <a:rPr lang="zh-CN" altLang="en-US" sz="2400" dirty="0"/>
              <a:t>编译器的设计</a:t>
            </a:r>
            <a:endParaRPr lang="en-US" altLang="zh-CN" sz="2400" dirty="0"/>
          </a:p>
          <a:p>
            <a:pPr lvl="1"/>
            <a:r>
              <a:rPr lang="zh-CN" altLang="en-US" sz="2400" dirty="0">
                <a:solidFill>
                  <a:srgbClr val="C00000"/>
                </a:solidFill>
              </a:rPr>
              <a:t>需编写解释执行程序</a:t>
            </a:r>
            <a:r>
              <a:rPr lang="zh-CN" altLang="en-US" sz="2400" dirty="0"/>
              <a:t>对</a:t>
            </a:r>
            <a:r>
              <a:rPr lang="en-US" altLang="zh-CN" sz="2400" dirty="0"/>
              <a:t>PCODE</a:t>
            </a:r>
            <a:r>
              <a:rPr lang="zh-CN" altLang="en-US" sz="2400" dirty="0"/>
              <a:t>代码解释执行</a:t>
            </a:r>
            <a:endParaRPr lang="en-US" altLang="zh-CN" sz="2400" dirty="0"/>
          </a:p>
          <a:p>
            <a:r>
              <a:rPr lang="en-US" altLang="zh-CN" sz="2800" dirty="0"/>
              <a:t>LLVM IR</a:t>
            </a:r>
          </a:p>
          <a:p>
            <a:pPr lvl="1" algn="l"/>
            <a:r>
              <a:rPr lang="en-US" altLang="zh-CN" sz="2400" dirty="0">
                <a:cs typeface="+mn-ea"/>
              </a:rPr>
              <a:t>完成load/store形式的LLVM IR</a:t>
            </a:r>
          </a:p>
          <a:p>
            <a:pPr lvl="1" algn="l"/>
            <a:r>
              <a:rPr lang="en-US" altLang="zh-CN" sz="2400" dirty="0">
                <a:cs typeface="+mn-ea"/>
              </a:rPr>
              <a:t>LLVM IR的运行由llc工具完成</a:t>
            </a:r>
          </a:p>
          <a:p>
            <a:r>
              <a:rPr lang="en-US" altLang="zh-CN" sz="2800" dirty="0"/>
              <a:t>MIPS</a:t>
            </a:r>
            <a:r>
              <a:rPr lang="zh-CN" altLang="en-US" sz="2800" dirty="0"/>
              <a:t>汇编</a:t>
            </a:r>
            <a:endParaRPr lang="en-US" altLang="zh-CN" sz="2800" dirty="0"/>
          </a:p>
          <a:p>
            <a:pPr lvl="1"/>
            <a:r>
              <a:rPr lang="zh-CN" altLang="en-US" sz="2400" dirty="0"/>
              <a:t>生成</a:t>
            </a:r>
            <a:r>
              <a:rPr lang="en-US" altLang="zh-CN" sz="2400" dirty="0"/>
              <a:t>32</a:t>
            </a:r>
            <a:r>
              <a:rPr lang="zh-CN" altLang="en-US" sz="2400" dirty="0"/>
              <a:t>位</a:t>
            </a:r>
            <a:r>
              <a:rPr lang="en-US" altLang="zh-CN" sz="2400" dirty="0"/>
              <a:t>MIPS</a:t>
            </a:r>
            <a:r>
              <a:rPr lang="zh-CN" altLang="en-US" sz="2400" dirty="0"/>
              <a:t>汇编码</a:t>
            </a:r>
          </a:p>
          <a:p>
            <a:pPr lvl="1"/>
            <a:r>
              <a:rPr lang="zh-CN" altLang="en-US" sz="2400" dirty="0"/>
              <a:t>代码生成时合理利用临时寄存器（临时寄存器池），并能生成较高质量的目标代码 </a:t>
            </a:r>
            <a:br>
              <a:rPr lang="zh-CN" altLang="en-US" sz="2400" dirty="0"/>
            </a:br>
            <a:endParaRPr lang="zh-C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p:txBody>
          <a:bodyPr vert="horz" wrap="square" lIns="91440" tIns="45720" rIns="91440" bIns="45720" anchor="b" anchorCtr="0"/>
          <a:lstStyle/>
          <a:p>
            <a:pPr eaLnBrk="1" hangingPunct="1"/>
            <a:r>
              <a:rPr lang="zh-CN" altLang="en-US" dirty="0"/>
              <a:t>代码优化</a:t>
            </a:r>
          </a:p>
        </p:txBody>
      </p:sp>
      <p:sp>
        <p:nvSpPr>
          <p:cNvPr id="21507" name="Rectangle 3"/>
          <p:cNvSpPr>
            <a:spLocks noGrp="1"/>
          </p:cNvSpPr>
          <p:nvPr>
            <p:ph idx="1"/>
          </p:nvPr>
        </p:nvSpPr>
        <p:spPr/>
        <p:txBody>
          <a:bodyPr vert="horz" wrap="square" lIns="91440" tIns="45720" rIns="91440" bIns="45720" anchor="t" anchorCtr="0"/>
          <a:lstStyle/>
          <a:p>
            <a:pPr eaLnBrk="1" hangingPunct="1">
              <a:lnSpc>
                <a:spcPct val="150000"/>
              </a:lnSpc>
            </a:pPr>
            <a:r>
              <a:rPr lang="zh-CN" altLang="en-US" sz="2800" dirty="0"/>
              <a:t>基本块内部的公共子表达式删除（</a:t>
            </a:r>
            <a:r>
              <a:rPr lang="en-US" altLang="zh-CN" sz="2800" dirty="0"/>
              <a:t>DAG</a:t>
            </a:r>
            <a:r>
              <a:rPr lang="zh-CN" altLang="en-US" sz="2800" dirty="0"/>
              <a:t>图）；</a:t>
            </a:r>
          </a:p>
          <a:p>
            <a:pPr eaLnBrk="1" hangingPunct="1">
              <a:lnSpc>
                <a:spcPct val="150000"/>
              </a:lnSpc>
            </a:pPr>
            <a:r>
              <a:rPr lang="zh-CN" altLang="en-US" sz="2800" dirty="0"/>
              <a:t>全局寄存器分配（引用计数或着色算法）；</a:t>
            </a:r>
          </a:p>
          <a:p>
            <a:pPr eaLnBrk="1" hangingPunct="1">
              <a:lnSpc>
                <a:spcPct val="150000"/>
              </a:lnSpc>
            </a:pPr>
            <a:r>
              <a:rPr lang="zh-CN" altLang="en-US" sz="2800" dirty="0"/>
              <a:t>数据流分析（通过活跃变量分析，或利用定义</a:t>
            </a:r>
            <a:r>
              <a:rPr lang="en-US" altLang="zh-CN" sz="2800" dirty="0"/>
              <a:t>-</a:t>
            </a:r>
            <a:r>
              <a:rPr lang="zh-CN" altLang="en-US" sz="2800" dirty="0"/>
              <a:t>使用链建网等方法建立冲突图）；</a:t>
            </a:r>
          </a:p>
          <a:p>
            <a:pPr eaLnBrk="1" hangingPunct="1">
              <a:lnSpc>
                <a:spcPct val="150000"/>
              </a:lnSpc>
            </a:pPr>
            <a:r>
              <a:rPr lang="zh-CN" altLang="en-US" sz="2800" dirty="0"/>
              <a:t>其它优化自选</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1179754" y="689039"/>
            <a:ext cx="7793038" cy="984250"/>
          </a:xfrm>
        </p:spPr>
        <p:txBody>
          <a:bodyPr vert="horz" wrap="square" lIns="91440" tIns="45720" rIns="91440" bIns="45720" anchor="b" anchorCtr="0"/>
          <a:lstStyle/>
          <a:p>
            <a:pPr eaLnBrk="1" hangingPunct="1"/>
            <a:r>
              <a:rPr lang="zh-CN" altLang="en-US" dirty="0"/>
              <a:t>任务架构</a:t>
            </a:r>
          </a:p>
        </p:txBody>
      </p:sp>
      <p:sp>
        <p:nvSpPr>
          <p:cNvPr id="12" name="矩形 11"/>
          <p:cNvSpPr/>
          <p:nvPr/>
        </p:nvSpPr>
        <p:spPr>
          <a:xfrm>
            <a:off x="5932662" y="3696346"/>
            <a:ext cx="760568" cy="432028"/>
          </a:xfrm>
          <a:prstGeom prst="rect">
            <a:avLst/>
          </a:prstGeom>
          <a:solidFill>
            <a:schemeClr val="bg1"/>
          </a:solidFill>
          <a:ln w="25400" cap="flat" cmpd="sng" algn="ctr">
            <a:solidFill>
              <a:schemeClr val="accent2"/>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Mars</a:t>
            </a:r>
            <a:r>
              <a:rPr kumimoji="0" lang="zh-CN" altLang="en-US"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运行</a:t>
            </a:r>
          </a:p>
        </p:txBody>
      </p:sp>
      <p:sp>
        <p:nvSpPr>
          <p:cNvPr id="21" name="矩形 20"/>
          <p:cNvSpPr/>
          <p:nvPr/>
        </p:nvSpPr>
        <p:spPr>
          <a:xfrm>
            <a:off x="5933829" y="2442724"/>
            <a:ext cx="720000" cy="503999"/>
          </a:xfrm>
          <a:prstGeom prst="rect">
            <a:avLst/>
          </a:prstGeom>
          <a:solidFill>
            <a:schemeClr val="bg1"/>
          </a:solidFill>
          <a:ln w="28575" cap="flat" cmpd="sng" algn="ctr">
            <a:solidFill>
              <a:srgbClr val="0070C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虚拟机</a:t>
            </a: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解释执行</a:t>
            </a:r>
          </a:p>
        </p:txBody>
      </p:sp>
      <p:sp>
        <p:nvSpPr>
          <p:cNvPr id="22" name="矩形 21"/>
          <p:cNvSpPr/>
          <p:nvPr/>
        </p:nvSpPr>
        <p:spPr>
          <a:xfrm>
            <a:off x="4362904" y="677987"/>
            <a:ext cx="125178" cy="68135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cxnSp>
        <p:nvCxnSpPr>
          <p:cNvPr id="23" name="直接箭头连接符 22"/>
          <p:cNvCxnSpPr>
            <a:stCxn id="39944" idx="3"/>
            <a:endCxn id="39945" idx="1"/>
          </p:cNvCxnSpPr>
          <p:nvPr/>
        </p:nvCxnSpPr>
        <p:spPr>
          <a:xfrm>
            <a:off x="1495864" y="3920719"/>
            <a:ext cx="281240" cy="0"/>
          </a:xfrm>
          <a:prstGeom prst="straightConnector1">
            <a:avLst/>
          </a:prstGeom>
          <a:solidFill>
            <a:schemeClr val="bg1"/>
          </a:solidFill>
          <a:ln w="12700" cap="flat" cmpd="sng" algn="ctr">
            <a:solidFill>
              <a:srgbClr val="0070C0"/>
            </a:solidFill>
            <a:prstDash val="solid"/>
            <a:round/>
            <a:headEnd type="none" w="med" len="med"/>
            <a:tailEnd type="triangle"/>
          </a:ln>
        </p:spPr>
      </p:cxnSp>
      <p:cxnSp>
        <p:nvCxnSpPr>
          <p:cNvPr id="27" name="直接箭头连接符 26"/>
          <p:cNvCxnSpPr>
            <a:stCxn id="39946" idx="3"/>
            <a:endCxn id="39943" idx="1"/>
          </p:cNvCxnSpPr>
          <p:nvPr/>
        </p:nvCxnSpPr>
        <p:spPr>
          <a:xfrm flipV="1">
            <a:off x="2615609" y="2700968"/>
            <a:ext cx="594563" cy="1219751"/>
          </a:xfrm>
          <a:prstGeom prst="bentConnector3">
            <a:avLst>
              <a:gd name="adj1" fmla="val 50000"/>
            </a:avLst>
          </a:prstGeom>
          <a:solidFill>
            <a:schemeClr val="bg1"/>
          </a:solidFill>
          <a:ln w="12700" cap="flat" cmpd="sng" algn="ctr">
            <a:solidFill>
              <a:srgbClr val="0070C0"/>
            </a:solidFill>
            <a:prstDash val="solid"/>
            <a:round/>
            <a:headEnd type="none" w="med" len="med"/>
            <a:tailEnd type="triangle"/>
          </a:ln>
        </p:spPr>
      </p:cxnSp>
      <p:cxnSp>
        <p:nvCxnSpPr>
          <p:cNvPr id="30" name="直接箭头连接符 29"/>
          <p:cNvCxnSpPr>
            <a:stCxn id="39945" idx="3"/>
            <a:endCxn id="39946" idx="1"/>
          </p:cNvCxnSpPr>
          <p:nvPr/>
        </p:nvCxnSpPr>
        <p:spPr>
          <a:xfrm>
            <a:off x="2047104" y="3920719"/>
            <a:ext cx="298505" cy="0"/>
          </a:xfrm>
          <a:prstGeom prst="straightConnector1">
            <a:avLst/>
          </a:prstGeom>
          <a:solidFill>
            <a:schemeClr val="bg1"/>
          </a:solidFill>
          <a:ln w="12700" cap="flat" cmpd="sng" algn="ctr">
            <a:solidFill>
              <a:srgbClr val="0070C0"/>
            </a:solidFill>
            <a:prstDash val="solid"/>
            <a:round/>
            <a:headEnd type="none" w="med" len="med"/>
            <a:tailEnd type="triangle"/>
          </a:ln>
        </p:spPr>
      </p:cxnSp>
      <p:sp>
        <p:nvSpPr>
          <p:cNvPr id="34" name="矩形 33"/>
          <p:cNvSpPr/>
          <p:nvPr/>
        </p:nvSpPr>
        <p:spPr>
          <a:xfrm>
            <a:off x="4110904" y="3663367"/>
            <a:ext cx="504000" cy="504000"/>
          </a:xfrm>
          <a:prstGeom prst="rect">
            <a:avLst/>
          </a:prstGeom>
          <a:solidFill>
            <a:schemeClr val="bg1"/>
          </a:solidFill>
          <a:ln w="25400" cap="flat" cmpd="sng" algn="ctr">
            <a:solidFill>
              <a:srgbClr val="0070C0"/>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代码</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生成</a:t>
            </a:r>
          </a:p>
        </p:txBody>
      </p:sp>
      <p:cxnSp>
        <p:nvCxnSpPr>
          <p:cNvPr id="36" name="直接箭头连接符 35"/>
          <p:cNvCxnSpPr>
            <a:stCxn id="39980" idx="3"/>
            <a:endCxn id="34" idx="0"/>
          </p:cNvCxnSpPr>
          <p:nvPr/>
        </p:nvCxnSpPr>
        <p:spPr>
          <a:xfrm>
            <a:off x="3919664" y="3212435"/>
            <a:ext cx="443240" cy="450932"/>
          </a:xfrm>
          <a:prstGeom prst="bentConnector2">
            <a:avLst/>
          </a:prstGeom>
          <a:solidFill>
            <a:schemeClr val="bg1"/>
          </a:solidFill>
          <a:ln w="12700" cap="flat" cmpd="sng" algn="ctr">
            <a:solidFill>
              <a:srgbClr val="0070C0"/>
            </a:solidFill>
            <a:prstDash val="solid"/>
            <a:round/>
            <a:headEnd type="none" w="med" len="med"/>
            <a:tailEnd type="triangle"/>
          </a:ln>
        </p:spPr>
      </p:cxnSp>
      <p:cxnSp>
        <p:nvCxnSpPr>
          <p:cNvPr id="38" name="直接箭头连接符 37"/>
          <p:cNvCxnSpPr>
            <a:stCxn id="46" idx="0"/>
            <a:endCxn id="54" idx="2"/>
          </p:cNvCxnSpPr>
          <p:nvPr/>
        </p:nvCxnSpPr>
        <p:spPr>
          <a:xfrm flipH="1" flipV="1">
            <a:off x="3554445" y="4178551"/>
            <a:ext cx="5219" cy="363726"/>
          </a:xfrm>
          <a:prstGeom prst="straightConnector1">
            <a:avLst/>
          </a:prstGeom>
          <a:solidFill>
            <a:schemeClr val="bg1"/>
          </a:solidFill>
          <a:ln w="12700" cap="flat" cmpd="sng" algn="ctr">
            <a:solidFill>
              <a:srgbClr val="0070C0"/>
            </a:solidFill>
            <a:prstDash val="sysDot"/>
            <a:round/>
            <a:headEnd type="triangle" w="med" len="med"/>
            <a:tailEnd type="triangle"/>
          </a:ln>
        </p:spPr>
      </p:cxnSp>
      <p:cxnSp>
        <p:nvCxnSpPr>
          <p:cNvPr id="39" name="肘形连接符 38"/>
          <p:cNvCxnSpPr>
            <a:stCxn id="39946" idx="3"/>
            <a:endCxn id="39980" idx="1"/>
          </p:cNvCxnSpPr>
          <p:nvPr/>
        </p:nvCxnSpPr>
        <p:spPr>
          <a:xfrm flipV="1">
            <a:off x="2615609" y="3212435"/>
            <a:ext cx="584055" cy="708284"/>
          </a:xfrm>
          <a:prstGeom prst="bentConnector3">
            <a:avLst>
              <a:gd name="adj1" fmla="val 50000"/>
            </a:avLst>
          </a:prstGeom>
          <a:solidFill>
            <a:schemeClr val="bg1"/>
          </a:solidFill>
          <a:ln w="12700" cap="flat" cmpd="sng" algn="ctr">
            <a:solidFill>
              <a:srgbClr val="0070C0"/>
            </a:solidFill>
            <a:prstDash val="solid"/>
            <a:round/>
            <a:headEnd type="none" w="med" len="med"/>
            <a:tailEnd type="triangle"/>
          </a:ln>
        </p:spPr>
      </p:cxnSp>
      <p:cxnSp>
        <p:nvCxnSpPr>
          <p:cNvPr id="40" name="直接箭头连接符 39"/>
          <p:cNvCxnSpPr>
            <a:stCxn id="39943" idx="3"/>
            <a:endCxn id="21" idx="1"/>
          </p:cNvCxnSpPr>
          <p:nvPr/>
        </p:nvCxnSpPr>
        <p:spPr>
          <a:xfrm flipV="1">
            <a:off x="3930252" y="2694724"/>
            <a:ext cx="2003577" cy="6244"/>
          </a:xfrm>
          <a:prstGeom prst="straightConnector1">
            <a:avLst/>
          </a:prstGeom>
          <a:solidFill>
            <a:schemeClr val="bg1"/>
          </a:solidFill>
          <a:ln w="12700" cap="flat" cmpd="sng" algn="ctr">
            <a:solidFill>
              <a:srgbClr val="0070C0"/>
            </a:solidFill>
            <a:prstDash val="solid"/>
            <a:round/>
            <a:headEnd type="none" w="med" len="med"/>
            <a:tailEnd type="triangle"/>
          </a:ln>
        </p:spPr>
      </p:cxnSp>
      <p:cxnSp>
        <p:nvCxnSpPr>
          <p:cNvPr id="41" name="肘形连接符 40"/>
          <p:cNvCxnSpPr>
            <a:stCxn id="46" idx="3"/>
            <a:endCxn id="34" idx="2"/>
          </p:cNvCxnSpPr>
          <p:nvPr/>
        </p:nvCxnSpPr>
        <p:spPr>
          <a:xfrm flipV="1">
            <a:off x="3919664" y="4167367"/>
            <a:ext cx="443240" cy="554910"/>
          </a:xfrm>
          <a:prstGeom prst="bentConnector2">
            <a:avLst/>
          </a:prstGeom>
          <a:solidFill>
            <a:schemeClr val="bg1"/>
          </a:solidFill>
          <a:ln w="12700" cap="flat" cmpd="sng" algn="ctr">
            <a:solidFill>
              <a:srgbClr val="0070C0"/>
            </a:solidFill>
            <a:prstDash val="solid"/>
            <a:round/>
            <a:headEnd type="none" w="med" len="med"/>
            <a:tailEnd type="triangle"/>
          </a:ln>
        </p:spPr>
      </p:cxnSp>
      <p:sp>
        <p:nvSpPr>
          <p:cNvPr id="39943" name="流程图: 文档 39942"/>
          <p:cNvSpPr/>
          <p:nvPr/>
        </p:nvSpPr>
        <p:spPr bwMode="auto">
          <a:xfrm>
            <a:off x="3210172" y="2520968"/>
            <a:ext cx="720080" cy="360000"/>
          </a:xfrm>
          <a:prstGeom prst="flowChartDocument">
            <a:avLst/>
          </a:prstGeom>
          <a:noFill/>
          <a:ln w="25400" cap="flat" cmpd="sng" algn="ctr">
            <a:solidFill>
              <a:srgbClr val="FF505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PCODE</a:t>
            </a:r>
          </a:p>
        </p:txBody>
      </p:sp>
      <p:sp>
        <p:nvSpPr>
          <p:cNvPr id="39944" name="矩形 39943"/>
          <p:cNvSpPr/>
          <p:nvPr/>
        </p:nvSpPr>
        <p:spPr bwMode="auto">
          <a:xfrm>
            <a:off x="1225864" y="3345355"/>
            <a:ext cx="270000" cy="1150728"/>
          </a:xfrm>
          <a:prstGeom prst="rect">
            <a:avLst/>
          </a:prstGeom>
          <a:noFill/>
          <a:ln w="25400" cap="flat" cmpd="sng" algn="ctr">
            <a:solidFill>
              <a:srgbClr val="0070C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词</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法</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分</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析</a:t>
            </a:r>
          </a:p>
        </p:txBody>
      </p:sp>
      <p:sp>
        <p:nvSpPr>
          <p:cNvPr id="39945" name="矩形 39944"/>
          <p:cNvSpPr/>
          <p:nvPr/>
        </p:nvSpPr>
        <p:spPr bwMode="auto">
          <a:xfrm>
            <a:off x="1777104" y="3345355"/>
            <a:ext cx="270000" cy="1150728"/>
          </a:xfrm>
          <a:prstGeom prst="rect">
            <a:avLst/>
          </a:prstGeom>
          <a:noFill/>
          <a:ln w="25400" cap="flat" cmpd="sng" algn="ctr">
            <a:solidFill>
              <a:srgbClr val="0070C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语</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法</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分</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析</a:t>
            </a:r>
          </a:p>
        </p:txBody>
      </p:sp>
      <p:sp>
        <p:nvSpPr>
          <p:cNvPr id="39946" name="矩形 39945"/>
          <p:cNvSpPr/>
          <p:nvPr/>
        </p:nvSpPr>
        <p:spPr bwMode="auto">
          <a:xfrm>
            <a:off x="2345609" y="3345355"/>
            <a:ext cx="270000" cy="1150727"/>
          </a:xfrm>
          <a:prstGeom prst="rect">
            <a:avLst/>
          </a:prstGeom>
          <a:noFill/>
          <a:ln w="25400" cap="flat" cmpd="sng" algn="ctr">
            <a:solidFill>
              <a:srgbClr val="0070C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lang="zh-CN" altLang="en-US" sz="1600" dirty="0"/>
              <a:t>语</a:t>
            </a:r>
            <a:endParaRPr lang="en-US" altLang="zh-CN" sz="1600" dirty="0"/>
          </a:p>
          <a:p>
            <a:pPr algn="ctr" eaLnBrk="1" hangingPunct="1"/>
            <a:r>
              <a:rPr lang="zh-CN" altLang="en-US" sz="1600" dirty="0"/>
              <a:t>义</a:t>
            </a:r>
            <a:endParaRPr lang="en-US" altLang="zh-CN" sz="1600" dirty="0"/>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分</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析</a:t>
            </a:r>
          </a:p>
        </p:txBody>
      </p:sp>
      <p:cxnSp>
        <p:nvCxnSpPr>
          <p:cNvPr id="45" name="直接箭头连接符 26"/>
          <p:cNvCxnSpPr>
            <a:stCxn id="39946" idx="3"/>
            <a:endCxn id="46" idx="1"/>
          </p:cNvCxnSpPr>
          <p:nvPr/>
        </p:nvCxnSpPr>
        <p:spPr>
          <a:xfrm>
            <a:off x="2615609" y="3920719"/>
            <a:ext cx="584055" cy="801558"/>
          </a:xfrm>
          <a:prstGeom prst="bentConnector3">
            <a:avLst>
              <a:gd name="adj1" fmla="val 50000"/>
            </a:avLst>
          </a:prstGeom>
          <a:solidFill>
            <a:schemeClr val="bg1"/>
          </a:solidFill>
          <a:ln w="12700" cap="flat" cmpd="sng" algn="ctr">
            <a:solidFill>
              <a:srgbClr val="0070C0"/>
            </a:solidFill>
            <a:prstDash val="solid"/>
            <a:round/>
            <a:headEnd type="none" w="med" len="med"/>
            <a:tailEnd type="triangle"/>
          </a:ln>
        </p:spPr>
      </p:cxnSp>
      <p:sp>
        <p:nvSpPr>
          <p:cNvPr id="46" name="流程图: 文档 45"/>
          <p:cNvSpPr/>
          <p:nvPr/>
        </p:nvSpPr>
        <p:spPr bwMode="auto">
          <a:xfrm>
            <a:off x="3199664" y="4542277"/>
            <a:ext cx="720000" cy="360000"/>
          </a:xfrm>
          <a:prstGeom prst="flowChartDocument">
            <a:avLst/>
          </a:prstGeom>
          <a:noFill/>
          <a:ln w="25400" cap="flat" cmpd="sng" algn="ctr">
            <a:solidFill>
              <a:srgbClr val="FF505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LLVM IR</a:t>
            </a:r>
          </a:p>
        </p:txBody>
      </p:sp>
      <p:sp>
        <p:nvSpPr>
          <p:cNvPr id="54" name="矩形 53"/>
          <p:cNvSpPr/>
          <p:nvPr/>
        </p:nvSpPr>
        <p:spPr bwMode="auto">
          <a:xfrm>
            <a:off x="3302445" y="3674551"/>
            <a:ext cx="504000" cy="504000"/>
          </a:xfrm>
          <a:prstGeom prst="rect">
            <a:avLst/>
          </a:prstGeom>
          <a:noFill/>
          <a:ln w="25400" cap="flat" cmpd="sng" algn="ctr">
            <a:solidFill>
              <a:srgbClr val="0070C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代码</a:t>
            </a:r>
            <a:endParaRPr kumimoji="0" lang="en-US" altLang="zh-CN"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p>
            <a:pPr algn="ctr" eaLnBrk="1" hangingPunct="1"/>
            <a:r>
              <a:rPr kumimoji="0" lang="zh-CN" altLang="en-US" sz="16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优化</a:t>
            </a:r>
          </a:p>
        </p:txBody>
      </p:sp>
      <p:sp>
        <p:nvSpPr>
          <p:cNvPr id="58" name="流程图: 文档 57"/>
          <p:cNvSpPr/>
          <p:nvPr/>
        </p:nvSpPr>
        <p:spPr bwMode="auto">
          <a:xfrm>
            <a:off x="4885340" y="3732360"/>
            <a:ext cx="792000" cy="360000"/>
          </a:xfrm>
          <a:prstGeom prst="flowChartDocument">
            <a:avLst/>
          </a:prstGeom>
          <a:noFill/>
          <a:ln w="25400" cap="flat" cmpd="sng" algn="ctr">
            <a:solidFill>
              <a:srgbClr val="FF5050"/>
            </a:solidFill>
            <a:prstDash val="solid"/>
            <a:round/>
            <a:headEnd type="none" w="med" len="med"/>
            <a:tailEnd type="none" w="med" len="med"/>
          </a:ln>
        </p:spPr>
        <p:txBody>
          <a:bodyPr vert="horz" wrap="none" lIns="91440" tIns="45720" rIns="91440" bIns="45720" numCol="1" rtlCol="0" anchor="ctr" anchorCtr="0" compatLnSpc="1"/>
          <a:lstStyle/>
          <a:p>
            <a:pPr algn="ctr" eaLnBrk="1" hangingPunct="1"/>
            <a:r>
              <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MIPS</a:t>
            </a:r>
            <a:r>
              <a:rPr kumimoji="0" lang="zh-CN" altLang="en-US"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汇编</a:t>
            </a:r>
            <a:endPar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cxnSp>
        <p:nvCxnSpPr>
          <p:cNvPr id="39936" name="直接箭头连接符 39935"/>
          <p:cNvCxnSpPr>
            <a:stCxn id="34" idx="3"/>
            <a:endCxn id="58" idx="1"/>
          </p:cNvCxnSpPr>
          <p:nvPr/>
        </p:nvCxnSpPr>
        <p:spPr>
          <a:xfrm flipV="1">
            <a:off x="4614904" y="3912360"/>
            <a:ext cx="270436" cy="3007"/>
          </a:xfrm>
          <a:prstGeom prst="straightConnector1">
            <a:avLst/>
          </a:prstGeom>
          <a:solidFill>
            <a:schemeClr val="bg1"/>
          </a:solidFill>
          <a:ln w="12700" cap="flat" cmpd="sng" algn="ctr">
            <a:solidFill>
              <a:srgbClr val="0070C0"/>
            </a:solidFill>
            <a:prstDash val="solid"/>
            <a:round/>
            <a:headEnd type="none" w="med" len="med"/>
            <a:tailEnd type="triangle"/>
          </a:ln>
        </p:spPr>
      </p:cxnSp>
      <p:sp>
        <p:nvSpPr>
          <p:cNvPr id="39980" name="流程图: 文档 39979"/>
          <p:cNvSpPr/>
          <p:nvPr/>
        </p:nvSpPr>
        <p:spPr bwMode="auto">
          <a:xfrm>
            <a:off x="3199664" y="3032435"/>
            <a:ext cx="720000" cy="360000"/>
          </a:xfrm>
          <a:prstGeom prst="flowChartDocument">
            <a:avLst/>
          </a:prstGeom>
          <a:noFill/>
          <a:ln w="25400" cap="flat" cmpd="sng" algn="ctr">
            <a:solidFill>
              <a:srgbClr val="FF5050"/>
            </a:solidFill>
            <a:prstDash val="sysDot"/>
            <a:round/>
            <a:headEnd type="none" w="med" len="med"/>
            <a:tailEnd type="none" w="med" len="med"/>
          </a:ln>
        </p:spPr>
        <p:txBody>
          <a:bodyPr vert="horz" wrap="none" lIns="91440" tIns="45720" rIns="91440" bIns="45720" numCol="1" rtlCol="0" anchor="ctr" anchorCtr="0" compatLnSpc="1"/>
          <a:lstStyle/>
          <a:p>
            <a:pPr algn="ctr" eaLnBrk="1" hangingPunct="1"/>
            <a:r>
              <a:rPr kumimoji="0" lang="zh-CN" altLang="en-US"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四元式</a:t>
            </a:r>
            <a:endPar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p:txBody>
      </p:sp>
      <p:cxnSp>
        <p:nvCxnSpPr>
          <p:cNvPr id="40001" name="直接箭头连接符 40000"/>
          <p:cNvCxnSpPr>
            <a:stCxn id="54" idx="0"/>
            <a:endCxn id="39980" idx="2"/>
          </p:cNvCxnSpPr>
          <p:nvPr/>
        </p:nvCxnSpPr>
        <p:spPr>
          <a:xfrm flipV="1">
            <a:off x="3554445" y="3368635"/>
            <a:ext cx="5219" cy="305916"/>
          </a:xfrm>
          <a:prstGeom prst="straightConnector1">
            <a:avLst/>
          </a:prstGeom>
          <a:solidFill>
            <a:schemeClr val="bg1"/>
          </a:solidFill>
          <a:ln w="12700" cap="flat" cmpd="sng" algn="ctr">
            <a:solidFill>
              <a:srgbClr val="0070C0"/>
            </a:solidFill>
            <a:prstDash val="sysDot"/>
            <a:round/>
            <a:headEnd type="triangle" w="med" len="med"/>
            <a:tailEnd type="triangle"/>
          </a:ln>
        </p:spPr>
      </p:cxnSp>
      <p:sp>
        <p:nvSpPr>
          <p:cNvPr id="40015" name="矩形 40014"/>
          <p:cNvSpPr/>
          <p:nvPr/>
        </p:nvSpPr>
        <p:spPr>
          <a:xfrm>
            <a:off x="5932662" y="4794340"/>
            <a:ext cx="790740" cy="434860"/>
          </a:xfrm>
          <a:prstGeom prst="rect">
            <a:avLst/>
          </a:prstGeom>
          <a:solidFill>
            <a:schemeClr val="bg1"/>
          </a:solidFill>
          <a:ln w="25400" cap="flat" cmpd="sng" algn="ctr">
            <a:solidFill>
              <a:schemeClr val="accent2"/>
            </a:solidFill>
            <a:prstDash val="solid"/>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LLC</a:t>
            </a:r>
            <a:r>
              <a:rPr kumimoji="0" lang="zh-CN" altLang="en-US" sz="1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运行</a:t>
            </a:r>
          </a:p>
        </p:txBody>
      </p:sp>
      <p:cxnSp>
        <p:nvCxnSpPr>
          <p:cNvPr id="40016" name="直接箭头连接符 40015"/>
          <p:cNvCxnSpPr>
            <a:stCxn id="46" idx="2"/>
            <a:endCxn id="40015" idx="1"/>
          </p:cNvCxnSpPr>
          <p:nvPr/>
        </p:nvCxnSpPr>
        <p:spPr>
          <a:xfrm rot="16200000" flipH="1">
            <a:off x="4679517" y="3758624"/>
            <a:ext cx="133293" cy="2372998"/>
          </a:xfrm>
          <a:prstGeom prst="bentConnector2">
            <a:avLst/>
          </a:prstGeom>
          <a:solidFill>
            <a:schemeClr val="bg1"/>
          </a:solidFill>
          <a:ln w="12700" cap="flat" cmpd="sng" algn="ctr">
            <a:solidFill>
              <a:schemeClr val="accent2"/>
            </a:solidFill>
            <a:prstDash val="sysDot"/>
            <a:round/>
            <a:headEnd type="none" w="med" len="med"/>
            <a:tailEnd type="triangle"/>
          </a:ln>
        </p:spPr>
      </p:cxnSp>
      <p:cxnSp>
        <p:nvCxnSpPr>
          <p:cNvPr id="40020" name="直接箭头连接符 40019"/>
          <p:cNvCxnSpPr>
            <a:stCxn id="58" idx="3"/>
            <a:endCxn id="12" idx="1"/>
          </p:cNvCxnSpPr>
          <p:nvPr/>
        </p:nvCxnSpPr>
        <p:spPr>
          <a:xfrm>
            <a:off x="5677340" y="3912360"/>
            <a:ext cx="255322" cy="0"/>
          </a:xfrm>
          <a:prstGeom prst="straightConnector1">
            <a:avLst/>
          </a:prstGeom>
          <a:solidFill>
            <a:schemeClr val="bg1"/>
          </a:solidFill>
          <a:ln w="12700" cap="flat" cmpd="sng" algn="ctr">
            <a:solidFill>
              <a:schemeClr val="accent2"/>
            </a:solidFill>
            <a:prstDash val="sysDot"/>
            <a:round/>
            <a:headEnd type="none" w="med" len="med"/>
            <a:tailEnd type="triangle"/>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auto">
          <a:xfrm>
            <a:off x="971550" y="1120775"/>
            <a:ext cx="6840538" cy="5643563"/>
          </a:xfrm>
          <a:prstGeom prst="rect">
            <a:avLst/>
          </a:prstGeom>
          <a:solidFill>
            <a:schemeClr val="bg1"/>
          </a:solidFill>
          <a:ln w="6350" cap="flat" cmpd="sng" algn="ctr">
            <a:noFill/>
            <a:prstDash val="dash"/>
            <a:round/>
            <a:headEnd type="none" w="med" len="med"/>
            <a:tailEnd type="none" w="med" len="med"/>
          </a:ln>
          <a:effectLst>
            <a:outerShdw blurRad="50800" dist="50800" dir="5400000" algn="ctr" rotWithShape="0">
              <a:schemeClr val="bg1"/>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507" name="TextBox 4"/>
          <p:cNvSpPr txBox="1"/>
          <p:nvPr/>
        </p:nvSpPr>
        <p:spPr>
          <a:xfrm>
            <a:off x="1908175" y="6396038"/>
            <a:ext cx="5688013" cy="368300"/>
          </a:xfrm>
          <a:prstGeom prst="rect">
            <a:avLst/>
          </a:prstGeom>
          <a:gradFill rotWithShape="1">
            <a:gsLst>
              <a:gs pos="0">
                <a:srgbClr val="5E9EFF">
                  <a:alpha val="100000"/>
                </a:srgbClr>
              </a:gs>
              <a:gs pos="39999">
                <a:srgbClr val="85C2FF">
                  <a:alpha val="100000"/>
                </a:srgbClr>
              </a:gs>
              <a:gs pos="70000">
                <a:srgbClr val="C4D6EB">
                  <a:alpha val="100000"/>
                </a:srgbClr>
              </a:gs>
              <a:gs pos="100000">
                <a:srgbClr val="FFEBFA">
                  <a:alpha val="100000"/>
                </a:srgbClr>
              </a:gs>
            </a:gsLst>
            <a:lin ang="10800000" scaled="1"/>
            <a:tileRect/>
          </a:gra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800" dirty="0"/>
              <a:t>阅读编译器源代码</a:t>
            </a:r>
            <a:endParaRPr lang="en-US" altLang="zh-CN" sz="1800" dirty="0"/>
          </a:p>
        </p:txBody>
      </p:sp>
      <p:sp>
        <p:nvSpPr>
          <p:cNvPr id="21508" name="TextBox 8"/>
          <p:cNvSpPr txBox="1"/>
          <p:nvPr/>
        </p:nvSpPr>
        <p:spPr>
          <a:xfrm>
            <a:off x="1908175" y="5981700"/>
            <a:ext cx="5688013" cy="369888"/>
          </a:xfrm>
          <a:prstGeom prst="rect">
            <a:avLst/>
          </a:prstGeom>
          <a:gradFill rotWithShape="1">
            <a:gsLst>
              <a:gs pos="0">
                <a:srgbClr val="5E9EFF">
                  <a:alpha val="100000"/>
                </a:srgbClr>
              </a:gs>
              <a:gs pos="39999">
                <a:srgbClr val="85C2FF">
                  <a:alpha val="100000"/>
                </a:srgbClr>
              </a:gs>
              <a:gs pos="70000">
                <a:srgbClr val="C4D6EB">
                  <a:alpha val="100000"/>
                </a:srgbClr>
              </a:gs>
              <a:gs pos="100000">
                <a:srgbClr val="FFEBFA">
                  <a:alpha val="100000"/>
                </a:srgbClr>
              </a:gs>
            </a:gsLst>
            <a:lin ang="10800000" scaled="1"/>
            <a:tileRect/>
          </a:gra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800" dirty="0"/>
              <a:t>逐步细化、完善设计文档</a:t>
            </a:r>
          </a:p>
        </p:txBody>
      </p:sp>
      <p:sp>
        <p:nvSpPr>
          <p:cNvPr id="21509" name="矩形 28"/>
          <p:cNvSpPr/>
          <p:nvPr/>
        </p:nvSpPr>
        <p:spPr>
          <a:xfrm>
            <a:off x="1908175" y="2478088"/>
            <a:ext cx="360363" cy="1755775"/>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词法分析</a:t>
            </a:r>
            <a:endParaRPr lang="en-US" altLang="zh-CN" sz="1800" dirty="0"/>
          </a:p>
          <a:p>
            <a:pPr marL="0" lvl="0" indent="0" algn="ctr">
              <a:spcBef>
                <a:spcPct val="0"/>
              </a:spcBef>
              <a:buClrTx/>
              <a:buSzTx/>
              <a:buFontTx/>
              <a:buNone/>
            </a:pPr>
            <a:endParaRPr lang="zh-CN" altLang="en-US" sz="1800" dirty="0"/>
          </a:p>
        </p:txBody>
      </p:sp>
      <p:cxnSp>
        <p:nvCxnSpPr>
          <p:cNvPr id="21510" name="直接连接符 46"/>
          <p:cNvCxnSpPr>
            <a:stCxn id="21523" idx="3"/>
            <a:endCxn id="21509" idx="1"/>
          </p:cNvCxnSpPr>
          <p:nvPr/>
        </p:nvCxnSpPr>
        <p:spPr>
          <a:xfrm>
            <a:off x="1597025" y="3351213"/>
            <a:ext cx="311150" cy="4762"/>
          </a:xfrm>
          <a:prstGeom prst="line">
            <a:avLst/>
          </a:prstGeom>
          <a:ln w="9525" cap="flat" cmpd="sng">
            <a:solidFill>
              <a:schemeClr val="tx1"/>
            </a:solidFill>
            <a:prstDash val="solid"/>
            <a:headEnd type="none" w="med" len="med"/>
            <a:tailEnd type="triangle" w="med" len="med"/>
          </a:ln>
        </p:spPr>
      </p:cxnSp>
      <p:sp>
        <p:nvSpPr>
          <p:cNvPr id="21511" name="椭圆 38"/>
          <p:cNvSpPr/>
          <p:nvPr/>
        </p:nvSpPr>
        <p:spPr>
          <a:xfrm>
            <a:off x="3978275" y="1341120"/>
            <a:ext cx="995680" cy="476250"/>
          </a:xfrm>
          <a:prstGeom prst="ellipse">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r>
              <a:rPr lang="en-US" altLang="zh-CN" sz="1400" dirty="0"/>
              <a:t>MIPS</a:t>
            </a:r>
            <a:endParaRPr lang="zh-CN" altLang="en-US" sz="1400" dirty="0"/>
          </a:p>
        </p:txBody>
      </p:sp>
      <p:sp>
        <p:nvSpPr>
          <p:cNvPr id="21512" name="椭圆 39"/>
          <p:cNvSpPr/>
          <p:nvPr/>
        </p:nvSpPr>
        <p:spPr>
          <a:xfrm>
            <a:off x="3843655" y="4636135"/>
            <a:ext cx="1096010" cy="499110"/>
          </a:xfrm>
          <a:prstGeom prst="ellipse">
            <a:avLst/>
          </a:prstGeom>
          <a:solidFill>
            <a:srgbClr val="99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r>
              <a:rPr lang="en-US" altLang="zh-CN" sz="1400" dirty="0"/>
              <a:t>PCODE/</a:t>
            </a:r>
          </a:p>
          <a:p>
            <a:pPr marL="0" lvl="0" indent="0" algn="ctr" eaLnBrk="1" hangingPunct="1">
              <a:spcBef>
                <a:spcPct val="0"/>
              </a:spcBef>
              <a:buClrTx/>
              <a:buSzTx/>
              <a:buFontTx/>
              <a:buNone/>
            </a:pPr>
            <a:r>
              <a:rPr lang="en-US" altLang="zh-CN" sz="1400" dirty="0"/>
              <a:t>LLVM IR</a:t>
            </a:r>
            <a:endParaRPr lang="zh-CN" altLang="en-US" sz="1400" dirty="0"/>
          </a:p>
        </p:txBody>
      </p:sp>
      <p:sp>
        <p:nvSpPr>
          <p:cNvPr id="21513" name="矩形 28"/>
          <p:cNvSpPr/>
          <p:nvPr/>
        </p:nvSpPr>
        <p:spPr>
          <a:xfrm>
            <a:off x="2613025" y="2478088"/>
            <a:ext cx="360363" cy="1755775"/>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语法分析</a:t>
            </a:r>
            <a:endParaRPr lang="en-US" altLang="zh-CN" sz="1800" dirty="0"/>
          </a:p>
          <a:p>
            <a:pPr marL="0" lvl="0" indent="0" algn="ctr">
              <a:spcBef>
                <a:spcPct val="0"/>
              </a:spcBef>
              <a:buClrTx/>
              <a:buSzTx/>
              <a:buFontTx/>
              <a:buNone/>
            </a:pPr>
            <a:endParaRPr lang="zh-CN" altLang="en-US" sz="1800" dirty="0"/>
          </a:p>
        </p:txBody>
      </p:sp>
      <p:cxnSp>
        <p:nvCxnSpPr>
          <p:cNvPr id="21514" name="直接连接符 46"/>
          <p:cNvCxnSpPr>
            <a:stCxn id="21509" idx="3"/>
            <a:endCxn id="21513" idx="1"/>
          </p:cNvCxnSpPr>
          <p:nvPr/>
        </p:nvCxnSpPr>
        <p:spPr>
          <a:xfrm>
            <a:off x="2268538" y="3355975"/>
            <a:ext cx="344487" cy="0"/>
          </a:xfrm>
          <a:prstGeom prst="line">
            <a:avLst/>
          </a:prstGeom>
          <a:ln w="9525" cap="flat" cmpd="sng">
            <a:solidFill>
              <a:schemeClr val="tx1"/>
            </a:solidFill>
            <a:prstDash val="solid"/>
            <a:headEnd type="none" w="med" len="med"/>
            <a:tailEnd type="triangle" w="med" len="med"/>
          </a:ln>
        </p:spPr>
      </p:cxnSp>
      <p:sp>
        <p:nvSpPr>
          <p:cNvPr id="21515" name="矩形 28"/>
          <p:cNvSpPr/>
          <p:nvPr/>
        </p:nvSpPr>
        <p:spPr>
          <a:xfrm>
            <a:off x="5014913" y="1346835"/>
            <a:ext cx="358775" cy="1754188"/>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代码生成一</a:t>
            </a:r>
          </a:p>
        </p:txBody>
      </p:sp>
      <p:sp>
        <p:nvSpPr>
          <p:cNvPr id="21517" name="矩形 28"/>
          <p:cNvSpPr/>
          <p:nvPr/>
        </p:nvSpPr>
        <p:spPr>
          <a:xfrm>
            <a:off x="5722938" y="1342073"/>
            <a:ext cx="360362" cy="1752600"/>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代码生成二</a:t>
            </a:r>
          </a:p>
        </p:txBody>
      </p:sp>
      <p:cxnSp>
        <p:nvCxnSpPr>
          <p:cNvPr id="21518" name="直接连接符 46"/>
          <p:cNvCxnSpPr>
            <a:stCxn id="21515" idx="3"/>
            <a:endCxn id="21517" idx="1"/>
          </p:cNvCxnSpPr>
          <p:nvPr/>
        </p:nvCxnSpPr>
        <p:spPr>
          <a:xfrm flipV="1">
            <a:off x="5373688" y="2218690"/>
            <a:ext cx="349250" cy="5715"/>
          </a:xfrm>
          <a:prstGeom prst="line">
            <a:avLst/>
          </a:prstGeom>
          <a:ln w="9525" cap="flat" cmpd="sng">
            <a:solidFill>
              <a:schemeClr val="tx1"/>
            </a:solidFill>
            <a:prstDash val="solid"/>
            <a:headEnd type="none" w="med" len="med"/>
            <a:tailEnd type="triangle" w="med" len="med"/>
          </a:ln>
        </p:spPr>
      </p:cxnSp>
      <p:sp>
        <p:nvSpPr>
          <p:cNvPr id="21519" name="矩形 28"/>
          <p:cNvSpPr/>
          <p:nvPr/>
        </p:nvSpPr>
        <p:spPr>
          <a:xfrm>
            <a:off x="6423025" y="1342073"/>
            <a:ext cx="360363" cy="1754187"/>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竞速排序</a:t>
            </a:r>
            <a:endParaRPr lang="en-US" altLang="zh-CN" sz="1800" dirty="0"/>
          </a:p>
          <a:p>
            <a:pPr marL="0" lvl="0" indent="0" algn="ctr">
              <a:spcBef>
                <a:spcPct val="0"/>
              </a:spcBef>
              <a:buClrTx/>
              <a:buSzTx/>
              <a:buFontTx/>
              <a:buNone/>
            </a:pPr>
            <a:endParaRPr lang="zh-CN" altLang="en-US" sz="1800" dirty="0"/>
          </a:p>
        </p:txBody>
      </p:sp>
      <p:cxnSp>
        <p:nvCxnSpPr>
          <p:cNvPr id="21520" name="直接连接符 46"/>
          <p:cNvCxnSpPr>
            <a:stCxn id="21517" idx="3"/>
            <a:endCxn id="21519" idx="1"/>
          </p:cNvCxnSpPr>
          <p:nvPr/>
        </p:nvCxnSpPr>
        <p:spPr>
          <a:xfrm>
            <a:off x="6083300" y="2218373"/>
            <a:ext cx="339725" cy="635"/>
          </a:xfrm>
          <a:prstGeom prst="line">
            <a:avLst/>
          </a:prstGeom>
          <a:ln w="9525" cap="flat" cmpd="sng">
            <a:solidFill>
              <a:schemeClr val="tx1"/>
            </a:solidFill>
            <a:prstDash val="solid"/>
            <a:headEnd type="none" w="med" len="med"/>
            <a:tailEnd type="triangle" w="med" len="med"/>
          </a:ln>
        </p:spPr>
      </p:cxnSp>
      <p:sp>
        <p:nvSpPr>
          <p:cNvPr id="21521" name="矩形 28"/>
          <p:cNvSpPr/>
          <p:nvPr/>
        </p:nvSpPr>
        <p:spPr>
          <a:xfrm>
            <a:off x="7390765" y="2469198"/>
            <a:ext cx="360363" cy="1754187"/>
          </a:xfrm>
          <a:prstGeom prst="rect">
            <a:avLst/>
          </a:prstGeom>
          <a:solidFill>
            <a:srgbClr val="FFCCCC"/>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期末考核</a:t>
            </a:r>
            <a:endParaRPr lang="en-US" altLang="zh-CN" sz="1800" dirty="0"/>
          </a:p>
          <a:p>
            <a:pPr marL="0" lvl="0" indent="0" algn="ctr">
              <a:spcBef>
                <a:spcPct val="0"/>
              </a:spcBef>
              <a:buClrTx/>
              <a:buSzTx/>
              <a:buFontTx/>
              <a:buNone/>
            </a:pPr>
            <a:endParaRPr lang="zh-CN" altLang="en-US" sz="1800" dirty="0"/>
          </a:p>
        </p:txBody>
      </p:sp>
      <p:cxnSp>
        <p:nvCxnSpPr>
          <p:cNvPr id="21522" name="直接连接符 46"/>
          <p:cNvCxnSpPr>
            <a:stCxn id="21519" idx="3"/>
            <a:endCxn id="21521" idx="1"/>
          </p:cNvCxnSpPr>
          <p:nvPr/>
        </p:nvCxnSpPr>
        <p:spPr>
          <a:xfrm>
            <a:off x="6783705" y="2219325"/>
            <a:ext cx="607060" cy="1127125"/>
          </a:xfrm>
          <a:prstGeom prst="bentConnector3">
            <a:avLst>
              <a:gd name="adj1" fmla="val 50000"/>
            </a:avLst>
          </a:prstGeom>
          <a:ln w="9525" cap="flat" cmpd="sng">
            <a:solidFill>
              <a:schemeClr val="tx1"/>
            </a:solidFill>
            <a:prstDash val="solid"/>
            <a:headEnd type="none" w="med" len="med"/>
            <a:tailEnd type="triangle" w="med" len="med"/>
          </a:ln>
        </p:spPr>
      </p:cxnSp>
      <p:sp>
        <p:nvSpPr>
          <p:cNvPr id="21523" name="矩形 28"/>
          <p:cNvSpPr/>
          <p:nvPr/>
        </p:nvSpPr>
        <p:spPr>
          <a:xfrm>
            <a:off x="1236663" y="2474913"/>
            <a:ext cx="360362" cy="1754187"/>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文法解读</a:t>
            </a:r>
            <a:endParaRPr lang="en-US" altLang="zh-CN" sz="1800" dirty="0"/>
          </a:p>
          <a:p>
            <a:pPr marL="0" lvl="0" indent="0" algn="ctr">
              <a:spcBef>
                <a:spcPct val="0"/>
              </a:spcBef>
              <a:buClrTx/>
              <a:buSzTx/>
              <a:buFontTx/>
              <a:buNone/>
            </a:pPr>
            <a:endParaRPr lang="zh-CN" altLang="en-US" sz="1800" dirty="0"/>
          </a:p>
        </p:txBody>
      </p:sp>
      <p:sp>
        <p:nvSpPr>
          <p:cNvPr id="21524" name="矩形 28"/>
          <p:cNvSpPr/>
          <p:nvPr/>
        </p:nvSpPr>
        <p:spPr>
          <a:xfrm>
            <a:off x="5014913" y="3691255"/>
            <a:ext cx="358775" cy="1754188"/>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代码生成一</a:t>
            </a:r>
          </a:p>
        </p:txBody>
      </p:sp>
      <p:sp>
        <p:nvSpPr>
          <p:cNvPr id="21525" name="矩形 28"/>
          <p:cNvSpPr/>
          <p:nvPr/>
        </p:nvSpPr>
        <p:spPr>
          <a:xfrm>
            <a:off x="6119813" y="3691255"/>
            <a:ext cx="360362" cy="1754188"/>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endParaRPr lang="en-US" altLang="zh-CN" sz="1800" dirty="0"/>
          </a:p>
          <a:p>
            <a:pPr marL="0" lvl="0" indent="0" algn="ctr">
              <a:spcBef>
                <a:spcPct val="0"/>
              </a:spcBef>
              <a:buClrTx/>
              <a:buSzTx/>
              <a:buFontTx/>
              <a:buNone/>
            </a:pPr>
            <a:r>
              <a:rPr lang="zh-CN" altLang="en-US" sz="1800" dirty="0"/>
              <a:t>代码生成二</a:t>
            </a:r>
          </a:p>
        </p:txBody>
      </p:sp>
      <p:cxnSp>
        <p:nvCxnSpPr>
          <p:cNvPr id="21526" name="直接连接符 46"/>
          <p:cNvCxnSpPr>
            <a:stCxn id="21524" idx="3"/>
            <a:endCxn id="21525" idx="1"/>
          </p:cNvCxnSpPr>
          <p:nvPr/>
        </p:nvCxnSpPr>
        <p:spPr>
          <a:xfrm>
            <a:off x="5373688" y="4568508"/>
            <a:ext cx="746125" cy="0"/>
          </a:xfrm>
          <a:prstGeom prst="line">
            <a:avLst/>
          </a:prstGeom>
          <a:ln w="9525" cap="flat" cmpd="sng">
            <a:solidFill>
              <a:schemeClr val="tx1"/>
            </a:solidFill>
            <a:prstDash val="solid"/>
            <a:headEnd type="none" w="med" len="med"/>
            <a:tailEnd type="triangle" w="med" len="med"/>
          </a:ln>
        </p:spPr>
      </p:cxnSp>
      <p:cxnSp>
        <p:nvCxnSpPr>
          <p:cNvPr id="21527" name="直接连接符 46"/>
          <p:cNvCxnSpPr>
            <a:stCxn id="21525" idx="3"/>
          </p:cNvCxnSpPr>
          <p:nvPr/>
        </p:nvCxnSpPr>
        <p:spPr>
          <a:xfrm flipV="1">
            <a:off x="6480175" y="3357245"/>
            <a:ext cx="612140" cy="1211580"/>
          </a:xfrm>
          <a:prstGeom prst="bentConnector2">
            <a:avLst/>
          </a:prstGeom>
          <a:ln w="9525" cap="flat" cmpd="sng">
            <a:solidFill>
              <a:schemeClr val="tx1"/>
            </a:solidFill>
            <a:prstDash val="solid"/>
            <a:headEnd type="none" w="med" len="med"/>
            <a:tailEnd type="none" w="med" len="med"/>
          </a:ln>
        </p:spPr>
      </p:cxnSp>
      <p:cxnSp>
        <p:nvCxnSpPr>
          <p:cNvPr id="21530" name="直接连接符 54"/>
          <p:cNvCxnSpPr>
            <a:stCxn id="21513" idx="3"/>
            <a:endCxn id="21532" idx="1"/>
          </p:cNvCxnSpPr>
          <p:nvPr/>
        </p:nvCxnSpPr>
        <p:spPr>
          <a:xfrm flipV="1">
            <a:off x="2973388" y="3347086"/>
            <a:ext cx="302895" cy="9525"/>
          </a:xfrm>
          <a:prstGeom prst="line">
            <a:avLst/>
          </a:prstGeom>
          <a:ln w="9525" cap="flat" cmpd="sng">
            <a:solidFill>
              <a:schemeClr val="tx1"/>
            </a:solidFill>
            <a:prstDash val="solid"/>
            <a:headEnd type="none" w="med" len="med"/>
            <a:tailEnd type="triangle" w="med" len="med"/>
          </a:ln>
        </p:spPr>
      </p:cxnSp>
      <p:sp>
        <p:nvSpPr>
          <p:cNvPr id="21532" name="矩形 28"/>
          <p:cNvSpPr/>
          <p:nvPr/>
        </p:nvSpPr>
        <p:spPr>
          <a:xfrm>
            <a:off x="3276600" y="2470150"/>
            <a:ext cx="360363" cy="1753235"/>
          </a:xfrm>
          <a:prstGeom prst="rect">
            <a:avLst/>
          </a:prstGeom>
          <a:solidFill>
            <a:srgbClr val="FFCCCC"/>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algn="ctr">
              <a:buClrTx/>
              <a:buSzTx/>
              <a:buFontTx/>
              <a:buNone/>
            </a:pPr>
            <a:endParaRPr lang="en-US" altLang="zh-CN" sz="1800" dirty="0">
              <a:sym typeface="+mn-ea"/>
            </a:endParaRPr>
          </a:p>
          <a:p>
            <a:pPr marL="0" lvl="0" algn="ctr">
              <a:buClrTx/>
              <a:buSzTx/>
              <a:buFontTx/>
              <a:buNone/>
            </a:pPr>
            <a:r>
              <a:rPr lang="en-US" altLang="zh-CN" sz="1800" dirty="0">
                <a:sym typeface="+mn-ea"/>
              </a:rPr>
              <a:t>期中考核</a:t>
            </a:r>
          </a:p>
          <a:p>
            <a:pPr marL="0" lvl="0" algn="ctr">
              <a:buClrTx/>
              <a:buSzTx/>
              <a:buFontTx/>
              <a:buNone/>
            </a:pPr>
            <a:endParaRPr lang="en-US" altLang="zh-CN" sz="1800" dirty="0">
              <a:sym typeface="+mn-ea"/>
            </a:endParaRPr>
          </a:p>
        </p:txBody>
      </p:sp>
      <p:cxnSp>
        <p:nvCxnSpPr>
          <p:cNvPr id="21533" name="直接连接符 54"/>
          <p:cNvCxnSpPr>
            <a:stCxn id="21532" idx="3"/>
            <a:endCxn id="21534" idx="1"/>
          </p:cNvCxnSpPr>
          <p:nvPr/>
        </p:nvCxnSpPr>
        <p:spPr>
          <a:xfrm>
            <a:off x="3636963" y="3347313"/>
            <a:ext cx="340995" cy="5080"/>
          </a:xfrm>
          <a:prstGeom prst="line">
            <a:avLst/>
          </a:prstGeom>
          <a:ln w="9525" cap="flat" cmpd="sng">
            <a:solidFill>
              <a:schemeClr val="tx1"/>
            </a:solidFill>
            <a:prstDash val="solid"/>
            <a:headEnd type="none" w="med" len="med"/>
            <a:tailEnd type="triangle" w="med" len="med"/>
          </a:ln>
        </p:spPr>
      </p:cxnSp>
      <p:sp>
        <p:nvSpPr>
          <p:cNvPr id="21534" name="矩形 51"/>
          <p:cNvSpPr/>
          <p:nvPr/>
        </p:nvSpPr>
        <p:spPr>
          <a:xfrm>
            <a:off x="3978275" y="2474913"/>
            <a:ext cx="360363" cy="1753235"/>
          </a:xfrm>
          <a:prstGeom prst="rect">
            <a:avLst/>
          </a:prstGeom>
          <a:solidFill>
            <a:srgbClr val="FCDB9A"/>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algn="ctr">
              <a:buClrTx/>
              <a:buSzTx/>
              <a:buFontTx/>
              <a:buNone/>
            </a:pPr>
            <a:endParaRPr lang="en-US" altLang="zh-CN" sz="1800" dirty="0">
              <a:sym typeface="+mn-ea"/>
            </a:endParaRPr>
          </a:p>
          <a:p>
            <a:pPr marL="0" lvl="0" algn="ctr">
              <a:buClrTx/>
              <a:buSzTx/>
              <a:buFontTx/>
              <a:buNone/>
            </a:pPr>
            <a:r>
              <a:rPr lang="en-US" altLang="zh-CN" sz="1800" dirty="0">
                <a:sym typeface="+mn-ea"/>
              </a:rPr>
              <a:t>语义分析</a:t>
            </a:r>
          </a:p>
          <a:p>
            <a:pPr marL="0" lvl="0" algn="ctr">
              <a:buClrTx/>
              <a:buSzTx/>
              <a:buFontTx/>
              <a:buNone/>
            </a:pPr>
            <a:endParaRPr lang="en-US" altLang="zh-CN" sz="1800" dirty="0">
              <a:sym typeface="+mn-ea"/>
            </a:endParaRPr>
          </a:p>
        </p:txBody>
      </p:sp>
      <p:cxnSp>
        <p:nvCxnSpPr>
          <p:cNvPr id="21535" name="直接连接符 54"/>
          <p:cNvCxnSpPr>
            <a:stCxn id="21534" idx="3"/>
            <a:endCxn id="21524" idx="1"/>
          </p:cNvCxnSpPr>
          <p:nvPr/>
        </p:nvCxnSpPr>
        <p:spPr>
          <a:xfrm>
            <a:off x="4338955" y="3351530"/>
            <a:ext cx="676275" cy="1217295"/>
          </a:xfrm>
          <a:prstGeom prst="bentConnector3">
            <a:avLst>
              <a:gd name="adj1" fmla="val 45258"/>
            </a:avLst>
          </a:prstGeom>
          <a:ln w="9525" cap="flat" cmpd="sng">
            <a:solidFill>
              <a:schemeClr val="tx1"/>
            </a:solidFill>
            <a:prstDash val="solid"/>
            <a:round/>
            <a:headEnd type="none" w="med" len="med"/>
            <a:tailEnd type="triangle" w="med" len="med"/>
          </a:ln>
        </p:spPr>
      </p:cxnSp>
      <p:sp>
        <p:nvSpPr>
          <p:cNvPr id="23581" name="Rectangle 2"/>
          <p:cNvSpPr>
            <a:spLocks noGrp="1"/>
          </p:cNvSpPr>
          <p:nvPr>
            <p:ph type="title"/>
          </p:nvPr>
        </p:nvSpPr>
        <p:spPr>
          <a:xfrm>
            <a:off x="899478" y="188595"/>
            <a:ext cx="7793037" cy="839788"/>
          </a:xfrm>
        </p:spPr>
        <p:txBody>
          <a:bodyPr vert="horz" wrap="square" lIns="91440" tIns="45720" rIns="91440" bIns="45720" anchor="b" anchorCtr="0"/>
          <a:lstStyle/>
          <a:p>
            <a:pPr eaLnBrk="1" hangingPunct="1"/>
            <a:r>
              <a:rPr lang="zh-CN" altLang="en-US" dirty="0"/>
              <a:t>任务及考核步骤</a:t>
            </a:r>
          </a:p>
        </p:txBody>
      </p:sp>
      <p:cxnSp>
        <p:nvCxnSpPr>
          <p:cNvPr id="23582" name="直接箭头连接符 2"/>
          <p:cNvCxnSpPr>
            <a:stCxn id="21523" idx="2"/>
            <a:endCxn id="35" idx="1"/>
          </p:cNvCxnSpPr>
          <p:nvPr/>
        </p:nvCxnSpPr>
        <p:spPr>
          <a:xfrm rot="-5400000" flipH="1">
            <a:off x="914400" y="4732338"/>
            <a:ext cx="1497013" cy="490537"/>
          </a:xfrm>
          <a:prstGeom prst="bentConnector2">
            <a:avLst/>
          </a:prstGeom>
          <a:ln w="9525" cap="flat" cmpd="sng">
            <a:solidFill>
              <a:schemeClr val="tx1"/>
            </a:solidFill>
            <a:prstDash val="solid"/>
            <a:round/>
            <a:headEnd type="none" w="med" len="med"/>
            <a:tailEnd type="triangle" w="med" len="med"/>
          </a:ln>
        </p:spPr>
      </p:cxnSp>
      <p:sp>
        <p:nvSpPr>
          <p:cNvPr id="35" name="TextBox 8"/>
          <p:cNvSpPr txBox="1"/>
          <p:nvPr/>
        </p:nvSpPr>
        <p:spPr>
          <a:xfrm>
            <a:off x="1908175" y="5541963"/>
            <a:ext cx="5688013" cy="369887"/>
          </a:xfrm>
          <a:prstGeom prst="rect">
            <a:avLst/>
          </a:prstGeom>
          <a:gradFill rotWithShape="1">
            <a:gsLst>
              <a:gs pos="0">
                <a:srgbClr val="5E9EFF">
                  <a:alpha val="100000"/>
                </a:srgbClr>
              </a:gs>
              <a:gs pos="39999">
                <a:srgbClr val="85C2FF">
                  <a:alpha val="100000"/>
                </a:srgbClr>
              </a:gs>
              <a:gs pos="70000">
                <a:srgbClr val="C4D6EB">
                  <a:alpha val="100000"/>
                </a:srgbClr>
              </a:gs>
              <a:gs pos="100000">
                <a:srgbClr val="FFEBFA">
                  <a:alpha val="100000"/>
                </a:srgbClr>
              </a:gs>
            </a:gsLst>
            <a:lin ang="10800000" scaled="1"/>
            <a:tileRect/>
          </a:gra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800" dirty="0"/>
              <a:t>建立公共测试程序库用于调试</a:t>
            </a:r>
          </a:p>
        </p:txBody>
      </p:sp>
      <p:cxnSp>
        <p:nvCxnSpPr>
          <p:cNvPr id="10" name="连接符: 肘形 9"/>
          <p:cNvCxnSpPr>
            <a:endCxn id="21515" idx="1"/>
          </p:cNvCxnSpPr>
          <p:nvPr/>
        </p:nvCxnSpPr>
        <p:spPr>
          <a:xfrm rot="16200000">
            <a:off x="4263390" y="2605405"/>
            <a:ext cx="1132840" cy="370840"/>
          </a:xfrm>
          <a:prstGeom prst="bentConnector2">
            <a:avLst/>
          </a:prstGeom>
          <a:ln w="9525" cap="flat" cmpd="sng">
            <a:solidFill>
              <a:schemeClr val="tx1"/>
            </a:solidFill>
            <a:prstDash val="solid"/>
            <a:round/>
            <a:headEnd type="none" w="med" len="med"/>
            <a:tailEnd type="triangle" w="med" len="med"/>
          </a:ln>
        </p:spPr>
      </p:cxnSp>
      <p:sp>
        <p:nvSpPr>
          <p:cNvPr id="2" name="圆角矩形 1"/>
          <p:cNvSpPr/>
          <p:nvPr/>
        </p:nvSpPr>
        <p:spPr>
          <a:xfrm>
            <a:off x="3851910" y="1198880"/>
            <a:ext cx="3128010" cy="4318635"/>
          </a:xfrm>
          <a:prstGeom prst="roundRect">
            <a:avLst/>
          </a:prstGeom>
          <a:noFill/>
          <a:ln w="28575" cap="flat" cmpd="sng" algn="ctr">
            <a:solidFill>
              <a:schemeClr val="accent1">
                <a:shade val="50000"/>
              </a:schemeClr>
            </a:solidFill>
            <a:prstDash val="sysDot"/>
            <a:round/>
            <a:headEnd type="none" w="med" len="med"/>
            <a:tailEnd type="none" w="med" len="med"/>
          </a:ln>
        </p:spPr>
        <p:txBody>
          <a:bodyPr vert="horz" wrap="none" lIns="91440" tIns="45720" rIns="91440" bIns="45720" numCol="1"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3" name="矩形 28"/>
          <p:cNvSpPr/>
          <p:nvPr/>
        </p:nvSpPr>
        <p:spPr>
          <a:xfrm>
            <a:off x="5013325" y="3213100"/>
            <a:ext cx="1770380" cy="394970"/>
          </a:xfrm>
          <a:prstGeom prst="rect">
            <a:avLst/>
          </a:prstGeom>
          <a:solidFill>
            <a:srgbClr val="FFCCCC">
              <a:alpha val="45000"/>
            </a:srgbClr>
          </a:solidFill>
          <a:ln w="9525" cap="flat" cmpd="sng">
            <a:solidFill>
              <a:schemeClr val="accent1"/>
            </a:solidFill>
            <a:prstDash val="solid"/>
            <a:miter/>
            <a:headEnd type="none" w="med" len="med"/>
            <a:tailEnd type="none" w="med" len="med"/>
          </a:ln>
        </p:spPr>
        <p:txBody>
          <a:bodyPr wrap="square">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a:spcBef>
                <a:spcPct val="0"/>
              </a:spcBef>
              <a:buClrTx/>
              <a:buSzTx/>
              <a:buFontTx/>
              <a:buNone/>
            </a:pPr>
            <a:r>
              <a:rPr lang="zh-CN" altLang="en-US" sz="1800" dirty="0"/>
              <a:t>现场答辩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23"/>
                                        </p:tgtEl>
                                        <p:attrNameLst>
                                          <p:attrName>style.visibility</p:attrName>
                                        </p:attrNameLst>
                                      </p:cBhvr>
                                      <p:to>
                                        <p:strVal val="visible"/>
                                      </p:to>
                                    </p:set>
                                    <p:animEffect transition="in" filter="wipe(left)">
                                      <p:cBhvr>
                                        <p:cTn id="7" dur="500"/>
                                        <p:tgtEl>
                                          <p:spTgt spid="215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82"/>
                                        </p:tgtEl>
                                        <p:attrNameLst>
                                          <p:attrName>style.visibility</p:attrName>
                                        </p:attrNameLst>
                                      </p:cBhvr>
                                      <p:to>
                                        <p:strVal val="visible"/>
                                      </p:to>
                                    </p:set>
                                    <p:animEffect transition="in" filter="wipe(left)">
                                      <p:cBhvr>
                                        <p:cTn id="12" dur="500"/>
                                        <p:tgtEl>
                                          <p:spTgt spid="235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left)">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8"/>
                                        </p:tgtEl>
                                        <p:attrNameLst>
                                          <p:attrName>style.visibility</p:attrName>
                                        </p:attrNameLst>
                                      </p:cBhvr>
                                      <p:to>
                                        <p:strVal val="visible"/>
                                      </p:to>
                                    </p:set>
                                    <p:animEffect transition="in" filter="wipe(left)">
                                      <p:cBhvr>
                                        <p:cTn id="22" dur="500"/>
                                        <p:tgtEl>
                                          <p:spTgt spid="215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07"/>
                                        </p:tgtEl>
                                        <p:attrNameLst>
                                          <p:attrName>style.visibility</p:attrName>
                                        </p:attrNameLst>
                                      </p:cBhvr>
                                      <p:to>
                                        <p:strVal val="visible"/>
                                      </p:to>
                                    </p:set>
                                    <p:animEffect transition="in" filter="wipe(left)">
                                      <p:cBhvr>
                                        <p:cTn id="27" dur="500"/>
                                        <p:tgtEl>
                                          <p:spTgt spid="2150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510"/>
                                        </p:tgtEl>
                                        <p:attrNameLst>
                                          <p:attrName>style.visibility</p:attrName>
                                        </p:attrNameLst>
                                      </p:cBhvr>
                                      <p:to>
                                        <p:strVal val="visible"/>
                                      </p:to>
                                    </p:set>
                                    <p:animEffect transition="in" filter="wipe(left)">
                                      <p:cBhvr>
                                        <p:cTn id="32" dur="500"/>
                                        <p:tgtEl>
                                          <p:spTgt spid="215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509"/>
                                        </p:tgtEl>
                                        <p:attrNameLst>
                                          <p:attrName>style.visibility</p:attrName>
                                        </p:attrNameLst>
                                      </p:cBhvr>
                                      <p:to>
                                        <p:strVal val="visible"/>
                                      </p:to>
                                    </p:set>
                                    <p:animEffect transition="in" filter="wipe(left)">
                                      <p:cBhvr>
                                        <p:cTn id="37" dur="500"/>
                                        <p:tgtEl>
                                          <p:spTgt spid="215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514"/>
                                        </p:tgtEl>
                                        <p:attrNameLst>
                                          <p:attrName>style.visibility</p:attrName>
                                        </p:attrNameLst>
                                      </p:cBhvr>
                                      <p:to>
                                        <p:strVal val="visible"/>
                                      </p:to>
                                    </p:set>
                                    <p:animEffect transition="in" filter="wipe(left)">
                                      <p:cBhvr>
                                        <p:cTn id="42" dur="500"/>
                                        <p:tgtEl>
                                          <p:spTgt spid="215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513"/>
                                        </p:tgtEl>
                                        <p:attrNameLst>
                                          <p:attrName>style.visibility</p:attrName>
                                        </p:attrNameLst>
                                      </p:cBhvr>
                                      <p:to>
                                        <p:strVal val="visible"/>
                                      </p:to>
                                    </p:set>
                                    <p:animEffect transition="in" filter="wipe(left)">
                                      <p:cBhvr>
                                        <p:cTn id="47" dur="500"/>
                                        <p:tgtEl>
                                          <p:spTgt spid="215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530"/>
                                        </p:tgtEl>
                                        <p:attrNameLst>
                                          <p:attrName>style.visibility</p:attrName>
                                        </p:attrNameLst>
                                      </p:cBhvr>
                                      <p:to>
                                        <p:strVal val="visible"/>
                                      </p:to>
                                    </p:set>
                                    <p:animEffect transition="in" filter="wipe(left)">
                                      <p:cBhvr>
                                        <p:cTn id="52" dur="500"/>
                                        <p:tgtEl>
                                          <p:spTgt spid="215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532"/>
                                        </p:tgtEl>
                                        <p:attrNameLst>
                                          <p:attrName>style.visibility</p:attrName>
                                        </p:attrNameLst>
                                      </p:cBhvr>
                                      <p:to>
                                        <p:strVal val="visible"/>
                                      </p:to>
                                    </p:set>
                                    <p:animEffect transition="in" filter="wipe(left)">
                                      <p:cBhvr>
                                        <p:cTn id="57" dur="500"/>
                                        <p:tgtEl>
                                          <p:spTgt spid="215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533"/>
                                        </p:tgtEl>
                                        <p:attrNameLst>
                                          <p:attrName>style.visibility</p:attrName>
                                        </p:attrNameLst>
                                      </p:cBhvr>
                                      <p:to>
                                        <p:strVal val="visible"/>
                                      </p:to>
                                    </p:set>
                                    <p:animEffect transition="in" filter="wipe(left)">
                                      <p:cBhvr>
                                        <p:cTn id="62" dur="500"/>
                                        <p:tgtEl>
                                          <p:spTgt spid="2153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534"/>
                                        </p:tgtEl>
                                        <p:attrNameLst>
                                          <p:attrName>style.visibility</p:attrName>
                                        </p:attrNameLst>
                                      </p:cBhvr>
                                      <p:to>
                                        <p:strVal val="visible"/>
                                      </p:to>
                                    </p:set>
                                    <p:animEffect transition="in" filter="wipe(left)">
                                      <p:cBhvr>
                                        <p:cTn id="67" dur="500"/>
                                        <p:tgtEl>
                                          <p:spTgt spid="21534"/>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1512"/>
                                        </p:tgtEl>
                                        <p:attrNameLst>
                                          <p:attrName>style.visibility</p:attrName>
                                        </p:attrNameLst>
                                      </p:cBhvr>
                                      <p:to>
                                        <p:strVal val="visible"/>
                                      </p:to>
                                    </p:set>
                                    <p:anim calcmode="lin" valueType="num">
                                      <p:cBhvr>
                                        <p:cTn id="72" dur="500" fill="hold"/>
                                        <p:tgtEl>
                                          <p:spTgt spid="21512"/>
                                        </p:tgtEl>
                                        <p:attrNameLst>
                                          <p:attrName>ppt_w</p:attrName>
                                        </p:attrNameLst>
                                      </p:cBhvr>
                                      <p:tavLst>
                                        <p:tav tm="0">
                                          <p:val>
                                            <p:fltVal val="0"/>
                                          </p:val>
                                        </p:tav>
                                        <p:tav tm="100000">
                                          <p:val>
                                            <p:strVal val="#ppt_w"/>
                                          </p:val>
                                        </p:tav>
                                      </p:tavLst>
                                    </p:anim>
                                    <p:anim calcmode="lin" valueType="num">
                                      <p:cBhvr>
                                        <p:cTn id="73" dur="500" fill="hold"/>
                                        <p:tgtEl>
                                          <p:spTgt spid="21512"/>
                                        </p:tgtEl>
                                        <p:attrNameLst>
                                          <p:attrName>ppt_h</p:attrName>
                                        </p:attrNameLst>
                                      </p:cBhvr>
                                      <p:tavLst>
                                        <p:tav tm="0">
                                          <p:val>
                                            <p:fltVal val="0"/>
                                          </p:val>
                                        </p:tav>
                                        <p:tav tm="100000">
                                          <p:val>
                                            <p:strVal val="#ppt_h"/>
                                          </p:val>
                                        </p:tav>
                                      </p:tavLst>
                                    </p:anim>
                                    <p:animEffect transition="in" filter="fade">
                                      <p:cBhvr>
                                        <p:cTn id="74" dur="500"/>
                                        <p:tgtEl>
                                          <p:spTgt spid="2151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1535"/>
                                        </p:tgtEl>
                                        <p:attrNameLst>
                                          <p:attrName>style.visibility</p:attrName>
                                        </p:attrNameLst>
                                      </p:cBhvr>
                                      <p:to>
                                        <p:strVal val="visible"/>
                                      </p:to>
                                    </p:set>
                                    <p:animEffect transition="in" filter="wipe(left)">
                                      <p:cBhvr>
                                        <p:cTn id="79" dur="500"/>
                                        <p:tgtEl>
                                          <p:spTgt spid="2153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1524"/>
                                        </p:tgtEl>
                                        <p:attrNameLst>
                                          <p:attrName>style.visibility</p:attrName>
                                        </p:attrNameLst>
                                      </p:cBhvr>
                                      <p:to>
                                        <p:strVal val="visible"/>
                                      </p:to>
                                    </p:set>
                                    <p:animEffect transition="in" filter="wipe(left)">
                                      <p:cBhvr>
                                        <p:cTn id="84" dur="500"/>
                                        <p:tgtEl>
                                          <p:spTgt spid="2152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1526"/>
                                        </p:tgtEl>
                                        <p:attrNameLst>
                                          <p:attrName>style.visibility</p:attrName>
                                        </p:attrNameLst>
                                      </p:cBhvr>
                                      <p:to>
                                        <p:strVal val="visible"/>
                                      </p:to>
                                    </p:set>
                                    <p:animEffect transition="in" filter="wipe(left)">
                                      <p:cBhvr>
                                        <p:cTn id="89" dur="500"/>
                                        <p:tgtEl>
                                          <p:spTgt spid="2152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1525"/>
                                        </p:tgtEl>
                                        <p:attrNameLst>
                                          <p:attrName>style.visibility</p:attrName>
                                        </p:attrNameLst>
                                      </p:cBhvr>
                                      <p:to>
                                        <p:strVal val="visible"/>
                                      </p:to>
                                    </p:set>
                                    <p:animEffect transition="in" filter="wipe(left)">
                                      <p:cBhvr>
                                        <p:cTn id="94" dur="500"/>
                                        <p:tgtEl>
                                          <p:spTgt spid="2152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1527"/>
                                        </p:tgtEl>
                                        <p:attrNameLst>
                                          <p:attrName>style.visibility</p:attrName>
                                        </p:attrNameLst>
                                      </p:cBhvr>
                                      <p:to>
                                        <p:strVal val="visible"/>
                                      </p:to>
                                    </p:set>
                                    <p:animEffect transition="in" filter="wipe(left)">
                                      <p:cBhvr>
                                        <p:cTn id="99" dur="500"/>
                                        <p:tgtEl>
                                          <p:spTgt spid="21527"/>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21511"/>
                                        </p:tgtEl>
                                        <p:attrNameLst>
                                          <p:attrName>style.visibility</p:attrName>
                                        </p:attrNameLst>
                                      </p:cBhvr>
                                      <p:to>
                                        <p:strVal val="visible"/>
                                      </p:to>
                                    </p:set>
                                    <p:anim calcmode="lin" valueType="num">
                                      <p:cBhvr>
                                        <p:cTn id="104" dur="500" fill="hold"/>
                                        <p:tgtEl>
                                          <p:spTgt spid="21511"/>
                                        </p:tgtEl>
                                        <p:attrNameLst>
                                          <p:attrName>ppt_w</p:attrName>
                                        </p:attrNameLst>
                                      </p:cBhvr>
                                      <p:tavLst>
                                        <p:tav tm="0">
                                          <p:val>
                                            <p:fltVal val="0"/>
                                          </p:val>
                                        </p:tav>
                                        <p:tav tm="100000">
                                          <p:val>
                                            <p:strVal val="#ppt_w"/>
                                          </p:val>
                                        </p:tav>
                                      </p:tavLst>
                                    </p:anim>
                                    <p:anim calcmode="lin" valueType="num">
                                      <p:cBhvr>
                                        <p:cTn id="105" dur="500" fill="hold"/>
                                        <p:tgtEl>
                                          <p:spTgt spid="21511"/>
                                        </p:tgtEl>
                                        <p:attrNameLst>
                                          <p:attrName>ppt_h</p:attrName>
                                        </p:attrNameLst>
                                      </p:cBhvr>
                                      <p:tavLst>
                                        <p:tav tm="0">
                                          <p:val>
                                            <p:fltVal val="0"/>
                                          </p:val>
                                        </p:tav>
                                        <p:tav tm="100000">
                                          <p:val>
                                            <p:strVal val="#ppt_h"/>
                                          </p:val>
                                        </p:tav>
                                      </p:tavLst>
                                    </p:anim>
                                    <p:animEffect transition="in" filter="fade">
                                      <p:cBhvr>
                                        <p:cTn id="106" dur="500"/>
                                        <p:tgtEl>
                                          <p:spTgt spid="21511"/>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0"/>
                                        </p:tgtEl>
                                        <p:attrNameLst>
                                          <p:attrName>style.visibility</p:attrName>
                                        </p:attrNameLst>
                                      </p:cBhvr>
                                      <p:to>
                                        <p:strVal val="visible"/>
                                      </p:to>
                                    </p:set>
                                    <p:animEffect transition="in" filter="wipe(left)">
                                      <p:cBhvr>
                                        <p:cTn id="111" dur="500"/>
                                        <p:tgtEl>
                                          <p:spTgt spid="10"/>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1515"/>
                                        </p:tgtEl>
                                        <p:attrNameLst>
                                          <p:attrName>style.visibility</p:attrName>
                                        </p:attrNameLst>
                                      </p:cBhvr>
                                      <p:to>
                                        <p:strVal val="visible"/>
                                      </p:to>
                                    </p:set>
                                    <p:animEffect transition="in" filter="wipe(left)">
                                      <p:cBhvr>
                                        <p:cTn id="116" dur="500"/>
                                        <p:tgtEl>
                                          <p:spTgt spid="21515"/>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21518"/>
                                        </p:tgtEl>
                                        <p:attrNameLst>
                                          <p:attrName>style.visibility</p:attrName>
                                        </p:attrNameLst>
                                      </p:cBhvr>
                                      <p:to>
                                        <p:strVal val="visible"/>
                                      </p:to>
                                    </p:set>
                                    <p:animEffect transition="in" filter="wipe(left)">
                                      <p:cBhvr>
                                        <p:cTn id="121" dur="500"/>
                                        <p:tgtEl>
                                          <p:spTgt spid="2151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1517"/>
                                        </p:tgtEl>
                                        <p:attrNameLst>
                                          <p:attrName>style.visibility</p:attrName>
                                        </p:attrNameLst>
                                      </p:cBhvr>
                                      <p:to>
                                        <p:strVal val="visible"/>
                                      </p:to>
                                    </p:set>
                                    <p:animEffect transition="in" filter="wipe(left)">
                                      <p:cBhvr>
                                        <p:cTn id="126" dur="500"/>
                                        <p:tgtEl>
                                          <p:spTgt spid="21517"/>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21520"/>
                                        </p:tgtEl>
                                        <p:attrNameLst>
                                          <p:attrName>style.visibility</p:attrName>
                                        </p:attrNameLst>
                                      </p:cBhvr>
                                      <p:to>
                                        <p:strVal val="visible"/>
                                      </p:to>
                                    </p:set>
                                    <p:animEffect transition="in" filter="wipe(left)">
                                      <p:cBhvr>
                                        <p:cTn id="131" dur="500"/>
                                        <p:tgtEl>
                                          <p:spTgt spid="2152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1519"/>
                                        </p:tgtEl>
                                        <p:attrNameLst>
                                          <p:attrName>style.visibility</p:attrName>
                                        </p:attrNameLst>
                                      </p:cBhvr>
                                      <p:to>
                                        <p:strVal val="visible"/>
                                      </p:to>
                                    </p:set>
                                    <p:animEffect transition="in" filter="wipe(left)">
                                      <p:cBhvr>
                                        <p:cTn id="136" dur="500"/>
                                        <p:tgtEl>
                                          <p:spTgt spid="21519"/>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nodeType="clickEffect">
                                  <p:stCondLst>
                                    <p:cond delay="0"/>
                                  </p:stCondLst>
                                  <p:childTnLst>
                                    <p:set>
                                      <p:cBhvr>
                                        <p:cTn id="140" dur="1" fill="hold">
                                          <p:stCondLst>
                                            <p:cond delay="0"/>
                                          </p:stCondLst>
                                        </p:cTn>
                                        <p:tgtEl>
                                          <p:spTgt spid="21522"/>
                                        </p:tgtEl>
                                        <p:attrNameLst>
                                          <p:attrName>style.visibility</p:attrName>
                                        </p:attrNameLst>
                                      </p:cBhvr>
                                      <p:to>
                                        <p:strVal val="visible"/>
                                      </p:to>
                                    </p:set>
                                    <p:animEffect transition="in" filter="wipe(left)">
                                      <p:cBhvr>
                                        <p:cTn id="141" dur="500"/>
                                        <p:tgtEl>
                                          <p:spTgt spid="21522"/>
                                        </p:tgtEl>
                                      </p:cBhvr>
                                    </p:animEffect>
                                  </p:childTnLst>
                                </p:cTn>
                              </p:par>
                            </p:childTnLst>
                          </p:cTn>
                        </p:par>
                      </p:childTnLst>
                    </p:cTn>
                  </p:par>
                  <p:par>
                    <p:cTn id="142" fill="hold">
                      <p:stCondLst>
                        <p:cond delay="indefinite"/>
                      </p:stCondLst>
                      <p:childTnLst>
                        <p:par>
                          <p:cTn id="143" fill="hold">
                            <p:stCondLst>
                              <p:cond delay="0"/>
                            </p:stCondLst>
                            <p:childTnLst>
                              <p:par>
                                <p:cTn id="144" presetID="53" presetClass="entr" presetSubtype="16" fill="hold" grpId="0" nodeType="clickEffect">
                                  <p:stCondLst>
                                    <p:cond delay="0"/>
                                  </p:stCondLst>
                                  <p:childTnLst>
                                    <p:set>
                                      <p:cBhvr>
                                        <p:cTn id="145" dur="1" fill="hold">
                                          <p:stCondLst>
                                            <p:cond delay="0"/>
                                          </p:stCondLst>
                                        </p:cTn>
                                        <p:tgtEl>
                                          <p:spTgt spid="2"/>
                                        </p:tgtEl>
                                        <p:attrNameLst>
                                          <p:attrName>style.visibility</p:attrName>
                                        </p:attrNameLst>
                                      </p:cBhvr>
                                      <p:to>
                                        <p:strVal val="visible"/>
                                      </p:to>
                                    </p:set>
                                    <p:anim calcmode="lin" valueType="num">
                                      <p:cBhvr>
                                        <p:cTn id="146" dur="500" fill="hold"/>
                                        <p:tgtEl>
                                          <p:spTgt spid="2"/>
                                        </p:tgtEl>
                                        <p:attrNameLst>
                                          <p:attrName>ppt_w</p:attrName>
                                        </p:attrNameLst>
                                      </p:cBhvr>
                                      <p:tavLst>
                                        <p:tav tm="0">
                                          <p:val>
                                            <p:fltVal val="0"/>
                                          </p:val>
                                        </p:tav>
                                        <p:tav tm="100000">
                                          <p:val>
                                            <p:strVal val="#ppt_w"/>
                                          </p:val>
                                        </p:tav>
                                      </p:tavLst>
                                    </p:anim>
                                    <p:anim calcmode="lin" valueType="num">
                                      <p:cBhvr>
                                        <p:cTn id="147" dur="500" fill="hold"/>
                                        <p:tgtEl>
                                          <p:spTgt spid="2"/>
                                        </p:tgtEl>
                                        <p:attrNameLst>
                                          <p:attrName>ppt_h</p:attrName>
                                        </p:attrNameLst>
                                      </p:cBhvr>
                                      <p:tavLst>
                                        <p:tav tm="0">
                                          <p:val>
                                            <p:fltVal val="0"/>
                                          </p:val>
                                        </p:tav>
                                        <p:tav tm="100000">
                                          <p:val>
                                            <p:strVal val="#ppt_h"/>
                                          </p:val>
                                        </p:tav>
                                      </p:tavLst>
                                    </p:anim>
                                    <p:animEffect transition="in" filter="fade">
                                      <p:cBhvr>
                                        <p:cTn id="148" dur="500"/>
                                        <p:tgtEl>
                                          <p:spTgt spid="2"/>
                                        </p:tgtEl>
                                      </p:cBhvr>
                                    </p:animEffect>
                                  </p:childTnLst>
                                </p:cTn>
                              </p:par>
                            </p:childTnLst>
                          </p:cTn>
                        </p:par>
                      </p:childTnLst>
                    </p:cTn>
                  </p:par>
                  <p:par>
                    <p:cTn id="149" fill="hold">
                      <p:stCondLst>
                        <p:cond delay="indefinite"/>
                      </p:stCondLst>
                      <p:childTnLst>
                        <p:par>
                          <p:cTn id="150" fill="hold">
                            <p:stCondLst>
                              <p:cond delay="0"/>
                            </p:stCondLst>
                            <p:childTnLst>
                              <p:par>
                                <p:cTn id="151" presetID="53" presetClass="entr" presetSubtype="16" fill="hold" grpId="0" nodeType="clickEffect">
                                  <p:stCondLst>
                                    <p:cond delay="0"/>
                                  </p:stCondLst>
                                  <p:childTnLst>
                                    <p:set>
                                      <p:cBhvr>
                                        <p:cTn id="152" dur="1" fill="hold">
                                          <p:stCondLst>
                                            <p:cond delay="0"/>
                                          </p:stCondLst>
                                        </p:cTn>
                                        <p:tgtEl>
                                          <p:spTgt spid="3"/>
                                        </p:tgtEl>
                                        <p:attrNameLst>
                                          <p:attrName>style.visibility</p:attrName>
                                        </p:attrNameLst>
                                      </p:cBhvr>
                                      <p:to>
                                        <p:strVal val="visible"/>
                                      </p:to>
                                    </p:set>
                                    <p:anim calcmode="lin" valueType="num">
                                      <p:cBhvr>
                                        <p:cTn id="153" dur="500" fill="hold"/>
                                        <p:tgtEl>
                                          <p:spTgt spid="3"/>
                                        </p:tgtEl>
                                        <p:attrNameLst>
                                          <p:attrName>ppt_w</p:attrName>
                                        </p:attrNameLst>
                                      </p:cBhvr>
                                      <p:tavLst>
                                        <p:tav tm="0">
                                          <p:val>
                                            <p:fltVal val="0"/>
                                          </p:val>
                                        </p:tav>
                                        <p:tav tm="100000">
                                          <p:val>
                                            <p:strVal val="#ppt_w"/>
                                          </p:val>
                                        </p:tav>
                                      </p:tavLst>
                                    </p:anim>
                                    <p:anim calcmode="lin" valueType="num">
                                      <p:cBhvr>
                                        <p:cTn id="154" dur="500" fill="hold"/>
                                        <p:tgtEl>
                                          <p:spTgt spid="3"/>
                                        </p:tgtEl>
                                        <p:attrNameLst>
                                          <p:attrName>ppt_h</p:attrName>
                                        </p:attrNameLst>
                                      </p:cBhvr>
                                      <p:tavLst>
                                        <p:tav tm="0">
                                          <p:val>
                                            <p:fltVal val="0"/>
                                          </p:val>
                                        </p:tav>
                                        <p:tav tm="100000">
                                          <p:val>
                                            <p:strVal val="#ppt_h"/>
                                          </p:val>
                                        </p:tav>
                                      </p:tavLst>
                                    </p:anim>
                                    <p:animEffect transition="in" filter="fade">
                                      <p:cBhvr>
                                        <p:cTn id="155" dur="500"/>
                                        <p:tgtEl>
                                          <p:spTgt spid="3"/>
                                        </p:tgtEl>
                                      </p:cBhvr>
                                    </p:animEffect>
                                  </p:childTnLst>
                                </p:cTn>
                              </p:par>
                            </p:childTnLst>
                          </p:cTn>
                        </p:par>
                      </p:childTnLst>
                    </p:cTn>
                  </p:par>
                  <p:par>
                    <p:cTn id="156" fill="hold">
                      <p:stCondLst>
                        <p:cond delay="indefinite"/>
                      </p:stCondLst>
                      <p:childTnLst>
                        <p:par>
                          <p:cTn id="157" fill="hold">
                            <p:stCondLst>
                              <p:cond delay="0"/>
                            </p:stCondLst>
                            <p:childTnLst>
                              <p:par>
                                <p:cTn id="158" presetID="53" presetClass="entr" presetSubtype="16" fill="hold" grpId="0" nodeType="clickEffect">
                                  <p:stCondLst>
                                    <p:cond delay="0"/>
                                  </p:stCondLst>
                                  <p:childTnLst>
                                    <p:set>
                                      <p:cBhvr>
                                        <p:cTn id="159" dur="1" fill="hold">
                                          <p:stCondLst>
                                            <p:cond delay="0"/>
                                          </p:stCondLst>
                                        </p:cTn>
                                        <p:tgtEl>
                                          <p:spTgt spid="21521"/>
                                        </p:tgtEl>
                                        <p:attrNameLst>
                                          <p:attrName>style.visibility</p:attrName>
                                        </p:attrNameLst>
                                      </p:cBhvr>
                                      <p:to>
                                        <p:strVal val="visible"/>
                                      </p:to>
                                    </p:set>
                                    <p:anim calcmode="lin" valueType="num">
                                      <p:cBhvr>
                                        <p:cTn id="160" dur="500" fill="hold"/>
                                        <p:tgtEl>
                                          <p:spTgt spid="21521"/>
                                        </p:tgtEl>
                                        <p:attrNameLst>
                                          <p:attrName>ppt_w</p:attrName>
                                        </p:attrNameLst>
                                      </p:cBhvr>
                                      <p:tavLst>
                                        <p:tav tm="0">
                                          <p:val>
                                            <p:fltVal val="0"/>
                                          </p:val>
                                        </p:tav>
                                        <p:tav tm="100000">
                                          <p:val>
                                            <p:strVal val="#ppt_w"/>
                                          </p:val>
                                        </p:tav>
                                      </p:tavLst>
                                    </p:anim>
                                    <p:anim calcmode="lin" valueType="num">
                                      <p:cBhvr>
                                        <p:cTn id="161" dur="500" fill="hold"/>
                                        <p:tgtEl>
                                          <p:spTgt spid="21521"/>
                                        </p:tgtEl>
                                        <p:attrNameLst>
                                          <p:attrName>ppt_h</p:attrName>
                                        </p:attrNameLst>
                                      </p:cBhvr>
                                      <p:tavLst>
                                        <p:tav tm="0">
                                          <p:val>
                                            <p:fltVal val="0"/>
                                          </p:val>
                                        </p:tav>
                                        <p:tav tm="100000">
                                          <p:val>
                                            <p:strVal val="#ppt_h"/>
                                          </p:val>
                                        </p:tav>
                                      </p:tavLst>
                                    </p:anim>
                                    <p:animEffect transition="in" filter="fade">
                                      <p:cBhvr>
                                        <p:cTn id="162" dur="500"/>
                                        <p:tgtEl>
                                          <p:spTgt spid="21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p:bldP spid="21508" grpId="0" animBg="1"/>
      <p:bldP spid="21509" grpId="0" animBg="1"/>
      <p:bldP spid="21511" grpId="0" bldLvl="0" animBg="1"/>
      <p:bldP spid="21512" grpId="0" bldLvl="0" animBg="1"/>
      <p:bldP spid="21513" grpId="0" animBg="1"/>
      <p:bldP spid="21515" grpId="0" bldLvl="0" animBg="1"/>
      <p:bldP spid="21517" grpId="0" bldLvl="0" animBg="1"/>
      <p:bldP spid="21519" grpId="0" bldLvl="0" animBg="1"/>
      <p:bldP spid="21521" grpId="0" bldLvl="0" animBg="1"/>
      <p:bldP spid="21523" grpId="0" animBg="1"/>
      <p:bldP spid="21524" grpId="0" bldLvl="0" animBg="1"/>
      <p:bldP spid="21525" grpId="0" bldLvl="0" animBg="1"/>
      <p:bldP spid="21532" grpId="0" bldLvl="0" animBg="1"/>
      <p:bldP spid="21534" grpId="0" bldLvl="0" animBg="1"/>
      <p:bldP spid="35" grpId="0" animBg="1"/>
      <p:bldP spid="2" grpId="0" animBg="1"/>
      <p:bldP spid="3"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vert="horz" wrap="square" lIns="91440" tIns="45720" rIns="91440" bIns="45720" anchor="b" anchorCtr="0"/>
          <a:lstStyle/>
          <a:p>
            <a:r>
              <a:rPr lang="zh-CN" altLang="en-US" dirty="0"/>
              <a:t>评分标准</a:t>
            </a:r>
          </a:p>
        </p:txBody>
      </p:sp>
      <p:sp>
        <p:nvSpPr>
          <p:cNvPr id="34819" name="内容占位符 2"/>
          <p:cNvSpPr>
            <a:spLocks noGrp="1"/>
          </p:cNvSpPr>
          <p:nvPr>
            <p:ph idx="1"/>
          </p:nvPr>
        </p:nvSpPr>
        <p:spPr/>
        <p:txBody>
          <a:bodyPr vert="horz" wrap="square" lIns="91440" tIns="45720" rIns="91440" bIns="45720" anchor="t" anchorCtr="0"/>
          <a:lstStyle/>
          <a:p>
            <a:r>
              <a:rPr lang="zh-CN" altLang="en-US" dirty="0"/>
              <a:t>生成</a:t>
            </a:r>
            <a:r>
              <a:rPr lang="en-US" altLang="zh-CN" dirty="0"/>
              <a:t>PCODE</a:t>
            </a:r>
            <a:r>
              <a:rPr lang="zh-CN" altLang="en-US" dirty="0"/>
              <a:t>解释执行：最高</a:t>
            </a:r>
            <a:r>
              <a:rPr lang="en-US" altLang="zh-CN" dirty="0"/>
              <a:t>85</a:t>
            </a:r>
            <a:r>
              <a:rPr lang="zh-CN" altLang="en-US" dirty="0"/>
              <a:t>分</a:t>
            </a:r>
            <a:endParaRPr lang="en-US" altLang="zh-CN" dirty="0"/>
          </a:p>
          <a:p>
            <a:r>
              <a:rPr lang="zh-CN" altLang="en-US" dirty="0"/>
              <a:t>生成</a:t>
            </a:r>
            <a:r>
              <a:rPr lang="en-US" altLang="zh-CN" dirty="0"/>
              <a:t>LLVM IR</a:t>
            </a:r>
            <a:r>
              <a:rPr lang="zh-CN" altLang="en-US" dirty="0"/>
              <a:t>：最高</a:t>
            </a:r>
            <a:r>
              <a:rPr lang="en-US" altLang="zh-CN" dirty="0"/>
              <a:t>85</a:t>
            </a:r>
            <a:r>
              <a:rPr lang="zh-CN" altLang="en-US" dirty="0"/>
              <a:t>分</a:t>
            </a:r>
            <a:endParaRPr lang="en-US" altLang="zh-CN" dirty="0"/>
          </a:p>
          <a:p>
            <a:r>
              <a:rPr lang="zh-CN" altLang="en-US" dirty="0"/>
              <a:t>生成</a:t>
            </a:r>
            <a:r>
              <a:rPr lang="en-US" altLang="zh-CN" dirty="0"/>
              <a:t>MIPS</a:t>
            </a:r>
            <a:r>
              <a:rPr lang="zh-CN" altLang="en-US" dirty="0"/>
              <a:t>汇编：最高分</a:t>
            </a:r>
            <a:r>
              <a:rPr lang="en-US" altLang="zh-CN" dirty="0"/>
              <a:t>100</a:t>
            </a:r>
          </a:p>
          <a:p>
            <a:pPr lvl="2"/>
            <a:r>
              <a:rPr lang="zh-CN" altLang="en-US" dirty="0"/>
              <a:t>参加竞速排序</a:t>
            </a:r>
            <a:endParaRPr lang="en-US" altLang="zh-CN" dirty="0"/>
          </a:p>
          <a:p>
            <a:pPr lvl="2"/>
            <a:r>
              <a:rPr lang="zh-CN" altLang="en-US" dirty="0"/>
              <a:t>完成优化文章</a:t>
            </a:r>
            <a:endParaRPr lang="en-US" altLang="zh-CN" dirty="0"/>
          </a:p>
          <a:p>
            <a:pPr lvl="1"/>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分数组成</a:t>
            </a:r>
          </a:p>
        </p:txBody>
      </p:sp>
      <p:graphicFrame>
        <p:nvGraphicFramePr>
          <p:cNvPr id="4" name="表格 3"/>
          <p:cNvGraphicFramePr/>
          <p:nvPr>
            <p:custDataLst>
              <p:tags r:id="rId1"/>
            </p:custDataLst>
          </p:nvPr>
        </p:nvGraphicFramePr>
        <p:xfrm>
          <a:off x="683260" y="2564765"/>
          <a:ext cx="7653655" cy="1256030"/>
        </p:xfrm>
        <a:graphic>
          <a:graphicData uri="http://schemas.openxmlformats.org/drawingml/2006/table">
            <a:tbl>
              <a:tblPr firstRow="1" bandRow="1">
                <a:tableStyleId>{5C22544A-7EE6-4342-B048-85BDC9FD1C3A}</a:tableStyleId>
              </a:tblPr>
              <a:tblGrid>
                <a:gridCol w="735330">
                  <a:extLst>
                    <a:ext uri="{9D8B030D-6E8A-4147-A177-3AD203B41FA5}">
                      <a16:colId xmlns:a16="http://schemas.microsoft.com/office/drawing/2014/main" val="20000"/>
                    </a:ext>
                  </a:extLst>
                </a:gridCol>
                <a:gridCol w="737235">
                  <a:extLst>
                    <a:ext uri="{9D8B030D-6E8A-4147-A177-3AD203B41FA5}">
                      <a16:colId xmlns:a16="http://schemas.microsoft.com/office/drawing/2014/main" val="20001"/>
                    </a:ext>
                  </a:extLst>
                </a:gridCol>
                <a:gridCol w="735330">
                  <a:extLst>
                    <a:ext uri="{9D8B030D-6E8A-4147-A177-3AD203B41FA5}">
                      <a16:colId xmlns:a16="http://schemas.microsoft.com/office/drawing/2014/main" val="20002"/>
                    </a:ext>
                  </a:extLst>
                </a:gridCol>
                <a:gridCol w="737235">
                  <a:extLst>
                    <a:ext uri="{9D8B030D-6E8A-4147-A177-3AD203B41FA5}">
                      <a16:colId xmlns:a16="http://schemas.microsoft.com/office/drawing/2014/main" val="20003"/>
                    </a:ext>
                  </a:extLst>
                </a:gridCol>
                <a:gridCol w="912495">
                  <a:extLst>
                    <a:ext uri="{9D8B030D-6E8A-4147-A177-3AD203B41FA5}">
                      <a16:colId xmlns:a16="http://schemas.microsoft.com/office/drawing/2014/main" val="20004"/>
                    </a:ext>
                  </a:extLst>
                </a:gridCol>
                <a:gridCol w="853440">
                  <a:extLst>
                    <a:ext uri="{9D8B030D-6E8A-4147-A177-3AD203B41FA5}">
                      <a16:colId xmlns:a16="http://schemas.microsoft.com/office/drawing/2014/main" val="20005"/>
                    </a:ext>
                  </a:extLst>
                </a:gridCol>
                <a:gridCol w="735330">
                  <a:extLst>
                    <a:ext uri="{9D8B030D-6E8A-4147-A177-3AD203B41FA5}">
                      <a16:colId xmlns:a16="http://schemas.microsoft.com/office/drawing/2014/main" val="20006"/>
                    </a:ext>
                  </a:extLst>
                </a:gridCol>
                <a:gridCol w="736600">
                  <a:extLst>
                    <a:ext uri="{9D8B030D-6E8A-4147-A177-3AD203B41FA5}">
                      <a16:colId xmlns:a16="http://schemas.microsoft.com/office/drawing/2014/main" val="20007"/>
                    </a:ext>
                  </a:extLst>
                </a:gridCol>
                <a:gridCol w="735330">
                  <a:extLst>
                    <a:ext uri="{9D8B030D-6E8A-4147-A177-3AD203B41FA5}">
                      <a16:colId xmlns:a16="http://schemas.microsoft.com/office/drawing/2014/main" val="20008"/>
                    </a:ext>
                  </a:extLst>
                </a:gridCol>
                <a:gridCol w="735330">
                  <a:extLst>
                    <a:ext uri="{9D8B030D-6E8A-4147-A177-3AD203B41FA5}">
                      <a16:colId xmlns:a16="http://schemas.microsoft.com/office/drawing/2014/main" val="20009"/>
                    </a:ext>
                  </a:extLst>
                </a:gridCol>
              </a:tblGrid>
              <a:tr h="622935">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文法</a:t>
                      </a:r>
                    </a:p>
                    <a:p>
                      <a:pPr indent="0" algn="ctr">
                        <a:buNone/>
                      </a:pPr>
                      <a:r>
                        <a:rPr lang="zh-CN" sz="1600" b="0">
                          <a:solidFill>
                            <a:srgbClr val="000000"/>
                          </a:solidFill>
                          <a:latin typeface="Arial" panose="020B0604020202020204" pitchFamily="34" charset="0"/>
                          <a:ea typeface="宋体" panose="02010600030101010101" pitchFamily="2" charset="-122"/>
                        </a:rPr>
                        <a:t>解读</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词法</a:t>
                      </a:r>
                    </a:p>
                    <a:p>
                      <a:pPr indent="0" algn="ctr">
                        <a:buNone/>
                      </a:pPr>
                      <a:r>
                        <a:rPr lang="zh-CN" sz="1600" b="0">
                          <a:solidFill>
                            <a:srgbClr val="000000"/>
                          </a:solidFill>
                          <a:latin typeface="Arial" panose="020B0604020202020204" pitchFamily="34" charset="0"/>
                          <a:ea typeface="宋体" panose="02010600030101010101" pitchFamily="2" charset="-122"/>
                        </a:rPr>
                        <a:t>分析</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语法</a:t>
                      </a:r>
                    </a:p>
                    <a:p>
                      <a:pPr indent="0" algn="ctr">
                        <a:buNone/>
                      </a:pPr>
                      <a:r>
                        <a:rPr lang="zh-CN" sz="1600" b="0">
                          <a:solidFill>
                            <a:srgbClr val="000000"/>
                          </a:solidFill>
                          <a:latin typeface="Arial" panose="020B0604020202020204" pitchFamily="34" charset="0"/>
                          <a:ea typeface="宋体" panose="02010600030101010101" pitchFamily="2" charset="-122"/>
                        </a:rPr>
                        <a:t>分析</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altLang="en-US" sz="1600" b="0" dirty="0">
                          <a:solidFill>
                            <a:srgbClr val="000000"/>
                          </a:solidFill>
                          <a:latin typeface="Arial" panose="020B0604020202020204" pitchFamily="34" charset="0"/>
                          <a:ea typeface="宋体" panose="02010600030101010101" pitchFamily="2" charset="-122"/>
                        </a:rPr>
                        <a:t>语义</a:t>
                      </a:r>
                      <a:endParaRPr lang="en-US" altLang="zh-CN" sz="1600" b="0" dirty="0">
                        <a:solidFill>
                          <a:srgbClr val="000000"/>
                        </a:solidFill>
                        <a:latin typeface="Arial" panose="020B0604020202020204" pitchFamily="34" charset="0"/>
                        <a:ea typeface="宋体" panose="02010600030101010101" pitchFamily="2" charset="-122"/>
                      </a:endParaRPr>
                    </a:p>
                    <a:p>
                      <a:pPr indent="0" algn="ctr">
                        <a:buNone/>
                      </a:pPr>
                      <a:r>
                        <a:rPr lang="zh-CN" altLang="en-US" sz="1600" b="0" dirty="0">
                          <a:solidFill>
                            <a:srgbClr val="000000"/>
                          </a:solidFill>
                          <a:latin typeface="Arial" panose="020B0604020202020204" pitchFamily="34" charset="0"/>
                          <a:ea typeface="宋体" panose="02010600030101010101" pitchFamily="2" charset="-122"/>
                        </a:rPr>
                        <a:t>分析</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代码生成一</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代码生成二</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C00000"/>
                          </a:solidFill>
                          <a:latin typeface="Arial" panose="020B0604020202020204" pitchFamily="34" charset="0"/>
                          <a:ea typeface="宋体" panose="02010600030101010101" pitchFamily="2" charset="-122"/>
                        </a:rPr>
                        <a:t>代码</a:t>
                      </a:r>
                    </a:p>
                    <a:p>
                      <a:pPr indent="0" algn="ctr">
                        <a:buNone/>
                      </a:pPr>
                      <a:r>
                        <a:rPr lang="zh-CN" sz="1600" b="0">
                          <a:solidFill>
                            <a:srgbClr val="C00000"/>
                          </a:solidFill>
                          <a:latin typeface="Arial" panose="020B0604020202020204" pitchFamily="34" charset="0"/>
                          <a:ea typeface="宋体" panose="02010600030101010101" pitchFamily="2" charset="-122"/>
                        </a:rPr>
                        <a:t>优化</a:t>
                      </a:r>
                      <a:endParaRPr lang="zh-CN" altLang="en-US" sz="1600" b="0">
                        <a:solidFill>
                          <a:srgbClr val="C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文档</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期中</a:t>
                      </a:r>
                      <a:r>
                        <a:rPr lang="en-US" altLang="zh-CN" sz="1600" b="0">
                          <a:solidFill>
                            <a:srgbClr val="000000"/>
                          </a:solidFill>
                          <a:latin typeface="Arial" panose="020B0604020202020204" pitchFamily="34" charset="0"/>
                          <a:ea typeface="宋体" panose="02010600030101010101" pitchFamily="2" charset="-122"/>
                        </a:rPr>
                        <a:t> </a:t>
                      </a:r>
                    </a:p>
                    <a:p>
                      <a:pPr indent="0" algn="ctr">
                        <a:buNone/>
                      </a:pPr>
                      <a:r>
                        <a:rPr lang="zh-CN" sz="1600" b="0">
                          <a:solidFill>
                            <a:srgbClr val="000000"/>
                          </a:solidFill>
                          <a:latin typeface="Arial" panose="020B0604020202020204" pitchFamily="34" charset="0"/>
                          <a:ea typeface="宋体" panose="02010600030101010101" pitchFamily="2" charset="-122"/>
                        </a:rPr>
                        <a:t>考核</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600" b="0">
                          <a:solidFill>
                            <a:srgbClr val="000000"/>
                          </a:solidFill>
                          <a:latin typeface="Arial" panose="020B0604020202020204" pitchFamily="34" charset="0"/>
                          <a:ea typeface="宋体" panose="02010600030101010101" pitchFamily="2" charset="-122"/>
                        </a:rPr>
                        <a:t>期末</a:t>
                      </a:r>
                    </a:p>
                    <a:p>
                      <a:pPr indent="0" algn="ctr">
                        <a:buNone/>
                      </a:pPr>
                      <a:r>
                        <a:rPr lang="zh-CN" sz="1600" b="0">
                          <a:solidFill>
                            <a:srgbClr val="000000"/>
                          </a:solidFill>
                          <a:latin typeface="Arial" panose="020B0604020202020204" pitchFamily="34" charset="0"/>
                          <a:ea typeface="宋体" panose="02010600030101010101" pitchFamily="2" charset="-122"/>
                        </a:rPr>
                        <a:t>考核</a:t>
                      </a:r>
                      <a:endParaRPr lang="zh-CN" altLang="en-US" sz="1600" b="0">
                        <a:solidFill>
                          <a:srgbClr val="000000"/>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3095">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15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C00000"/>
                          </a:solidFill>
                          <a:latin typeface="Times New Roman" panose="02020603050405020304" pitchFamily="18" charset="0"/>
                          <a:cs typeface="Times New Roman" panose="02020603050405020304" pitchFamily="18" charset="0"/>
                        </a:rPr>
                        <a:t>15</a:t>
                      </a:r>
                      <a:endParaRPr lang="en-US" altLang="en-US" sz="1800" b="0">
                        <a:solidFill>
                          <a:srgbClr val="C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lnSpc>
                          <a:spcPct val="100000"/>
                        </a:lnSpc>
                        <a:buNone/>
                      </a:pPr>
                      <a:r>
                        <a:rPr lang="en-US" sz="1800" b="0">
                          <a:solidFill>
                            <a:srgbClr val="000000"/>
                          </a:solidFill>
                          <a:latin typeface="Times New Roman" panose="02020603050405020304" pitchFamily="18" charset="0"/>
                          <a:cs typeface="Times New Roman" panose="02020603050405020304" pitchFamily="18" charset="0"/>
                        </a:rPr>
                        <a:t>15</a:t>
                      </a:r>
                      <a:endParaRPr lang="en-US" altLang="en-US" sz="1800" b="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lnSpc>
                          <a:spcPct val="100000"/>
                        </a:lnSpc>
                        <a:buNone/>
                      </a:pPr>
                      <a:r>
                        <a:rPr lang="en-US" sz="1800" b="0" dirty="0">
                          <a:solidFill>
                            <a:srgbClr val="000000"/>
                          </a:solidFill>
                          <a:latin typeface="Times New Roman" panose="02020603050405020304" pitchFamily="18" charset="0"/>
                          <a:cs typeface="Times New Roman" panose="02020603050405020304" pitchFamily="18" charset="0"/>
                        </a:rPr>
                        <a:t>25</a:t>
                      </a:r>
                      <a:endParaRPr lang="en-US" altLang="en-US" sz="1800" b="0" dirty="0">
                        <a:solidFill>
                          <a:srgbClr val="000000"/>
                        </a:solidFill>
                        <a:latin typeface="Times New Roman" panose="02020603050405020304" pitchFamily="18" charset="0"/>
                        <a:cs typeface="Times New Roman" panose="02020603050405020304" pitchFamily="18"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 name="表格 2"/>
          <p:cNvGraphicFramePr/>
          <p:nvPr>
            <p:custDataLst>
              <p:tags r:id="rId2"/>
            </p:custDataLst>
          </p:nvPr>
        </p:nvGraphicFramePr>
        <p:xfrm>
          <a:off x="971550" y="4344670"/>
          <a:ext cx="4328795" cy="762000"/>
        </p:xfrm>
        <a:graphic>
          <a:graphicData uri="http://schemas.openxmlformats.org/drawingml/2006/table">
            <a:tbl>
              <a:tblPr firstRow="1">
                <a:tableStyleId>{124F7644-6236-4C23-84FB-1890D21A9387}</a:tableStyleId>
              </a:tblPr>
              <a:tblGrid>
                <a:gridCol w="1459230">
                  <a:extLst>
                    <a:ext uri="{9D8B030D-6E8A-4147-A177-3AD203B41FA5}">
                      <a16:colId xmlns:a16="http://schemas.microsoft.com/office/drawing/2014/main" val="20000"/>
                    </a:ext>
                  </a:extLst>
                </a:gridCol>
                <a:gridCol w="1824355">
                  <a:extLst>
                    <a:ext uri="{9D8B030D-6E8A-4147-A177-3AD203B41FA5}">
                      <a16:colId xmlns:a16="http://schemas.microsoft.com/office/drawing/2014/main" val="20001"/>
                    </a:ext>
                  </a:extLst>
                </a:gridCol>
                <a:gridCol w="1045210">
                  <a:extLst>
                    <a:ext uri="{9D8B030D-6E8A-4147-A177-3AD203B41FA5}">
                      <a16:colId xmlns:a16="http://schemas.microsoft.com/office/drawing/2014/main" val="20002"/>
                    </a:ext>
                  </a:extLst>
                </a:gridCol>
              </a:tblGrid>
              <a:tr h="381000">
                <a:tc>
                  <a:txBody>
                    <a:bodyPr/>
                    <a:lstStyle/>
                    <a:p>
                      <a:pPr algn="ctr">
                        <a:buClrTx/>
                        <a:buSzTx/>
                        <a:buFontTx/>
                        <a:buNone/>
                      </a:pPr>
                      <a:r>
                        <a:rPr lang="zh-CN" sz="1600" b="0">
                          <a:solidFill>
                            <a:srgbClr val="000000"/>
                          </a:solidFill>
                          <a:latin typeface="Arial" panose="020B0604020202020204" pitchFamily="34" charset="0"/>
                          <a:ea typeface="宋体" panose="02010600030101010101" pitchFamily="2" charset="-122"/>
                        </a:rPr>
                        <a:t>竞速排序作业</a:t>
                      </a:r>
                    </a:p>
                  </a:txBody>
                  <a:tcPr/>
                </a:tc>
                <a:tc>
                  <a:txBody>
                    <a:bodyPr/>
                    <a:lstStyle/>
                    <a:p>
                      <a:pPr algn="ctr">
                        <a:buClrTx/>
                        <a:buSzTx/>
                        <a:buFontTx/>
                        <a:buNone/>
                      </a:pPr>
                      <a:r>
                        <a:rPr lang="zh-CN" sz="1600" b="0">
                          <a:solidFill>
                            <a:srgbClr val="000000"/>
                          </a:solidFill>
                          <a:latin typeface="Arial" panose="020B0604020202020204" pitchFamily="34" charset="0"/>
                          <a:ea typeface="宋体" panose="02010600030101010101" pitchFamily="2" charset="-122"/>
                        </a:rPr>
                        <a:t>期末考核优化题目</a:t>
                      </a:r>
                    </a:p>
                  </a:txBody>
                  <a:tcPr/>
                </a:tc>
                <a:tc>
                  <a:txBody>
                    <a:bodyPr/>
                    <a:lstStyle/>
                    <a:p>
                      <a:pPr algn="ctr">
                        <a:buClrTx/>
                        <a:buSzTx/>
                        <a:buFontTx/>
                        <a:buNone/>
                      </a:pPr>
                      <a:r>
                        <a:rPr lang="zh-CN" sz="1600" b="0">
                          <a:solidFill>
                            <a:srgbClr val="000000"/>
                          </a:solidFill>
                          <a:latin typeface="Arial" panose="020B0604020202020204" pitchFamily="34" charset="0"/>
                          <a:ea typeface="宋体" panose="02010600030101010101" pitchFamily="2" charset="-122"/>
                        </a:rPr>
                        <a:t>优化文章</a:t>
                      </a:r>
                    </a:p>
                  </a:txBody>
                  <a:tcPr/>
                </a:tc>
                <a:extLst>
                  <a:ext uri="{0D108BD9-81ED-4DB2-BD59-A6C34878D82A}">
                    <a16:rowId xmlns:a16="http://schemas.microsoft.com/office/drawing/2014/main" val="10000"/>
                  </a:ext>
                </a:extLst>
              </a:tr>
              <a:tr h="381000">
                <a:tc>
                  <a:txBody>
                    <a:bodyPr/>
                    <a:lstStyle/>
                    <a:p>
                      <a:pPr algn="ctr">
                        <a:buClrTx/>
                        <a:buSzTx/>
                        <a:buFontTx/>
                        <a:buNone/>
                      </a:pPr>
                      <a:r>
                        <a:rPr lang="en-US">
                          <a:solidFill>
                            <a:srgbClr val="000000"/>
                          </a:solidFill>
                          <a:latin typeface="Times New Roman" panose="02020603050405020304" pitchFamily="18" charset="0"/>
                          <a:cs typeface="Times New Roman" panose="02020603050405020304" pitchFamily="18" charset="0"/>
                        </a:rPr>
                        <a:t>10</a:t>
                      </a:r>
                    </a:p>
                  </a:txBody>
                  <a:tcPr/>
                </a:tc>
                <a:tc>
                  <a:txBody>
                    <a:bodyPr/>
                    <a:lstStyle/>
                    <a:p>
                      <a:pPr algn="ctr">
                        <a:buClrTx/>
                        <a:buSzTx/>
                        <a:buFontTx/>
                        <a:buNone/>
                      </a:pPr>
                      <a:r>
                        <a:rPr lang="en-US">
                          <a:solidFill>
                            <a:srgbClr val="000000"/>
                          </a:solidFill>
                          <a:latin typeface="Times New Roman" panose="02020603050405020304" pitchFamily="18" charset="0"/>
                          <a:cs typeface="Times New Roman" panose="02020603050405020304" pitchFamily="18" charset="0"/>
                        </a:rPr>
                        <a:t>3</a:t>
                      </a:r>
                    </a:p>
                  </a:txBody>
                  <a:tcPr/>
                </a:tc>
                <a:tc>
                  <a:txBody>
                    <a:bodyPr/>
                    <a:lstStyle/>
                    <a:p>
                      <a:pPr algn="ctr">
                        <a:buClrTx/>
                        <a:buSzTx/>
                        <a:buFontTx/>
                        <a:buNone/>
                      </a:pPr>
                      <a:r>
                        <a:rPr lang="en-US">
                          <a:solidFill>
                            <a:srgbClr val="000000"/>
                          </a:solidFill>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10001"/>
                  </a:ext>
                </a:extLst>
              </a:tr>
            </a:tbl>
          </a:graphicData>
        </a:graphic>
      </p:graphicFrame>
      <p:sp>
        <p:nvSpPr>
          <p:cNvPr id="5" name="文本框 4"/>
          <p:cNvSpPr txBox="1"/>
          <p:nvPr>
            <p:custDataLst>
              <p:tags r:id="rId3"/>
            </p:custDataLst>
          </p:nvPr>
        </p:nvSpPr>
        <p:spPr>
          <a:xfrm>
            <a:off x="827405" y="2084070"/>
            <a:ext cx="4313555" cy="368300"/>
          </a:xfrm>
          <a:prstGeom prst="rect">
            <a:avLst/>
          </a:prstGeom>
          <a:noFill/>
          <a:ln>
            <a:noFill/>
          </a:ln>
        </p:spPr>
        <p:txBody>
          <a:bodyPr wrap="square" rtlCol="0">
            <a:spAutoFit/>
          </a:bodyPr>
          <a:lstStyle/>
          <a:p>
            <a:r>
              <a:rPr lang="zh-CN" altLang="en-US" dirty="0"/>
              <a:t>实验成绩的</a:t>
            </a:r>
            <a:r>
              <a:rPr lang="en-US" altLang="zh-CN" dirty="0"/>
              <a:t>100</a:t>
            </a:r>
            <a:r>
              <a:rPr lang="zh-CN" altLang="en-US" dirty="0"/>
              <a:t>分由以下部分组成：</a:t>
            </a:r>
          </a:p>
        </p:txBody>
      </p:sp>
      <p:sp>
        <p:nvSpPr>
          <p:cNvPr id="6" name="文本框 5"/>
          <p:cNvSpPr txBox="1"/>
          <p:nvPr>
            <p:custDataLst>
              <p:tags r:id="rId4"/>
            </p:custDataLst>
          </p:nvPr>
        </p:nvSpPr>
        <p:spPr>
          <a:xfrm>
            <a:off x="827405" y="3933190"/>
            <a:ext cx="4313555" cy="368300"/>
          </a:xfrm>
          <a:prstGeom prst="rect">
            <a:avLst/>
          </a:prstGeom>
          <a:noFill/>
          <a:ln>
            <a:noFill/>
          </a:ln>
        </p:spPr>
        <p:txBody>
          <a:bodyPr wrap="square" rtlCol="0">
            <a:spAutoFit/>
          </a:bodyPr>
          <a:lstStyle/>
          <a:p>
            <a:r>
              <a:rPr lang="zh-CN" altLang="en-US" dirty="0"/>
              <a:t>其中代码优化的</a:t>
            </a:r>
            <a:r>
              <a:rPr lang="en-US" altLang="zh-CN" dirty="0"/>
              <a:t>15</a:t>
            </a:r>
            <a:r>
              <a:rPr lang="zh-CN" altLang="en-US" dirty="0"/>
              <a:t>分由以下部分组成：</a:t>
            </a:r>
          </a:p>
        </p:txBody>
      </p:sp>
      <p:graphicFrame>
        <p:nvGraphicFramePr>
          <p:cNvPr id="8" name="表格 7"/>
          <p:cNvGraphicFramePr/>
          <p:nvPr>
            <p:custDataLst>
              <p:tags r:id="rId5"/>
            </p:custDataLst>
          </p:nvPr>
        </p:nvGraphicFramePr>
        <p:xfrm>
          <a:off x="984250" y="5661660"/>
          <a:ext cx="2097405" cy="762000"/>
        </p:xfrm>
        <a:graphic>
          <a:graphicData uri="http://schemas.openxmlformats.org/drawingml/2006/table">
            <a:tbl>
              <a:tblPr firstRow="1">
                <a:tableStyleId>{124F7644-6236-4C23-84FB-1890D21A9387}</a:tableStyleId>
              </a:tblPr>
              <a:tblGrid>
                <a:gridCol w="1043305">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tblGrid>
              <a:tr h="381000">
                <a:tc>
                  <a:txBody>
                    <a:bodyPr/>
                    <a:lstStyle/>
                    <a:p>
                      <a:pPr algn="ctr">
                        <a:buClrTx/>
                        <a:buSzTx/>
                        <a:buFontTx/>
                        <a:buNone/>
                      </a:pPr>
                      <a:r>
                        <a:rPr lang="zh-CN" sz="1600" b="0">
                          <a:solidFill>
                            <a:srgbClr val="000000"/>
                          </a:solidFill>
                          <a:latin typeface="Arial" panose="020B0604020202020204" pitchFamily="34" charset="0"/>
                          <a:ea typeface="宋体" panose="02010600030101010101" pitchFamily="2" charset="-122"/>
                        </a:rPr>
                        <a:t>设计文档</a:t>
                      </a:r>
                    </a:p>
                  </a:txBody>
                  <a:tcPr/>
                </a:tc>
                <a:tc>
                  <a:txBody>
                    <a:bodyPr/>
                    <a:lstStyle/>
                    <a:p>
                      <a:pPr algn="ctr">
                        <a:buClrTx/>
                        <a:buSzTx/>
                        <a:buFontTx/>
                        <a:buNone/>
                      </a:pPr>
                      <a:r>
                        <a:rPr lang="zh-CN" sz="1600" b="0">
                          <a:solidFill>
                            <a:srgbClr val="000000"/>
                          </a:solidFill>
                          <a:latin typeface="Arial" panose="020B0604020202020204" pitchFamily="34" charset="0"/>
                          <a:ea typeface="宋体" panose="02010600030101010101" pitchFamily="2" charset="-122"/>
                        </a:rPr>
                        <a:t>总结感想</a:t>
                      </a:r>
                    </a:p>
                  </a:txBody>
                  <a:tcPr/>
                </a:tc>
                <a:extLst>
                  <a:ext uri="{0D108BD9-81ED-4DB2-BD59-A6C34878D82A}">
                    <a16:rowId xmlns:a16="http://schemas.microsoft.com/office/drawing/2014/main" val="10000"/>
                  </a:ext>
                </a:extLst>
              </a:tr>
              <a:tr h="381000">
                <a:tc>
                  <a:txBody>
                    <a:bodyPr/>
                    <a:lstStyle/>
                    <a:p>
                      <a:pPr algn="ctr">
                        <a:buClrTx/>
                        <a:buSzTx/>
                        <a:buFontTx/>
                        <a:buNone/>
                      </a:pPr>
                      <a:r>
                        <a:rPr lang="en-US">
                          <a:solidFill>
                            <a:srgbClr val="000000"/>
                          </a:solidFill>
                          <a:latin typeface="Times New Roman" panose="02020603050405020304" pitchFamily="18" charset="0"/>
                          <a:cs typeface="Times New Roman" panose="02020603050405020304" pitchFamily="18" charset="0"/>
                        </a:rPr>
                        <a:t>3.5</a:t>
                      </a:r>
                    </a:p>
                  </a:txBody>
                  <a:tcPr/>
                </a:tc>
                <a:tc>
                  <a:txBody>
                    <a:bodyPr/>
                    <a:lstStyle/>
                    <a:p>
                      <a:pPr algn="ctr">
                        <a:buClrTx/>
                        <a:buSzTx/>
                        <a:buFontTx/>
                        <a:buNone/>
                      </a:pPr>
                      <a:r>
                        <a:rPr lang="en-US">
                          <a:solidFill>
                            <a:srgbClr val="000000"/>
                          </a:solidFill>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10001"/>
                  </a:ext>
                </a:extLst>
              </a:tr>
            </a:tbl>
          </a:graphicData>
        </a:graphic>
      </p:graphicFrame>
      <p:sp>
        <p:nvSpPr>
          <p:cNvPr id="9" name="文本框 8"/>
          <p:cNvSpPr txBox="1"/>
          <p:nvPr>
            <p:custDataLst>
              <p:tags r:id="rId6"/>
            </p:custDataLst>
          </p:nvPr>
        </p:nvSpPr>
        <p:spPr>
          <a:xfrm>
            <a:off x="971550" y="5293360"/>
            <a:ext cx="3245485" cy="368300"/>
          </a:xfrm>
          <a:prstGeom prst="rect">
            <a:avLst/>
          </a:prstGeom>
          <a:noFill/>
          <a:ln>
            <a:noFill/>
          </a:ln>
        </p:spPr>
        <p:txBody>
          <a:bodyPr wrap="square" rtlCol="0">
            <a:spAutoFit/>
          </a:bodyPr>
          <a:lstStyle/>
          <a:p>
            <a:r>
              <a:rPr lang="en-US" altLang="zh-CN" dirty="0"/>
              <a:t>  </a:t>
            </a:r>
            <a:r>
              <a:rPr lang="zh-CN" altLang="en-US" dirty="0"/>
              <a:t>文档的</a:t>
            </a:r>
            <a:r>
              <a:rPr lang="en-US" altLang="zh-CN" dirty="0"/>
              <a:t>5</a:t>
            </a:r>
            <a:r>
              <a:rPr lang="zh-CN" altLang="en-US" dirty="0"/>
              <a:t>分由以下部分组成：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关于分数的注意事项</a:t>
            </a:r>
          </a:p>
        </p:txBody>
      </p:sp>
      <p:sp>
        <p:nvSpPr>
          <p:cNvPr id="7" name="文本框 6"/>
          <p:cNvSpPr txBox="1"/>
          <p:nvPr/>
        </p:nvSpPr>
        <p:spPr>
          <a:xfrm>
            <a:off x="696595" y="2205355"/>
            <a:ext cx="7751445" cy="3893117"/>
          </a:xfrm>
          <a:prstGeom prst="rect">
            <a:avLst/>
          </a:prstGeom>
          <a:noFill/>
          <a:ln>
            <a:noFill/>
          </a:ln>
        </p:spPr>
        <p:txBody>
          <a:bodyPr wrap="square" rtlCol="0">
            <a:spAutoFit/>
          </a:bodyPr>
          <a:lstStyle/>
          <a:p>
            <a:pPr marL="285750" indent="-285750">
              <a:lnSpc>
                <a:spcPct val="150000"/>
              </a:lnSpc>
              <a:buFont typeface="Wingdings" panose="05000000000000000000" charset="0"/>
              <a:buChar char="n"/>
            </a:pPr>
            <a:r>
              <a:rPr lang="zh-CN" altLang="en-US" sz="2400" dirty="0">
                <a:solidFill>
                  <a:srgbClr val="C00000"/>
                </a:solidFill>
              </a:rPr>
              <a:t>只有当代码生成二作业、竞速排序作业和期末考核优化题目都提交了生成</a:t>
            </a:r>
            <a:r>
              <a:rPr lang="en-US" altLang="zh-CN" sz="2400" dirty="0">
                <a:solidFill>
                  <a:srgbClr val="C00000"/>
                </a:solidFill>
              </a:rPr>
              <a:t>MIPS</a:t>
            </a:r>
            <a:r>
              <a:rPr lang="zh-CN" altLang="en-US" sz="2400" dirty="0">
                <a:solidFill>
                  <a:srgbClr val="C00000"/>
                </a:solidFill>
              </a:rPr>
              <a:t>的版本，才能得到代码优化的分数。上述</a:t>
            </a:r>
            <a:r>
              <a:rPr lang="en-US" altLang="zh-CN" sz="2400" dirty="0">
                <a:solidFill>
                  <a:srgbClr val="C00000"/>
                </a:solidFill>
              </a:rPr>
              <a:t>3</a:t>
            </a:r>
            <a:r>
              <a:rPr lang="zh-CN" altLang="en-US" sz="2400" dirty="0">
                <a:solidFill>
                  <a:srgbClr val="C00000"/>
                </a:solidFill>
              </a:rPr>
              <a:t>项缺少任一项都不能得到代码优化的分数，这种情况下作业的最高分是</a:t>
            </a:r>
            <a:r>
              <a:rPr lang="en-US" altLang="zh-CN" sz="2400" dirty="0">
                <a:solidFill>
                  <a:srgbClr val="C00000"/>
                </a:solidFill>
              </a:rPr>
              <a:t>85</a:t>
            </a:r>
            <a:r>
              <a:rPr lang="zh-CN" altLang="en-US" sz="2400" dirty="0">
                <a:solidFill>
                  <a:srgbClr val="C00000"/>
                </a:solidFill>
              </a:rPr>
              <a:t>分</a:t>
            </a:r>
          </a:p>
          <a:p>
            <a:pPr marL="285750" indent="-285750">
              <a:lnSpc>
                <a:spcPct val="150000"/>
              </a:lnSpc>
              <a:buFont typeface="Wingdings" panose="05000000000000000000" charset="0"/>
              <a:buChar char="n"/>
            </a:pPr>
            <a:r>
              <a:rPr lang="zh-CN" altLang="en-US" sz="2400" dirty="0">
                <a:solidFill>
                  <a:srgbClr val="C00000"/>
                </a:solidFill>
              </a:rPr>
              <a:t>竞速排序作业中的题目</a:t>
            </a:r>
            <a:r>
              <a:rPr lang="en-US" altLang="zh-CN" sz="2400" dirty="0">
                <a:solidFill>
                  <a:srgbClr val="C00000"/>
                </a:solidFill>
              </a:rPr>
              <a:t>“</a:t>
            </a:r>
            <a:r>
              <a:rPr lang="zh-CN" altLang="en-US" sz="2400" dirty="0">
                <a:solidFill>
                  <a:srgbClr val="C00000"/>
                </a:solidFill>
              </a:rPr>
              <a:t>优化前后中间代码目标代码提交</a:t>
            </a:r>
            <a:r>
              <a:rPr lang="en-US" altLang="zh-CN" sz="2400" dirty="0">
                <a:solidFill>
                  <a:srgbClr val="C00000"/>
                </a:solidFill>
              </a:rPr>
              <a:t>”</a:t>
            </a:r>
            <a:r>
              <a:rPr lang="zh-CN" altLang="en-US" sz="2400" dirty="0">
                <a:solidFill>
                  <a:srgbClr val="C00000"/>
                </a:solidFill>
              </a:rPr>
              <a:t>，满分是</a:t>
            </a:r>
            <a:r>
              <a:rPr lang="en-US" altLang="zh-CN" sz="2400" dirty="0">
                <a:solidFill>
                  <a:srgbClr val="C00000"/>
                </a:solidFill>
              </a:rPr>
              <a:t>0</a:t>
            </a:r>
            <a:r>
              <a:rPr lang="zh-CN" altLang="en-US" sz="2400" dirty="0">
                <a:solidFill>
                  <a:srgbClr val="C00000"/>
                </a:solidFill>
              </a:rPr>
              <a:t>分，发现问题会扣分</a:t>
            </a:r>
          </a:p>
          <a:p>
            <a:pPr marL="285750" indent="-285750">
              <a:lnSpc>
                <a:spcPct val="150000"/>
              </a:lnSpc>
              <a:buFont typeface="Wingdings" panose="05000000000000000000" charset="0"/>
              <a:buChar char="n"/>
            </a:pPr>
            <a:r>
              <a:rPr lang="zh-CN" altLang="en-US" sz="2400" dirty="0">
                <a:solidFill>
                  <a:srgbClr val="C00000"/>
                </a:solidFill>
              </a:rPr>
              <a:t>现场答辩的满分是</a:t>
            </a:r>
            <a:r>
              <a:rPr lang="en-US" altLang="zh-CN" sz="2400" dirty="0">
                <a:solidFill>
                  <a:srgbClr val="C00000"/>
                </a:solidFill>
              </a:rPr>
              <a:t>0</a:t>
            </a:r>
            <a:r>
              <a:rPr lang="zh-CN" altLang="en-US" sz="2400" dirty="0">
                <a:solidFill>
                  <a:srgbClr val="C00000"/>
                </a:solidFill>
              </a:rPr>
              <a:t>分，发现问题会扣分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vert="horz" wrap="square" lIns="91440" tIns="45720" rIns="91440" bIns="45720" anchor="b" anchorCtr="0"/>
          <a:lstStyle/>
          <a:p>
            <a:r>
              <a:rPr lang="zh-CN" altLang="en-US" dirty="0"/>
              <a:t>文法解读</a:t>
            </a:r>
          </a:p>
        </p:txBody>
      </p:sp>
      <p:sp>
        <p:nvSpPr>
          <p:cNvPr id="31747" name="内容占位符 2"/>
          <p:cNvSpPr>
            <a:spLocks noGrp="1" noChangeArrowheads="1"/>
          </p:cNvSpPr>
          <p:nvPr>
            <p:ph idx="1"/>
          </p:nvPr>
        </p:nvSpPr>
        <p:spPr>
          <a:xfrm>
            <a:off x="1183005" y="2018030"/>
            <a:ext cx="7926705" cy="45053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仔细阅读文法，对文法中每条规则所定义的语法成分进行分析，了解其作用、限定条件、组合情况和可能产生的出句子</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编写</a:t>
            </a:r>
            <a:r>
              <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6</a:t>
            </a:r>
            <a:r>
              <a:rPr kumimoji="0" lang="zh-CN"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个测试程序，要求测试程序能覆盖所有语法规则与常见的组合</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每个测试程序有多行输出结果</a:t>
            </a:r>
          </a:p>
          <a:p>
            <a:pPr marL="800100" marR="0" lvl="1"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第一条写语句请输出自己的学号</a:t>
            </a:r>
          </a:p>
          <a:p>
            <a:pPr marL="800100" marR="0" lvl="1"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en-US" altLang="zh-CN" sz="20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其他写语句需尽量反映出程序定义的数据及其运算结果</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文档中列出的需覆盖项只是最基本的</a:t>
            </a:r>
            <a:endParaRPr kumimoji="0" lang="zh-CN"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zh-CN"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vert="horz" wrap="square" lIns="91440" tIns="45720" rIns="91440" bIns="45720" anchor="b" anchorCtr="0"/>
          <a:lstStyle/>
          <a:p>
            <a:r>
              <a:rPr lang="zh-CN" altLang="en-US" dirty="0"/>
              <a:t>文法解读</a:t>
            </a:r>
          </a:p>
        </p:txBody>
      </p:sp>
      <p:sp>
        <p:nvSpPr>
          <p:cNvPr id="3" name="内容占位符 2"/>
          <p:cNvSpPr>
            <a:spLocks noGrp="1"/>
          </p:cNvSpPr>
          <p:nvPr>
            <p:ph idx="1"/>
          </p:nvPr>
        </p:nvSpPr>
        <p:spPr>
          <a:xfrm>
            <a:off x="1182688" y="2017713"/>
            <a:ext cx="7277744" cy="3571527"/>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请提供每个测试程序的输入数据</a:t>
            </a:r>
            <a:r>
              <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有</a:t>
            </a:r>
            <a:r>
              <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&lt;</a:t>
            </a: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读语句</a:t>
            </a:r>
            <a:r>
              <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&gt;</a:t>
            </a: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则提供，否则只需提供空的输入文件</a:t>
            </a:r>
            <a:r>
              <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、输出数据（若输入输出数据没有正确提供，评测时会报错），放到文件中，按下述要求为文件命名：</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   测试程序及对应的输入输出数据文件分别为  </a:t>
            </a:r>
          </a:p>
          <a:p>
            <a:pPr marL="0" indent="0" algn="l" latinLnBrk="1">
              <a:buNone/>
            </a:pPr>
            <a:r>
              <a:rPr kumimoji="0" lang="zh-CN" altLang="en-US"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    </a:t>
            </a:r>
            <a:r>
              <a:rPr lang="en-US" altLang="zh-CN" sz="1600" b="0" i="0" dirty="0">
                <a:solidFill>
                  <a:srgbClr val="333333"/>
                </a:solidFill>
                <a:effectLst/>
                <a:latin typeface="Helvetica Neue"/>
              </a:rPr>
              <a:t>        testfile1.txt   input1.txt   output1.txt</a:t>
            </a:r>
          </a:p>
          <a:p>
            <a:pPr marL="0" indent="0" algn="l" latinLnBrk="1">
              <a:buNone/>
            </a:pPr>
            <a:r>
              <a:rPr lang="en-US" altLang="zh-CN" sz="1600" b="0" i="0" dirty="0">
                <a:solidFill>
                  <a:srgbClr val="333333"/>
                </a:solidFill>
                <a:effectLst/>
                <a:latin typeface="Helvetica Neue"/>
              </a:rPr>
              <a:t>                testfile2.txt   input2.txt   output2.txt</a:t>
            </a:r>
          </a:p>
          <a:p>
            <a:pPr marL="0" indent="0" algn="l" latinLnBrk="1">
              <a:buNone/>
            </a:pPr>
            <a:r>
              <a:rPr lang="en-US" altLang="zh-CN" sz="1600" b="0" i="0" dirty="0">
                <a:solidFill>
                  <a:srgbClr val="333333"/>
                </a:solidFill>
                <a:effectLst/>
                <a:latin typeface="Helvetica Neue"/>
              </a:rPr>
              <a:t>                                ...</a:t>
            </a:r>
          </a:p>
          <a:p>
            <a:pPr marL="0" indent="0" algn="l" latinLnBrk="1">
              <a:buNone/>
            </a:pPr>
            <a:r>
              <a:rPr lang="en-US" altLang="zh-CN" sz="1600" b="0" i="0" dirty="0">
                <a:solidFill>
                  <a:srgbClr val="333333"/>
                </a:solidFill>
                <a:effectLst/>
                <a:latin typeface="Helvetica Neue"/>
              </a:rPr>
              <a:t>                testfile6.txt   input6.txt   output6.txt</a:t>
            </a:r>
            <a:endParaRPr kumimoji="0" lang="zh-CN" altLang="en-US"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vert="horz" wrap="square" lIns="91440" tIns="45720" rIns="91440" bIns="45720" anchor="b" anchorCtr="0"/>
          <a:lstStyle/>
          <a:p>
            <a:r>
              <a:rPr lang="zh-CN" altLang="en-US" dirty="0"/>
              <a:t>文法解读</a:t>
            </a:r>
          </a:p>
        </p:txBody>
      </p:sp>
      <p:sp>
        <p:nvSpPr>
          <p:cNvPr id="28675" name="内容占位符 2"/>
          <p:cNvSpPr>
            <a:spLocks noGrp="1"/>
          </p:cNvSpPr>
          <p:nvPr>
            <p:ph idx="1"/>
          </p:nvPr>
        </p:nvSpPr>
        <p:spPr>
          <a:xfrm>
            <a:off x="1183005" y="2018030"/>
            <a:ext cx="7772400" cy="1607185"/>
          </a:xfrm>
        </p:spPr>
        <p:txBody>
          <a:bodyPr vert="horz" wrap="square" lIns="91440" tIns="45720" rIns="91440" bIns="45720" anchor="t" anchorCtr="0"/>
          <a:lstStyle/>
          <a:p>
            <a:pPr>
              <a:lnSpc>
                <a:spcPct val="110000"/>
              </a:lnSpc>
            </a:pPr>
            <a:r>
              <a:rPr lang="en-US" altLang="zh-CN" sz="2400" dirty="0"/>
              <a:t>2</a:t>
            </a:r>
            <a:r>
              <a:rPr lang="zh-CN" altLang="en-US" sz="2400" dirty="0"/>
              <a:t>个用例需包含</a:t>
            </a:r>
            <a:r>
              <a:rPr lang="en-US" altLang="zh-CN" sz="2400" dirty="0"/>
              <a:t>A</a:t>
            </a:r>
            <a:r>
              <a:rPr lang="zh-CN" altLang="en-US" sz="2400" dirty="0"/>
              <a:t>级规则</a:t>
            </a:r>
            <a:endParaRPr lang="en-US" altLang="zh-CN" sz="2400" dirty="0"/>
          </a:p>
          <a:p>
            <a:pPr>
              <a:lnSpc>
                <a:spcPct val="110000"/>
              </a:lnSpc>
            </a:pPr>
            <a:r>
              <a:rPr lang="en-US" altLang="zh-CN" sz="2400" dirty="0">
                <a:sym typeface="+mn-ea"/>
              </a:rPr>
              <a:t>2</a:t>
            </a:r>
            <a:r>
              <a:rPr lang="zh-CN" altLang="en-US" sz="2400" dirty="0">
                <a:sym typeface="+mn-ea"/>
              </a:rPr>
              <a:t>个用例</a:t>
            </a:r>
            <a:r>
              <a:rPr lang="zh-CN" altLang="en-US" sz="2400" dirty="0"/>
              <a:t>需包含</a:t>
            </a:r>
            <a:r>
              <a:rPr lang="en-US" altLang="zh-CN" sz="2400" dirty="0"/>
              <a:t>B</a:t>
            </a:r>
            <a:r>
              <a:rPr lang="zh-CN" altLang="en-US" sz="2400" dirty="0"/>
              <a:t>级规则，不能含有</a:t>
            </a:r>
            <a:r>
              <a:rPr lang="en-US" altLang="zh-CN" sz="2400" dirty="0"/>
              <a:t>A</a:t>
            </a:r>
            <a:r>
              <a:rPr lang="zh-CN" altLang="en-US" sz="2400" dirty="0"/>
              <a:t>级规则</a:t>
            </a:r>
            <a:endParaRPr lang="en-US" altLang="zh-CN" sz="2400" dirty="0"/>
          </a:p>
          <a:p>
            <a:pPr>
              <a:lnSpc>
                <a:spcPct val="110000"/>
              </a:lnSpc>
            </a:pPr>
            <a:r>
              <a:rPr lang="en-US" altLang="zh-CN" sz="2400" dirty="0">
                <a:sym typeface="+mn-ea"/>
              </a:rPr>
              <a:t>2</a:t>
            </a:r>
            <a:r>
              <a:rPr lang="zh-CN" altLang="en-US" sz="2400" dirty="0">
                <a:sym typeface="+mn-ea"/>
              </a:rPr>
              <a:t>个用例需</a:t>
            </a:r>
            <a:r>
              <a:rPr lang="zh-CN" altLang="en-US" sz="2400" dirty="0"/>
              <a:t>包含</a:t>
            </a:r>
            <a:r>
              <a:rPr lang="en-US" altLang="zh-CN" sz="2400" dirty="0"/>
              <a:t>C</a:t>
            </a:r>
            <a:r>
              <a:rPr lang="zh-CN" altLang="en-US" sz="2400" dirty="0"/>
              <a:t>级规则，不能含有</a:t>
            </a:r>
            <a:r>
              <a:rPr lang="en-US" altLang="zh-CN" sz="2400" dirty="0"/>
              <a:t>A</a:t>
            </a:r>
            <a:r>
              <a:rPr lang="zh-CN" altLang="en-US" sz="2400" dirty="0"/>
              <a:t>、</a:t>
            </a:r>
            <a:r>
              <a:rPr lang="en-US" altLang="zh-CN" sz="2400" dirty="0"/>
              <a:t>B</a:t>
            </a:r>
            <a:r>
              <a:rPr lang="zh-CN" altLang="en-US" sz="2400" dirty="0"/>
              <a:t>级的规则</a:t>
            </a:r>
          </a:p>
        </p:txBody>
      </p:sp>
      <p:pic>
        <p:nvPicPr>
          <p:cNvPr id="3" name="图片 2"/>
          <p:cNvPicPr>
            <a:picLocks noChangeAspect="1"/>
          </p:cNvPicPr>
          <p:nvPr/>
        </p:nvPicPr>
        <p:blipFill>
          <a:blip r:embed="rId2"/>
          <a:stretch>
            <a:fillRect/>
          </a:stretch>
        </p:blipFill>
        <p:spPr>
          <a:xfrm>
            <a:off x="252095" y="4077335"/>
            <a:ext cx="4194810" cy="2192655"/>
          </a:xfrm>
          <a:prstGeom prst="rect">
            <a:avLst/>
          </a:prstGeom>
        </p:spPr>
      </p:pic>
      <p:pic>
        <p:nvPicPr>
          <p:cNvPr id="4" name="图片 3"/>
          <p:cNvPicPr>
            <a:picLocks noChangeAspect="1"/>
          </p:cNvPicPr>
          <p:nvPr/>
        </p:nvPicPr>
        <p:blipFill>
          <a:blip r:embed="rId3"/>
          <a:stretch>
            <a:fillRect/>
          </a:stretch>
        </p:blipFill>
        <p:spPr>
          <a:xfrm>
            <a:off x="4644390" y="4220845"/>
            <a:ext cx="4185285" cy="20021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vert="horz" wrap="square" lIns="91440" tIns="45720" rIns="91440" bIns="45720" anchor="b" anchorCtr="0"/>
          <a:lstStyle/>
          <a:p>
            <a:r>
              <a:rPr lang="zh-CN" altLang="en-US" dirty="0"/>
              <a:t>词法分析</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有统一的类别码定义</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altLang="zh-CN"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pic>
        <p:nvPicPr>
          <p:cNvPr id="2" name="图片 1"/>
          <p:cNvPicPr>
            <a:picLocks noChangeAspect="1"/>
          </p:cNvPicPr>
          <p:nvPr/>
        </p:nvPicPr>
        <p:blipFill>
          <a:blip r:embed="rId3"/>
          <a:stretch>
            <a:fillRect/>
          </a:stretch>
        </p:blipFill>
        <p:spPr>
          <a:xfrm>
            <a:off x="1043940" y="2637155"/>
            <a:ext cx="7309485" cy="3965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vert="horz" wrap="square" lIns="91440" tIns="45720" rIns="91440" bIns="45720" anchor="b" anchorCtr="0"/>
          <a:lstStyle/>
          <a:p>
            <a:r>
              <a:rPr lang="zh-CN" altLang="en-US" dirty="0"/>
              <a:t>词法分析</a:t>
            </a:r>
          </a:p>
        </p:txBody>
      </p:sp>
      <p:sp>
        <p:nvSpPr>
          <p:cNvPr id="5" name="内容占位符 4"/>
          <p:cNvSpPr>
            <a:spLocks noGrp="1"/>
          </p:cNvSpPr>
          <p:nvPr>
            <p:ph idx="1"/>
          </p:nvPr>
        </p:nvSpPr>
        <p:spPr>
          <a:xfrm>
            <a:off x="1042988" y="1988503"/>
            <a:ext cx="7772400" cy="1926902"/>
          </a:xfrm>
        </p:spPr>
        <p:txBody>
          <a:bodyPr/>
          <a:lstStyle/>
          <a:p>
            <a:pPr marR="0" lvl="0" algn="l" defTabSz="914400" rtl="0" eaLnBrk="0" fontAlgn="base" latinLnBrk="0" hangingPunct="0">
              <a:lnSpc>
                <a:spcPct val="100000"/>
              </a:lnSpc>
              <a:spcBef>
                <a:spcPct val="20000"/>
              </a:spcBef>
              <a:spcAft>
                <a:spcPct val="0"/>
              </a:spcAft>
              <a:buClr>
                <a:schemeClr val="folHlink"/>
              </a:buClr>
              <a:buSzPct val="60000"/>
              <a:defRPr/>
            </a:pPr>
            <a:r>
              <a:rPr lang="zh-CN" altLang="en-US" sz="2400" noProof="0" dirty="0">
                <a:ln>
                  <a:noFill/>
                </a:ln>
                <a:effectLst/>
                <a:uLnTx/>
                <a:uFillTx/>
                <a:sym typeface="+mn-ea"/>
              </a:rPr>
              <a:t>输入</a:t>
            </a:r>
            <a:r>
              <a:rPr lang="en-US" altLang="zh-CN" sz="2400" noProof="0" dirty="0">
                <a:ln>
                  <a:noFill/>
                </a:ln>
                <a:effectLst/>
                <a:uLnTx/>
                <a:uFillTx/>
                <a:sym typeface="+mn-ea"/>
              </a:rPr>
              <a:t>的被编译源文件统一命名为 testfile.txt；输出的结果文件统一命名为 lexer.txt</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2400" noProof="0" dirty="0">
                <a:ln>
                  <a:noFill/>
                </a:ln>
                <a:effectLst/>
                <a:uLnTx/>
                <a:uFillTx/>
                <a:sym typeface="+mn-ea"/>
              </a:rPr>
              <a:t>按顺序和格式输出类别码和单词字符串形式</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zh-CN" altLang="en-US" sz="2800" noProof="0" dirty="0">
                <a:ln>
                  <a:noFill/>
                </a:ln>
                <a:effectLst/>
                <a:uLnTx/>
                <a:uFillTx/>
                <a:sym typeface="+mn-ea"/>
              </a:rPr>
              <a:t>   </a:t>
            </a:r>
            <a:r>
              <a:rPr lang="en-US" altLang="zh-CN" sz="2800" noProof="0" dirty="0">
                <a:ln>
                  <a:noFill/>
                </a:ln>
                <a:effectLst/>
                <a:uLnTx/>
                <a:uFillTx/>
                <a:sym typeface="+mn-ea"/>
              </a:rPr>
              <a:t>    </a:t>
            </a:r>
            <a:r>
              <a:rPr lang="zh-CN" altLang="en-US" sz="2000" noProof="0" dirty="0">
                <a:ln>
                  <a:noFill/>
                </a:ln>
                <a:solidFill>
                  <a:srgbClr val="C00000"/>
                </a:solidFill>
                <a:effectLst/>
                <a:uLnTx/>
                <a:uFillTx/>
                <a:sym typeface="+mn-ea"/>
              </a:rPr>
              <a:t>单词类别码 单词的字符</a:t>
            </a:r>
            <a:r>
              <a:rPr lang="en-US" altLang="zh-CN" sz="2000" noProof="0" dirty="0">
                <a:ln>
                  <a:noFill/>
                </a:ln>
                <a:solidFill>
                  <a:srgbClr val="C00000"/>
                </a:solidFill>
                <a:effectLst/>
                <a:uLnTx/>
                <a:uFillTx/>
                <a:sym typeface="+mn-ea"/>
              </a:rPr>
              <a:t>/</a:t>
            </a:r>
            <a:r>
              <a:rPr lang="zh-CN" altLang="en-US" sz="2000" noProof="0" dirty="0">
                <a:ln>
                  <a:noFill/>
                </a:ln>
                <a:solidFill>
                  <a:srgbClr val="C00000"/>
                </a:solidFill>
                <a:effectLst/>
                <a:uLnTx/>
                <a:uFillTx/>
                <a:sym typeface="+mn-ea"/>
              </a:rPr>
              <a:t>字符串形式</a:t>
            </a:r>
            <a:r>
              <a:rPr lang="en-US" altLang="zh-CN" sz="2000" noProof="0" dirty="0">
                <a:ln>
                  <a:noFill/>
                </a:ln>
                <a:solidFill>
                  <a:srgbClr val="C00000"/>
                </a:solidFill>
                <a:effectLst/>
                <a:uLnTx/>
                <a:uFillTx/>
                <a:sym typeface="+mn-ea"/>
              </a:rPr>
              <a:t>(</a:t>
            </a:r>
            <a:r>
              <a:rPr lang="zh-CN" altLang="en-US" sz="2000" noProof="0" dirty="0">
                <a:ln>
                  <a:noFill/>
                </a:ln>
                <a:solidFill>
                  <a:srgbClr val="C00000"/>
                </a:solidFill>
                <a:effectLst/>
                <a:uLnTx/>
                <a:uFillTx/>
                <a:sym typeface="+mn-ea"/>
              </a:rPr>
              <a:t>中间仅用一个空格间隔</a:t>
            </a:r>
            <a:r>
              <a:rPr lang="en-US" altLang="zh-CN" sz="2000" noProof="0" dirty="0">
                <a:ln>
                  <a:noFill/>
                </a:ln>
                <a:solidFill>
                  <a:srgbClr val="C00000"/>
                </a:solidFill>
                <a:effectLst/>
                <a:uLnTx/>
                <a:uFillTx/>
                <a:sym typeface="+mn-ea"/>
              </a:rPr>
              <a:t>)</a:t>
            </a:r>
            <a:r>
              <a:rPr lang="zh-CN" altLang="en-US" sz="2000" noProof="0" dirty="0">
                <a:ln>
                  <a:noFill/>
                </a:ln>
                <a:solidFill>
                  <a:srgbClr val="C00000"/>
                </a:solidFill>
                <a:effectLst/>
                <a:uLnTx/>
                <a:uFillTx/>
                <a:sym typeface="+mn-ea"/>
              </a:rPr>
              <a:t> </a:t>
            </a:r>
            <a:br>
              <a:rPr lang="zh-CN" altLang="en-US" sz="2000" noProof="0" dirty="0">
                <a:ln>
                  <a:noFill/>
                </a:ln>
                <a:solidFill>
                  <a:srgbClr val="C00000"/>
                </a:solidFill>
                <a:effectLst/>
                <a:uLnTx/>
                <a:uFillTx/>
                <a:sym typeface="+mn-ea"/>
              </a:rPr>
            </a:br>
            <a:endParaRPr kumimoji="0" lang="en-US" altLang="zh-CN" sz="20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2000" noProof="0" dirty="0">
                <a:ln>
                  <a:noFill/>
                </a:ln>
                <a:solidFill>
                  <a:srgbClr val="C00000"/>
                </a:solidFill>
                <a:effectLst/>
                <a:uLnTx/>
                <a:uFillTx/>
                <a:sym typeface="+mn-ea"/>
              </a:rPr>
              <a:t> </a:t>
            </a:r>
            <a:endParaRPr kumimoji="0" lang="en-US" altLang="zh-CN" sz="20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Rectangle 3"/>
          <p:cNvSpPr>
            <a:spLocks noChangeArrowheads="1"/>
          </p:cNvSpPr>
          <p:nvPr/>
        </p:nvSpPr>
        <p:spPr bwMode="auto">
          <a:xfrm>
            <a:off x="1836420" y="3924300"/>
            <a:ext cx="2074545" cy="278384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20" rIns="0" bIns="952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2"/>
                </a:solidFill>
                <a:effectLst/>
                <a:latin typeface="Arial Unicode MS" panose="020B0604020202020204" charset="-122"/>
                <a:ea typeface="Helvetica Neue"/>
              </a:rPr>
              <a:t>testfile.txt</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int main()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int a = 65;</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char b = (char)a;</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put_char(b);</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printf("\n");</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char c = 'A';</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int d = (int)c;</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put_int(d);</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printf("\n");</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int e = 300;</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char f = (char)e;</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put_int((int)f);</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printf("\n");</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    return 0;</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000" b="0" i="0" u="none" strike="noStrike" cap="none" normalizeH="0" baseline="0" dirty="0">
                <a:ln>
                  <a:noFill/>
                </a:ln>
                <a:solidFill>
                  <a:schemeClr val="tx1"/>
                </a:solidFill>
                <a:effectLst/>
              </a:rPr>
              <a:t>}</a:t>
            </a:r>
          </a:p>
        </p:txBody>
      </p:sp>
      <p:sp>
        <p:nvSpPr>
          <p:cNvPr id="6" name="文本框 5"/>
          <p:cNvSpPr txBox="1"/>
          <p:nvPr/>
        </p:nvSpPr>
        <p:spPr>
          <a:xfrm>
            <a:off x="5047456" y="3937788"/>
            <a:ext cx="2682349" cy="2174875"/>
          </a:xfrm>
          <a:prstGeom prst="rect">
            <a:avLst/>
          </a:prstGeom>
          <a:noFill/>
          <a:ln>
            <a:solidFill>
              <a:schemeClr val="accent2"/>
            </a:solidFill>
          </a:ln>
        </p:spPr>
        <p:txBody>
          <a:bodyPr wrap="square" rtlCol="0">
            <a:spAutoFit/>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800" noProof="0" dirty="0">
                <a:ln>
                  <a:noFill/>
                </a:ln>
                <a:solidFill>
                  <a:schemeClr val="tx2"/>
                </a:solidFill>
                <a:effectLst/>
                <a:uLnTx/>
                <a:uFillTx/>
                <a:sym typeface="+mn-ea"/>
              </a:rPr>
              <a:t>lexer.txt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lang="en-US" altLang="zh-CN" dirty="0">
              <a:solidFill>
                <a:srgbClr val="C00000"/>
              </a:solidFill>
              <a:sym typeface="+mn-ea"/>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600" noProof="0" dirty="0">
                <a:ln>
                  <a:noFill/>
                </a:ln>
                <a:solidFill>
                  <a:srgbClr val="C00000"/>
                </a:solidFill>
                <a:effectLst/>
                <a:uLnTx/>
                <a:uFillTx/>
                <a:sym typeface="+mn-ea"/>
              </a:rPr>
              <a:t>INTTK int</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600" noProof="0" dirty="0">
                <a:ln>
                  <a:noFill/>
                </a:ln>
                <a:solidFill>
                  <a:srgbClr val="C00000"/>
                </a:solidFill>
                <a:effectLst/>
                <a:uLnTx/>
                <a:uFillTx/>
                <a:sym typeface="+mn-ea"/>
              </a:rPr>
              <a:t>MAINTK main</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600" noProof="0" dirty="0">
                <a:ln>
                  <a:noFill/>
                </a:ln>
                <a:solidFill>
                  <a:srgbClr val="C00000"/>
                </a:solidFill>
                <a:effectLst/>
                <a:uLnTx/>
                <a:uFillTx/>
                <a:sym typeface="+mn-ea"/>
              </a:rPr>
              <a:t>LPARENT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600" noProof="0" dirty="0">
                <a:ln>
                  <a:noFill/>
                </a:ln>
                <a:solidFill>
                  <a:srgbClr val="C00000"/>
                </a:solidFill>
                <a:effectLst/>
                <a:uLnTx/>
                <a:uFillTx/>
                <a:sym typeface="+mn-ea"/>
              </a:rPr>
              <a:t>RPARENT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600" dirty="0">
                <a:solidFill>
                  <a:srgbClr val="C00000"/>
                </a:solidFill>
                <a:sym typeface="+mn-ea"/>
              </a:rPr>
              <a:t>…</a:t>
            </a:r>
            <a:endParaRPr lang="zh-CN" alt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vert="horz" wrap="square" lIns="91440" tIns="45720" rIns="91440" bIns="45720" anchor="b" anchorCtr="0"/>
          <a:lstStyle/>
          <a:p>
            <a:r>
              <a:rPr lang="zh-CN" altLang="en-US" dirty="0"/>
              <a:t>词法分析</a:t>
            </a:r>
          </a:p>
        </p:txBody>
      </p:sp>
      <p:sp>
        <p:nvSpPr>
          <p:cNvPr id="5" name="内容占位符 4"/>
          <p:cNvSpPr>
            <a:spLocks noGrp="1"/>
          </p:cNvSpPr>
          <p:nvPr>
            <p:ph idx="1"/>
          </p:nvPr>
        </p:nvSpPr>
        <p:spPr>
          <a:xfrm>
            <a:off x="1042988" y="1988503"/>
            <a:ext cx="7772400" cy="1224473"/>
          </a:xfrm>
        </p:spPr>
        <p:txBody>
          <a:bodyPr/>
          <a:lstStyle/>
          <a:p>
            <a:pPr marR="0" lvl="0" algn="l" defTabSz="914400" rtl="0" eaLnBrk="0" fontAlgn="base" latinLnBrk="0" hangingPunct="0">
              <a:lnSpc>
                <a:spcPct val="100000"/>
              </a:lnSpc>
              <a:spcBef>
                <a:spcPct val="20000"/>
              </a:spcBef>
              <a:spcAft>
                <a:spcPct val="0"/>
              </a:spcAft>
              <a:buClr>
                <a:schemeClr val="folHlink"/>
              </a:buClr>
              <a:buSzPct val="60000"/>
              <a:defRPr/>
            </a:pPr>
            <a:r>
              <a:rPr lang="zh-CN" altLang="en-US" sz="2400" dirty="0">
                <a:sym typeface="+mn-ea"/>
              </a:rPr>
              <a:t>有</a:t>
            </a:r>
            <a:r>
              <a:rPr lang="zh-CN" altLang="en-US" sz="2400" b="1" dirty="0">
                <a:sym typeface="+mn-ea"/>
              </a:rPr>
              <a:t>非法单词</a:t>
            </a:r>
            <a:r>
              <a:rPr lang="zh-CN" altLang="en-US" sz="2400" dirty="0">
                <a:sym typeface="+mn-ea"/>
              </a:rPr>
              <a:t>时输出至</a:t>
            </a:r>
            <a:r>
              <a:rPr lang="en-US" altLang="zh-CN" sz="2400" dirty="0">
                <a:sym typeface="+mn-ea"/>
              </a:rPr>
              <a:t>error.txt</a:t>
            </a:r>
            <a:endParaRPr lang="en-US" altLang="zh-CN" sz="2400" noProof="0" dirty="0">
              <a:ln>
                <a:noFill/>
              </a:ln>
              <a:effectLst/>
              <a:uLnTx/>
              <a:uFillTx/>
              <a:sym typeface="+mn-ea"/>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2400" noProof="0" dirty="0">
                <a:ln>
                  <a:noFill/>
                </a:ln>
                <a:effectLst/>
                <a:uLnTx/>
                <a:uFillTx/>
                <a:sym typeface="+mn-ea"/>
              </a:rPr>
              <a:t>输出非法单词所在的行号以及错误类别码</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zh-CN" altLang="en-US" sz="2800" noProof="0" dirty="0">
                <a:ln>
                  <a:noFill/>
                </a:ln>
                <a:effectLst/>
                <a:uLnTx/>
                <a:uFillTx/>
                <a:sym typeface="+mn-ea"/>
              </a:rPr>
              <a:t>   </a:t>
            </a:r>
            <a:r>
              <a:rPr lang="en-US" altLang="zh-CN" sz="2800" noProof="0" dirty="0">
                <a:ln>
                  <a:noFill/>
                </a:ln>
                <a:effectLst/>
                <a:uLnTx/>
                <a:uFillTx/>
                <a:sym typeface="+mn-ea"/>
              </a:rPr>
              <a:t>   </a:t>
            </a:r>
            <a:r>
              <a:rPr lang="en-US" altLang="zh-CN" sz="2000" noProof="0" dirty="0">
                <a:ln>
                  <a:noFill/>
                </a:ln>
                <a:solidFill>
                  <a:srgbClr val="C00000"/>
                </a:solidFill>
                <a:effectLst/>
                <a:uLnTx/>
                <a:uFillTx/>
                <a:cs typeface="+mn-ea"/>
                <a:sym typeface="+mn-ea"/>
              </a:rPr>
              <a:t> 	</a:t>
            </a:r>
            <a:endParaRPr lang="en-US" altLang="zh-CN" noProof="0" dirty="0">
              <a:ln>
                <a:noFill/>
              </a:ln>
              <a:solidFill>
                <a:srgbClr val="C00000"/>
              </a:solidFill>
              <a:effectLst/>
              <a:uLnTx/>
              <a:uFillTx/>
              <a:sym typeface="+mn-ea"/>
            </a:endParaRPr>
          </a:p>
          <a:p>
            <a:pPr marL="1257300" marR="0" lvl="3" indent="0" algn="l" defTabSz="914400" rtl="0" eaLnBrk="0" fontAlgn="base" latinLnBrk="0" hangingPunct="0">
              <a:lnSpc>
                <a:spcPct val="100000"/>
              </a:lnSpc>
              <a:spcBef>
                <a:spcPct val="20000"/>
              </a:spcBef>
              <a:spcAft>
                <a:spcPct val="0"/>
              </a:spcAft>
              <a:buClr>
                <a:schemeClr val="accent2"/>
              </a:buClr>
              <a:buSzPct val="55000"/>
              <a:buFont typeface="Wingdings" panose="05000000000000000000" pitchFamily="2" charset="2"/>
              <a:buNone/>
              <a:defRPr/>
            </a:pPr>
            <a:endParaRPr kumimoji="0" lang="en-US" altLang="zh-CN"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cs typeface="+mn-ea"/>
            </a:endParaRPr>
          </a:p>
          <a:p>
            <a:pPr marR="0" lvl="0" algn="l" defTabSz="914400" rtl="0" eaLnBrk="0" fontAlgn="base" latinLnBrk="0" hangingPunct="0">
              <a:lnSpc>
                <a:spcPct val="100000"/>
              </a:lnSpc>
              <a:spcBef>
                <a:spcPct val="20000"/>
              </a:spcBef>
              <a:spcAft>
                <a:spcPct val="0"/>
              </a:spcAft>
              <a:buClr>
                <a:schemeClr val="folHlink"/>
              </a:buClr>
              <a:buSzPct val="60000"/>
              <a:defRPr/>
            </a:pPr>
            <a:endParaRPr kumimoji="0" lang="en-US" altLang="zh-CN" sz="20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endParaRPr kumimoji="0" lang="en-US" altLang="zh-CN" sz="20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文本框 2"/>
          <p:cNvSpPr txBox="1"/>
          <p:nvPr/>
        </p:nvSpPr>
        <p:spPr>
          <a:xfrm>
            <a:off x="5079370" y="4057736"/>
            <a:ext cx="3048000" cy="1015663"/>
          </a:xfrm>
          <a:prstGeom prst="rect">
            <a:avLst/>
          </a:prstGeom>
          <a:noFill/>
          <a:ln>
            <a:solidFill>
              <a:schemeClr val="accent2"/>
            </a:solidFill>
          </a:ln>
        </p:spPr>
        <p:txBody>
          <a:bodyPr wrap="square" rtlCol="0">
            <a:spAutoFit/>
          </a:bodyPr>
          <a:lstStyle/>
          <a:p>
            <a:pPr algn="l">
              <a:buClrTx/>
              <a:buSzTx/>
              <a:buFontTx/>
            </a:pPr>
            <a:r>
              <a:rPr lang="en-US" altLang="zh-CN" sz="2000" noProof="0" dirty="0">
                <a:ln>
                  <a:noFill/>
                </a:ln>
                <a:solidFill>
                  <a:schemeClr val="tx2"/>
                </a:solidFill>
                <a:effectLst/>
                <a:uLnTx/>
                <a:uFillTx/>
              </a:rPr>
              <a:t>error.txt</a:t>
            </a:r>
          </a:p>
          <a:p>
            <a:pPr algn="l">
              <a:buClrTx/>
              <a:buSzTx/>
              <a:buFontTx/>
            </a:pPr>
            <a:endParaRPr lang="en-US" altLang="zh-CN" sz="2000" noProof="0" dirty="0">
              <a:ln>
                <a:noFill/>
              </a:ln>
              <a:solidFill>
                <a:srgbClr val="C00000"/>
              </a:solidFill>
              <a:effectLst/>
              <a:uLnTx/>
              <a:uFillTx/>
            </a:endParaRPr>
          </a:p>
          <a:p>
            <a:pPr algn="l">
              <a:buClrTx/>
              <a:buSzTx/>
              <a:buFontTx/>
            </a:pPr>
            <a:r>
              <a:rPr lang="en-US" altLang="zh-CN" sz="2000" noProof="0" dirty="0">
                <a:ln>
                  <a:noFill/>
                </a:ln>
                <a:solidFill>
                  <a:srgbClr val="C00000"/>
                </a:solidFill>
                <a:effectLst/>
                <a:uLnTx/>
                <a:uFillTx/>
              </a:rPr>
              <a:t>2 a</a:t>
            </a:r>
          </a:p>
        </p:txBody>
      </p:sp>
      <p:sp>
        <p:nvSpPr>
          <p:cNvPr id="6" name="Rectangle 3"/>
          <p:cNvSpPr>
            <a:spLocks noChangeArrowheads="1"/>
          </p:cNvSpPr>
          <p:nvPr/>
        </p:nvSpPr>
        <p:spPr bwMode="auto">
          <a:xfrm>
            <a:off x="1303107" y="3662297"/>
            <a:ext cx="2733040" cy="215900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Arial Unicode MS" panose="020B0604020202020204" charset="-122"/>
                <a:ea typeface="Helvetica Neue"/>
              </a:rPr>
              <a:t>testfile.txt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600" b="0" i="0" u="none" strike="noStrike" cap="none" normalizeH="0" baseline="0" dirty="0">
              <a:ln>
                <a:noFill/>
              </a:ln>
              <a:solidFill>
                <a:srgbClr val="333333"/>
              </a:solidFill>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int main(){</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    if(1 &amp; 2){ // </a:t>
            </a:r>
            <a:r>
              <a:rPr kumimoji="0" lang="zh-CN" altLang="en-US" sz="1600" b="0" i="0" u="none" strike="noStrike" cap="none" normalizeH="0" baseline="0" dirty="0">
                <a:ln>
                  <a:noFill/>
                </a:ln>
                <a:solidFill>
                  <a:srgbClr val="333333"/>
                </a:solidFill>
                <a:effectLst/>
                <a:latin typeface="Arial Unicode MS" panose="020B0604020202020204" charset="-122"/>
                <a:ea typeface="Helvetica Neue"/>
              </a:rPr>
              <a:t>非法单词 </a:t>
            </a: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&amp;</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        </a:t>
            </a:r>
            <a:r>
              <a:rPr kumimoji="0" lang="en-US" altLang="zh-CN" sz="1600" b="0" i="0" u="none" strike="noStrike" cap="none" normalizeH="0" baseline="0" dirty="0" err="1">
                <a:ln>
                  <a:noFill/>
                </a:ln>
                <a:solidFill>
                  <a:srgbClr val="333333"/>
                </a:solidFill>
                <a:effectLst/>
                <a:latin typeface="Arial Unicode MS" panose="020B0604020202020204" charset="-122"/>
                <a:ea typeface="Helvetica Neue"/>
              </a:rPr>
              <a:t>printf</a:t>
            </a: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("2026 Compiler\n");</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    }</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    return 0;</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333333"/>
                </a:solidFill>
                <a:effectLst/>
                <a:latin typeface="Arial Unicode MS" panose="020B0604020202020204" charset="-122"/>
                <a:ea typeface="Helvetica Neue"/>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vert="horz" wrap="square" lIns="91440" tIns="45720" rIns="91440" bIns="45720" anchor="b" anchorCtr="0"/>
          <a:lstStyle/>
          <a:p>
            <a:r>
              <a:rPr lang="zh-CN" altLang="en-US" dirty="0"/>
              <a:t>语法分析</a:t>
            </a:r>
          </a:p>
        </p:txBody>
      </p:sp>
      <p:sp>
        <p:nvSpPr>
          <p:cNvPr id="3" name="内容占位符 2"/>
          <p:cNvSpPr>
            <a:spLocks noGrp="1"/>
          </p:cNvSpPr>
          <p:nvPr>
            <p:ph idx="1"/>
          </p:nvPr>
        </p:nvSpPr>
        <p:spPr>
          <a:xfrm>
            <a:off x="1161256" y="1916832"/>
            <a:ext cx="7772400" cy="1362892"/>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2400" noProof="0" dirty="0">
                <a:ln>
                  <a:noFill/>
                </a:ln>
                <a:effectLst/>
                <a:uLnTx/>
                <a:uFillTx/>
                <a:sym typeface="+mn-ea"/>
              </a:rPr>
              <a:t>输入</a:t>
            </a:r>
            <a:r>
              <a:rPr lang="en-US" altLang="zh-CN" sz="2400" noProof="0" dirty="0" err="1">
                <a:ln>
                  <a:noFill/>
                </a:ln>
                <a:effectLst/>
                <a:uLnTx/>
                <a:uFillTx/>
                <a:sym typeface="+mn-ea"/>
              </a:rPr>
              <a:t>的被编译源文件统一命名为</a:t>
            </a:r>
            <a:r>
              <a:rPr lang="en-US" altLang="zh-CN" sz="2400" noProof="0" dirty="0">
                <a:ln>
                  <a:noFill/>
                </a:ln>
                <a:effectLst/>
                <a:uLnTx/>
                <a:uFillTx/>
                <a:sym typeface="+mn-ea"/>
              </a:rPr>
              <a:t> testfile.txt</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在词法分析程序输出的基础上，输出特定语法成分的名字（非终结符）至</a:t>
            </a:r>
            <a:r>
              <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parser.txt</a:t>
            </a: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中</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914400" lvl="2" indent="457200">
              <a:buClr>
                <a:srgbClr val="0070C0"/>
              </a:buClr>
              <a:buNone/>
              <a:defRPr/>
            </a:pPr>
            <a:endParaRPr lang="en-US" altLang="zh-CN" noProof="0" dirty="0">
              <a:ln>
                <a:noFill/>
              </a:ln>
              <a:effectLst/>
              <a:uLnTx/>
              <a:uFillTx/>
              <a:sym typeface="+mn-ea"/>
            </a:endParaRPr>
          </a:p>
        </p:txBody>
      </p:sp>
      <p:sp>
        <p:nvSpPr>
          <p:cNvPr id="6" name="文本框 5"/>
          <p:cNvSpPr txBox="1"/>
          <p:nvPr/>
        </p:nvSpPr>
        <p:spPr>
          <a:xfrm>
            <a:off x="4572000" y="3279724"/>
            <a:ext cx="3337520" cy="3440942"/>
          </a:xfrm>
          <a:prstGeom prst="rect">
            <a:avLst/>
          </a:prstGeom>
          <a:noFill/>
          <a:ln>
            <a:solidFill>
              <a:schemeClr val="accent2"/>
            </a:solidFill>
          </a:ln>
        </p:spPr>
        <p:txBody>
          <a:bodyPr wrap="square" rtlCol="0">
            <a:spAutoFit/>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600" b="0" i="0" u="none" strike="noStrike" kern="0" cap="none" spc="0" normalizeH="0" baseline="0" noProof="0" dirty="0">
                <a:ln>
                  <a:noFill/>
                </a:ln>
                <a:solidFill>
                  <a:schemeClr val="tx2"/>
                </a:solidFill>
                <a:effectLst/>
                <a:uLnTx/>
                <a:uFillTx/>
                <a:latin typeface="Tahoma" panose="020B0604030504040204" pitchFamily="34" charset="0"/>
                <a:ea typeface="宋体" panose="02010600030101010101" pitchFamily="2" charset="-122"/>
              </a:rPr>
              <a:t>parser.txt</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lang="en-US" altLang="zh-CN" sz="1400" kern="0" dirty="0"/>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INTTK int</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MAINTK main</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LPARENT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RPARENT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LBRACE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INTTK int</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IDENFR c</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rPr>
              <a:t>&lt;</a:t>
            </a:r>
            <a:r>
              <a:rPr kumimoji="0" lang="en-US" altLang="zh-CN" sz="1400" b="0" i="0" u="none" strike="noStrike" kern="0" cap="none" spc="0" normalizeH="0" baseline="0" noProof="0" dirty="0" err="1">
                <a:ln>
                  <a:noFill/>
                </a:ln>
                <a:solidFill>
                  <a:srgbClr val="C00000"/>
                </a:solidFill>
                <a:effectLst/>
                <a:uLnTx/>
                <a:uFillTx/>
                <a:latin typeface="Tahoma" panose="020B0604030504040204" pitchFamily="34" charset="0"/>
                <a:ea typeface="宋体" panose="02010600030101010101" pitchFamily="2" charset="-122"/>
              </a:rPr>
              <a:t>VarDef</a:t>
            </a:r>
            <a:r>
              <a:rPr kumimoji="0" lang="en-US" altLang="zh-CN" sz="1400"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rPr>
              <a:t>&gt;</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SEMICN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1400"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rPr>
              <a:t>&lt;</a:t>
            </a:r>
            <a:r>
              <a:rPr kumimoji="0" lang="en-US" altLang="zh-CN" sz="1400" b="0" i="0" u="none" strike="noStrike" kern="0" cap="none" spc="0" normalizeH="0" baseline="0" noProof="0" dirty="0" err="1">
                <a:ln>
                  <a:noFill/>
                </a:ln>
                <a:solidFill>
                  <a:srgbClr val="C00000"/>
                </a:solidFill>
                <a:effectLst/>
                <a:uLnTx/>
                <a:uFillTx/>
                <a:latin typeface="Tahoma" panose="020B0604030504040204" pitchFamily="34" charset="0"/>
                <a:ea typeface="宋体" panose="02010600030101010101" pitchFamily="2" charset="-122"/>
              </a:rPr>
              <a:t>VarDecl</a:t>
            </a:r>
            <a:r>
              <a:rPr kumimoji="0" lang="en-US" altLang="zh-CN" sz="1400"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rPr>
              <a:t>&gt;</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lang="en-US" altLang="zh-CN" sz="1400" kern="0" dirty="0">
                <a:solidFill>
                  <a:srgbClr val="C00000"/>
                </a:solidFill>
              </a:rPr>
              <a:t> …</a:t>
            </a:r>
            <a:endParaRPr lang="zh-CN" altLang="en-US" dirty="0"/>
          </a:p>
        </p:txBody>
      </p:sp>
      <p:sp>
        <p:nvSpPr>
          <p:cNvPr id="8" name="Rectangle 4"/>
          <p:cNvSpPr>
            <a:spLocks noChangeArrowheads="1"/>
          </p:cNvSpPr>
          <p:nvPr/>
        </p:nvSpPr>
        <p:spPr bwMode="auto">
          <a:xfrm>
            <a:off x="1547664" y="3578276"/>
            <a:ext cx="1584960" cy="2404745"/>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2"/>
                </a:solidFill>
                <a:effectLst/>
                <a:latin typeface="Arial Unicode MS" panose="020B0604020202020204" charset="-122"/>
                <a:ea typeface="Helvetica Neue"/>
              </a:rPr>
              <a:t>testfile.txt</a:t>
            </a:r>
          </a:p>
          <a:p>
            <a:pPr marL="0" marR="0" lvl="0" indent="0" algn="l" defTabSz="914400" rtl="0" eaLnBrk="0" fontAlgn="base" latinLnBrk="0" hangingPunct="0">
              <a:lnSpc>
                <a:spcPct val="100000"/>
              </a:lnSpc>
              <a:spcBef>
                <a:spcPct val="0"/>
              </a:spcBef>
              <a:spcAft>
                <a:spcPct val="0"/>
              </a:spcAft>
              <a:buClrTx/>
              <a:buSzTx/>
              <a:buFontTx/>
              <a:buNone/>
            </a:pPr>
            <a:endParaRPr lang="en-US" altLang="zh-CN" dirty="0">
              <a:solidFill>
                <a:srgbClr val="333333"/>
              </a:solidFill>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int main(){</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int c;</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c= get</a:t>
            </a:r>
            <a:r>
              <a:rPr kumimoji="0" lang="en-US" altLang="zh-CN" sz="1800" b="0" i="0" u="none" strike="noStrike" cap="none" normalizeH="0" baseline="0" dirty="0">
                <a:ln>
                  <a:noFill/>
                </a:ln>
                <a:solidFill>
                  <a:srgbClr val="333333"/>
                </a:solidFill>
                <a:effectLst/>
                <a:latin typeface="Arial Unicode MS" panose="020B0604020202020204" charset="-122"/>
                <a:ea typeface="Helvetica Neue"/>
              </a:rPr>
              <a:t>_</a:t>
            </a: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int();</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printf("%d",c);</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return c;</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a:t>
            </a:r>
            <a:r>
              <a:rPr kumimoji="0" lang="zh-CN" altLang="zh-CN" sz="18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9340"/>
            <a:ext cx="65" cy="4385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vert="horz" wrap="square" lIns="91440" tIns="45720" rIns="91440" bIns="45720" anchor="b" anchorCtr="0"/>
          <a:lstStyle/>
          <a:p>
            <a:r>
              <a:rPr lang="zh-CN" altLang="en-US" dirty="0"/>
              <a:t>语法分析</a:t>
            </a:r>
          </a:p>
        </p:txBody>
      </p:sp>
      <p:sp>
        <p:nvSpPr>
          <p:cNvPr id="3" name="内容占位符 2"/>
          <p:cNvSpPr>
            <a:spLocks noGrp="1"/>
          </p:cNvSpPr>
          <p:nvPr>
            <p:ph idx="1"/>
          </p:nvPr>
        </p:nvSpPr>
        <p:spPr>
          <a:xfrm>
            <a:off x="1161256" y="1916832"/>
            <a:ext cx="7772400" cy="1080120"/>
          </a:xfrm>
        </p:spPr>
        <p:txBody>
          <a:bodyPr vert="horz" wrap="square" lIns="91440" tIns="45720" rIns="91440" bIns="45720" numCol="1" anchor="t" anchorCtr="0" compatLnSpc="1"/>
          <a:lstStyle/>
          <a:p>
            <a:pPr>
              <a:defRPr/>
            </a:pPr>
            <a:r>
              <a:rPr lang="zh-CN" altLang="en-US" sz="2400" dirty="0"/>
              <a:t>有</a:t>
            </a:r>
            <a:r>
              <a:rPr lang="zh-CN" altLang="en-US" sz="2400" b="1" dirty="0"/>
              <a:t>非法单词</a:t>
            </a:r>
            <a:r>
              <a:rPr lang="zh-CN" altLang="en-US" sz="2400" dirty="0"/>
              <a:t>和</a:t>
            </a:r>
            <a:r>
              <a:rPr lang="zh-CN" altLang="en-US" sz="2400" b="1" dirty="0"/>
              <a:t>语法错误</a:t>
            </a:r>
            <a:r>
              <a:rPr lang="zh-CN" altLang="en-US" sz="2400" dirty="0"/>
              <a:t>时输出</a:t>
            </a:r>
            <a:r>
              <a:rPr lang="zh-CN" altLang="en-US" sz="2400" dirty="0">
                <a:sym typeface="+mn-ea"/>
              </a:rPr>
              <a:t>出错行号和</a:t>
            </a:r>
            <a:r>
              <a:rPr lang="zh-CN" altLang="en-US" sz="2400" dirty="0"/>
              <a:t>错误类别码至 </a:t>
            </a:r>
            <a:r>
              <a:rPr lang="en-US" altLang="zh-CN" sz="2400" dirty="0"/>
              <a:t>error.txt</a:t>
            </a:r>
            <a:endParaRPr lang="en-US" altLang="zh-CN" sz="2400" noProof="0" dirty="0">
              <a:ln>
                <a:noFill/>
              </a:ln>
              <a:effectLst/>
              <a:uLnTx/>
              <a:uFillTx/>
              <a:sym typeface="+mn-ea"/>
            </a:endParaRPr>
          </a:p>
        </p:txBody>
      </p:sp>
      <p:sp>
        <p:nvSpPr>
          <p:cNvPr id="4" name="文本框 3"/>
          <p:cNvSpPr txBox="1"/>
          <p:nvPr/>
        </p:nvSpPr>
        <p:spPr>
          <a:xfrm>
            <a:off x="4427984" y="3195599"/>
            <a:ext cx="3337520" cy="1477328"/>
          </a:xfrm>
          <a:prstGeom prst="rect">
            <a:avLst/>
          </a:prstGeom>
          <a:noFill/>
          <a:ln>
            <a:solidFill>
              <a:schemeClr val="accent2"/>
            </a:solidFill>
          </a:ln>
        </p:spPr>
        <p:txBody>
          <a:bodyPr wrap="square" rtlCol="0">
            <a:spAutoFit/>
          </a:bodyPr>
          <a:lstStyle/>
          <a:p>
            <a:r>
              <a:rPr lang="en-US" altLang="zh-CN" dirty="0"/>
              <a:t>error.txt</a:t>
            </a:r>
          </a:p>
          <a:p>
            <a:endParaRPr lang="en-US" altLang="zh-CN" dirty="0"/>
          </a:p>
          <a:p>
            <a:r>
              <a:rPr lang="en-US" altLang="zh-CN" dirty="0">
                <a:solidFill>
                  <a:srgbClr val="C00000"/>
                </a:solidFill>
              </a:rPr>
              <a:t>3 </a:t>
            </a:r>
            <a:r>
              <a:rPr lang="en-US" altLang="zh-CN" dirty="0" err="1">
                <a:solidFill>
                  <a:srgbClr val="C00000"/>
                </a:solidFill>
              </a:rPr>
              <a:t>i</a:t>
            </a:r>
            <a:endParaRPr lang="en-US" altLang="zh-CN" dirty="0">
              <a:solidFill>
                <a:srgbClr val="C00000"/>
              </a:solidFill>
            </a:endParaRPr>
          </a:p>
          <a:p>
            <a:r>
              <a:rPr lang="en-US" altLang="zh-CN" dirty="0">
                <a:solidFill>
                  <a:srgbClr val="C00000"/>
                </a:solidFill>
              </a:rPr>
              <a:t>4 a</a:t>
            </a:r>
          </a:p>
          <a:p>
            <a:endParaRPr lang="zh-CN" altLang="en-US" dirty="0"/>
          </a:p>
        </p:txBody>
      </p:sp>
      <p:sp>
        <p:nvSpPr>
          <p:cNvPr id="5" name="Rectangle 4"/>
          <p:cNvSpPr>
            <a:spLocks noChangeArrowheads="1"/>
          </p:cNvSpPr>
          <p:nvPr/>
        </p:nvSpPr>
        <p:spPr bwMode="auto">
          <a:xfrm>
            <a:off x="971600" y="2996952"/>
            <a:ext cx="3020060" cy="295910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2"/>
                </a:solidFill>
                <a:effectLst/>
                <a:latin typeface="Arial Unicode MS" panose="020B0604020202020204" charset="-122"/>
                <a:ea typeface="Helvetica Neue"/>
              </a:rPr>
              <a:t>testfil</a:t>
            </a:r>
            <a:r>
              <a:rPr lang="en-US" altLang="zh-CN" dirty="0">
                <a:solidFill>
                  <a:schemeClr val="tx2"/>
                </a:solidFill>
                <a:latin typeface="Arial Unicode MS" panose="020B0604020202020204" charset="-122"/>
                <a:ea typeface="Helvetica Neue"/>
              </a:rPr>
              <a:t>e.txt</a:t>
            </a:r>
            <a:endParaRPr kumimoji="0" lang="en-US" altLang="zh-CN" sz="1800" b="0" i="0" u="none" strike="noStrike" cap="none" normalizeH="0" baseline="0" dirty="0">
              <a:ln>
                <a:noFill/>
              </a:ln>
              <a:solidFill>
                <a:schemeClr val="tx2"/>
              </a:solidFill>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800" b="0" i="0" u="none" strike="noStrike" cap="none" normalizeH="0" baseline="0" dirty="0">
              <a:ln>
                <a:noFill/>
              </a:ln>
              <a:solidFill>
                <a:srgbClr val="333333"/>
              </a:solidFill>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int main(){</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int c;</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c = get</a:t>
            </a:r>
            <a:r>
              <a:rPr kumimoji="0" lang="en-US" altLang="zh-CN" sz="1800" b="0" i="0" u="none" strike="noStrike" cap="none" normalizeH="0" baseline="0" dirty="0">
                <a:ln>
                  <a:noFill/>
                </a:ln>
                <a:solidFill>
                  <a:srgbClr val="333333"/>
                </a:solidFill>
                <a:effectLst/>
                <a:latin typeface="Arial Unicode MS" panose="020B0604020202020204" charset="-122"/>
                <a:ea typeface="Helvetica Neue"/>
              </a:rPr>
              <a:t>_</a:t>
            </a: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int()</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if(1 &amp; 2){</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printf("output is %d\n", c);</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   return 0;</a:t>
            </a:r>
            <a:b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br>
            <a:r>
              <a:rPr kumimoji="0" lang="zh-CN" altLang="zh-CN" sz="1800" b="0" i="0" u="none" strike="noStrike" cap="none" normalizeH="0" baseline="0" dirty="0">
                <a:ln>
                  <a:noFill/>
                </a:ln>
                <a:solidFill>
                  <a:srgbClr val="333333"/>
                </a:solidFill>
                <a:effectLst/>
                <a:latin typeface="Arial Unicode MS" panose="020B0604020202020204" charset="-122"/>
                <a:ea typeface="Helvetica Neue"/>
              </a:rPr>
              <a:t>}</a:t>
            </a:r>
            <a:r>
              <a:rPr kumimoji="0" lang="zh-CN" altLang="zh-CN" sz="18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0" y="9339"/>
            <a:ext cx="65" cy="4385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wrap="square" lIns="91440" tIns="45720" rIns="91440" bIns="45720" anchor="b" anchorCtr="0"/>
          <a:lstStyle/>
          <a:p>
            <a:r>
              <a:rPr lang="zh-CN" altLang="en-US" dirty="0"/>
              <a:t>语义分析</a:t>
            </a:r>
          </a:p>
        </p:txBody>
      </p:sp>
      <p:sp>
        <p:nvSpPr>
          <p:cNvPr id="31747" name="内容占位符 2"/>
          <p:cNvSpPr>
            <a:spLocks noGrp="1"/>
          </p:cNvSpPr>
          <p:nvPr>
            <p:ph idx="1"/>
          </p:nvPr>
        </p:nvSpPr>
        <p:spPr>
          <a:xfrm>
            <a:off x="1259633" y="1929097"/>
            <a:ext cx="7200800" cy="1499628"/>
          </a:xfrm>
        </p:spPr>
        <p:txBody>
          <a:bodyPr vert="horz" wrap="square" lIns="91440" tIns="45720" rIns="91440" bIns="45720" anchor="t" anchorCtr="0"/>
          <a:lstStyle/>
          <a:p>
            <a:r>
              <a:rPr lang="zh-CN" altLang="en-US" sz="2400" dirty="0"/>
              <a:t>输入的被编译源文件统一命名为 testfile.txt；</a:t>
            </a:r>
          </a:p>
          <a:p>
            <a:pPr algn="l"/>
            <a:r>
              <a:rPr lang="zh-CN" altLang="en-US" sz="2400" dirty="0">
                <a:sym typeface="+mn-ea"/>
              </a:rPr>
              <a:t>对正确的源程序，输出编译完成后的</a:t>
            </a:r>
            <a:r>
              <a:rPr lang="zh-CN" altLang="en-US" sz="2400" b="1" dirty="0">
                <a:sym typeface="+mn-ea"/>
              </a:rPr>
              <a:t>符号表主要信息至</a:t>
            </a:r>
            <a:r>
              <a:rPr lang="en-US" altLang="zh-CN" sz="2400" dirty="0">
                <a:sym typeface="+mn-ea"/>
              </a:rPr>
              <a:t>symbol.txt</a:t>
            </a:r>
            <a:r>
              <a:rPr lang="zh-CN" altLang="en-US" sz="2400" dirty="0">
                <a:sym typeface="+mn-ea"/>
              </a:rPr>
              <a:t> </a:t>
            </a:r>
            <a:r>
              <a:rPr lang="en-US" altLang="zh-CN" sz="2400" dirty="0">
                <a:sym typeface="+mn-ea"/>
              </a:rPr>
              <a:t>  </a:t>
            </a:r>
            <a:endParaRPr lang="zh-CN" altLang="en-US" sz="2400" dirty="0"/>
          </a:p>
          <a:p>
            <a:pPr marL="914400" lvl="2" indent="0">
              <a:buNone/>
            </a:pPr>
            <a:br>
              <a:rPr lang="zh-CN" altLang="en-US" dirty="0"/>
            </a:br>
            <a:endParaRPr lang="zh-CN" altLang="en-US" dirty="0"/>
          </a:p>
        </p:txBody>
      </p:sp>
      <p:sp>
        <p:nvSpPr>
          <p:cNvPr id="4" name="文本框 3"/>
          <p:cNvSpPr txBox="1"/>
          <p:nvPr/>
        </p:nvSpPr>
        <p:spPr>
          <a:xfrm>
            <a:off x="7167075" y="3807613"/>
            <a:ext cx="1928750" cy="2584450"/>
          </a:xfrm>
          <a:prstGeom prst="rect">
            <a:avLst/>
          </a:prstGeom>
          <a:noFill/>
          <a:ln>
            <a:solidFill>
              <a:schemeClr val="accent2"/>
            </a:solidFill>
          </a:ln>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2"/>
                </a:solidFill>
                <a:effectLst/>
                <a:latin typeface="Arial Unicode MS" panose="020B0604020202020204" charset="-122"/>
                <a:ea typeface="Helvetica Neue"/>
              </a:rPr>
              <a:t>symbol.txt</a:t>
            </a:r>
          </a:p>
          <a:p>
            <a:pPr marL="0" marR="0" lvl="0" indent="0" algn="l" defTabSz="914400" rtl="0" eaLnBrk="0" fontAlgn="base" latinLnBrk="0" hangingPunct="0">
              <a:lnSpc>
                <a:spcPct val="100000"/>
              </a:lnSpc>
              <a:spcBef>
                <a:spcPct val="0"/>
              </a:spcBef>
              <a:spcAft>
                <a:spcPct val="0"/>
              </a:spcAft>
              <a:buClrTx/>
              <a:buSzTx/>
              <a:buFontTx/>
              <a:buNone/>
            </a:pPr>
            <a:endParaRPr lang="en-US" altLang="zh-CN" dirty="0">
              <a:solidFill>
                <a:srgbClr val="C00000"/>
              </a:solidFill>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1 year ConstInt</a:t>
            </a: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1 month ConstInt</a:t>
            </a: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1 day Int</a:t>
            </a: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1 getDay IntFunc</a:t>
            </a: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1 fun IntFunc</a:t>
            </a: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2 day StaticInt</a:t>
            </a:r>
          </a:p>
          <a:p>
            <a:pPr marL="0" marR="0" lvl="0" indent="0" algn="l" defTabSz="914400" rtl="0" eaLnBrk="0" fontAlgn="base" latinLnBrk="0" hangingPunct="0">
              <a:lnSpc>
                <a:spcPct val="100000"/>
              </a:lnSpc>
              <a:spcBef>
                <a:spcPct val="0"/>
              </a:spcBef>
              <a:spcAft>
                <a:spcPct val="0"/>
              </a:spcAft>
              <a:buClrTx/>
              <a:buSzTx/>
              <a:buFontTx/>
              <a:buNone/>
            </a:pPr>
            <a:r>
              <a:rPr lang="en-US" altLang="zh-CN" dirty="0">
                <a:solidFill>
                  <a:srgbClr val="C00000"/>
                </a:solidFill>
                <a:latin typeface="Arial Unicode MS" panose="020B0604020202020204" charset="-122"/>
                <a:ea typeface="Helvetica Neue"/>
              </a:rPr>
              <a:t>5 length Int</a:t>
            </a:r>
          </a:p>
        </p:txBody>
      </p:sp>
      <p:sp>
        <p:nvSpPr>
          <p:cNvPr id="2" name="Rectangle 1"/>
          <p:cNvSpPr>
            <a:spLocks noChangeArrowheads="1"/>
          </p:cNvSpPr>
          <p:nvPr/>
        </p:nvSpPr>
        <p:spPr bwMode="auto">
          <a:xfrm>
            <a:off x="317088" y="3497098"/>
            <a:ext cx="2603500" cy="320548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2"/>
                </a:solidFill>
                <a:effectLst/>
                <a:latin typeface="Arial Unicode MS" panose="020B0604020202020204" charset="-122"/>
                <a:ea typeface="Helvetica Neue"/>
              </a:rPr>
              <a:t>testfile.txt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400" b="0" i="0" u="none" strike="noStrike" cap="none" normalizeH="0" baseline="0" dirty="0">
              <a:ln>
                <a:noFill/>
              </a:ln>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const int year = 2026, month = 9;</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int day;</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400" b="0" i="0" u="none" strike="noStrike" cap="none" normalizeH="0" baseline="0" dirty="0">
              <a:ln>
                <a:noFill/>
              </a:ln>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int getDay(){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    static int day;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    day = get_int();</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    return day;</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400" b="0" i="0" u="none" strike="noStrike" cap="none" normalizeH="0" baseline="0" dirty="0">
              <a:ln>
                <a:noFill/>
              </a:ln>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int fun(){</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    return 12345;</a:t>
            </a: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effectLst/>
                <a:latin typeface="Arial Unicode MS" panose="020B0604020202020204" charset="-122"/>
                <a:ea typeface="Helvetica Neue"/>
              </a:rPr>
              <a:t>}</a:t>
            </a:r>
          </a:p>
        </p:txBody>
      </p:sp>
      <p:sp>
        <p:nvSpPr>
          <p:cNvPr id="8" name="文本框 7"/>
          <p:cNvSpPr txBox="1"/>
          <p:nvPr/>
        </p:nvSpPr>
        <p:spPr>
          <a:xfrm>
            <a:off x="3088233" y="3751303"/>
            <a:ext cx="3942715" cy="298958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defPPr>
              <a:defRPr lang="zh-CN"/>
            </a:defPPr>
            <a:lvl1pPr marR="0">
              <a:buClrTx/>
              <a:buSzTx/>
              <a:buFontTx/>
              <a:defRPr kumimoji="0" sz="1400" strike="noStrike" cap="none" normalizeH="0">
                <a:ln>
                  <a:noFill/>
                </a:ln>
                <a:solidFill>
                  <a:srgbClr val="770088"/>
                </a:solidFill>
                <a:effectLst/>
                <a:latin typeface="Arial Unicode MS" panose="020B0604020202020204" charset="-122"/>
                <a:ea typeface="Helvetica Neue"/>
              </a:defRPr>
            </a:lvl1pPr>
          </a:lstStyle>
          <a:p>
            <a:pPr algn="l"/>
            <a:r>
              <a:rPr lang="en-US" altLang="zh-CN" dirty="0">
                <a:solidFill>
                  <a:schemeClr val="tx1"/>
                </a:solidFill>
              </a:rPr>
              <a:t>int main(){</a:t>
            </a:r>
          </a:p>
          <a:p>
            <a:pPr algn="l"/>
            <a:r>
              <a:rPr lang="en-US" altLang="zh-CN" dirty="0">
                <a:solidFill>
                  <a:schemeClr val="tx1"/>
                </a:solidFill>
              </a:rPr>
              <a:t>    day = getDay();</a:t>
            </a:r>
          </a:p>
          <a:p>
            <a:pPr algn="l"/>
            <a:r>
              <a:rPr lang="en-US" altLang="zh-CN" dirty="0">
                <a:solidFill>
                  <a:schemeClr val="tx1"/>
                </a:solidFill>
              </a:rPr>
              <a:t>    printf("Tody is %d-%d-%d\n", year, month, day);</a:t>
            </a:r>
          </a:p>
          <a:p>
            <a:pPr algn="l"/>
            <a:endParaRPr lang="en-US" altLang="zh-CN" dirty="0">
              <a:solidFill>
                <a:schemeClr val="tx1"/>
              </a:solidFill>
            </a:endParaRPr>
          </a:p>
          <a:p>
            <a:pPr algn="l"/>
            <a:r>
              <a:rPr lang="en-US" altLang="zh-CN" dirty="0">
                <a:solidFill>
                  <a:schemeClr val="tx1"/>
                </a:solidFill>
              </a:rPr>
              <a:t>    {</a:t>
            </a:r>
          </a:p>
          <a:p>
            <a:pPr algn="l"/>
            <a:r>
              <a:rPr lang="en-US" altLang="zh-CN" dirty="0">
                <a:solidFill>
                  <a:schemeClr val="tx1"/>
                </a:solidFill>
              </a:rPr>
              <a:t>        int length = fun();</a:t>
            </a:r>
          </a:p>
          <a:p>
            <a:pPr algn="l"/>
            <a:r>
              <a:rPr lang="en-US" altLang="zh-CN" dirty="0">
                <a:solidFill>
                  <a:schemeClr val="tx1"/>
                </a:solidFill>
              </a:rPr>
              <a:t>        if(length &gt; 4){</a:t>
            </a:r>
          </a:p>
          <a:p>
            <a:pPr algn="l"/>
            <a:r>
              <a:rPr lang="en-US" altLang="zh-CN" dirty="0">
                <a:solidFill>
                  <a:schemeClr val="tx1"/>
                </a:solidFill>
              </a:rPr>
              <a:t>            printf("%d\n", length);</a:t>
            </a:r>
          </a:p>
          <a:p>
            <a:pPr algn="l"/>
            <a:r>
              <a:rPr lang="en-US" altLang="zh-CN" dirty="0">
                <a:solidFill>
                  <a:schemeClr val="tx1"/>
                </a:solidFill>
              </a:rPr>
              <a:t>        }</a:t>
            </a:r>
          </a:p>
          <a:p>
            <a:pPr algn="l"/>
            <a:r>
              <a:rPr lang="en-US" altLang="zh-CN" dirty="0">
                <a:solidFill>
                  <a:schemeClr val="tx1"/>
                </a:solidFill>
              </a:rPr>
              <a:t>    }</a:t>
            </a:r>
          </a:p>
          <a:p>
            <a:pPr algn="l"/>
            <a:endParaRPr lang="en-US" altLang="zh-CN" dirty="0">
              <a:solidFill>
                <a:schemeClr val="tx1"/>
              </a:solidFill>
            </a:endParaRPr>
          </a:p>
          <a:p>
            <a:pPr algn="l"/>
            <a:r>
              <a:rPr lang="en-US" altLang="zh-CN" dirty="0">
                <a:solidFill>
                  <a:schemeClr val="tx1"/>
                </a:solidFill>
              </a:rPr>
              <a:t>    return 0;</a:t>
            </a:r>
          </a:p>
          <a:p>
            <a:pPr algn="l"/>
            <a:r>
              <a:rPr lang="en-US" altLang="zh-CN" dirty="0">
                <a:solidFill>
                  <a:schemeClr val="tx1"/>
                </a:solidFill>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wrap="square" lIns="91440" tIns="45720" rIns="91440" bIns="45720" anchor="b" anchorCtr="0"/>
          <a:lstStyle/>
          <a:p>
            <a:r>
              <a:rPr lang="zh-CN" altLang="en-US" dirty="0"/>
              <a:t>语义分析</a:t>
            </a:r>
          </a:p>
        </p:txBody>
      </p:sp>
      <p:sp>
        <p:nvSpPr>
          <p:cNvPr id="31747" name="内容占位符 2"/>
          <p:cNvSpPr>
            <a:spLocks noGrp="1"/>
          </p:cNvSpPr>
          <p:nvPr>
            <p:ph idx="1"/>
          </p:nvPr>
        </p:nvSpPr>
        <p:spPr>
          <a:xfrm>
            <a:off x="1146205" y="1911188"/>
            <a:ext cx="7793037" cy="1067580"/>
          </a:xfrm>
        </p:spPr>
        <p:txBody>
          <a:bodyPr vert="horz" wrap="square" lIns="91440" tIns="45720" rIns="91440" bIns="45720" anchor="t" anchorCtr="0"/>
          <a:lstStyle/>
          <a:p>
            <a:r>
              <a:rPr lang="zh-CN" altLang="en-US" sz="2400" dirty="0">
                <a:sym typeface="+mn-ea"/>
              </a:rPr>
              <a:t>在语法错误的基础上增加</a:t>
            </a:r>
            <a:r>
              <a:rPr lang="zh-CN" altLang="en-US" sz="2400" b="1" dirty="0">
                <a:sym typeface="+mn-ea"/>
              </a:rPr>
              <a:t>语义错误；</a:t>
            </a:r>
          </a:p>
          <a:p>
            <a:pPr algn="l"/>
            <a:r>
              <a:rPr lang="zh-CN" altLang="en-US" sz="2400" dirty="0">
                <a:sym typeface="+mn-ea"/>
              </a:rPr>
              <a:t>错误的源程序，输出出错行号和错误类别码至</a:t>
            </a:r>
            <a:r>
              <a:rPr lang="en-US" altLang="zh-CN" sz="2400" dirty="0"/>
              <a:t>error.txt</a:t>
            </a:r>
            <a:endParaRPr lang="zh-CN" altLang="en-US" sz="2000" dirty="0"/>
          </a:p>
        </p:txBody>
      </p:sp>
      <p:sp>
        <p:nvSpPr>
          <p:cNvPr id="4" name="文本框 3"/>
          <p:cNvSpPr txBox="1"/>
          <p:nvPr/>
        </p:nvSpPr>
        <p:spPr>
          <a:xfrm>
            <a:off x="5652120" y="4062360"/>
            <a:ext cx="1800195" cy="1200329"/>
          </a:xfrm>
          <a:prstGeom prst="rect">
            <a:avLst/>
          </a:prstGeom>
          <a:noFill/>
          <a:ln>
            <a:solidFill>
              <a:schemeClr val="accent2"/>
            </a:solidFill>
          </a:ln>
        </p:spPr>
        <p:txBody>
          <a:bodyPr wrap="square" rtlCol="0">
            <a:spAutoFit/>
          </a:bodyPr>
          <a:lstStyle/>
          <a:p>
            <a:r>
              <a:rPr lang="en-US" altLang="zh-CN" sz="1800" noProof="0" dirty="0">
                <a:ln>
                  <a:noFill/>
                </a:ln>
                <a:solidFill>
                  <a:schemeClr val="tx2"/>
                </a:solidFill>
                <a:effectLst/>
                <a:uLnTx/>
                <a:uFillTx/>
              </a:rPr>
              <a:t>error.txt</a:t>
            </a:r>
          </a:p>
          <a:p>
            <a:endParaRPr lang="en-US" altLang="zh-CN" dirty="0">
              <a:solidFill>
                <a:srgbClr val="C00000"/>
              </a:solidFill>
            </a:endParaRPr>
          </a:p>
          <a:p>
            <a:r>
              <a:rPr lang="en-US" altLang="zh-CN" sz="1800" noProof="0" dirty="0">
                <a:ln>
                  <a:noFill/>
                </a:ln>
                <a:solidFill>
                  <a:srgbClr val="C00000"/>
                </a:solidFill>
                <a:effectLst/>
                <a:uLnTx/>
                <a:uFillTx/>
              </a:rPr>
              <a:t>4 h</a:t>
            </a:r>
          </a:p>
          <a:p>
            <a:r>
              <a:rPr lang="en-US" altLang="zh-CN" sz="1800" noProof="0" dirty="0">
                <a:ln>
                  <a:noFill/>
                </a:ln>
                <a:solidFill>
                  <a:srgbClr val="C00000"/>
                </a:solidFill>
                <a:effectLst/>
                <a:uLnTx/>
                <a:uFillTx/>
              </a:rPr>
              <a:t>5 </a:t>
            </a:r>
            <a:r>
              <a:rPr lang="en-US" altLang="zh-CN" sz="1800" noProof="0" dirty="0" err="1">
                <a:ln>
                  <a:noFill/>
                </a:ln>
                <a:solidFill>
                  <a:srgbClr val="C00000"/>
                </a:solidFill>
                <a:effectLst/>
                <a:uLnTx/>
                <a:uFillTx/>
              </a:rPr>
              <a:t>i</a:t>
            </a:r>
            <a:endParaRPr lang="en-US" altLang="zh-CN" sz="1800" noProof="0" dirty="0">
              <a:ln>
                <a:noFill/>
              </a:ln>
              <a:solidFill>
                <a:srgbClr val="C00000"/>
              </a:solidFill>
              <a:effectLst/>
              <a:uLnTx/>
              <a:uFillTx/>
            </a:endParaRPr>
          </a:p>
        </p:txBody>
      </p:sp>
      <p:sp>
        <p:nvSpPr>
          <p:cNvPr id="2" name="Rectangle 1"/>
          <p:cNvSpPr>
            <a:spLocks noChangeArrowheads="1"/>
          </p:cNvSpPr>
          <p:nvPr/>
        </p:nvSpPr>
        <p:spPr bwMode="auto">
          <a:xfrm>
            <a:off x="1043608" y="3213557"/>
            <a:ext cx="3755836" cy="2993066"/>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2"/>
                </a:solidFill>
                <a:effectLst/>
                <a:latin typeface="Arial Unicode MS" panose="020B0604020202020204" charset="-122"/>
                <a:ea typeface="Helvetica Neue"/>
              </a:rPr>
              <a:t>testfile.txt</a:t>
            </a:r>
          </a:p>
          <a:p>
            <a:pPr marL="0" marR="0" lvl="0" indent="0" algn="l" defTabSz="914400" rtl="0" eaLnBrk="0" fontAlgn="base" latinLnBrk="0" hangingPunct="0">
              <a:lnSpc>
                <a:spcPct val="100000"/>
              </a:lnSpc>
              <a:spcBef>
                <a:spcPct val="0"/>
              </a:spcBef>
              <a:spcAft>
                <a:spcPct val="0"/>
              </a:spcAft>
              <a:buClrTx/>
              <a:buSzTx/>
              <a:buFontTx/>
              <a:buNone/>
            </a:pPr>
            <a:endParaRPr lang="en-US" altLang="zh-CN" sz="1400" dirty="0">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400" b="0" i="0" u="none" strike="noStrike" cap="none" normalizeH="0" baseline="0" dirty="0">
                <a:ln>
                  <a:noFill/>
                </a:ln>
                <a:effectLst/>
                <a:latin typeface="Arial Unicode MS" panose="020B0604020202020204" charset="-122"/>
                <a:ea typeface="Helvetica Neue"/>
              </a:rPr>
              <a:t>const int const1 = 1, const2 = -100;</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int change1;</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int gets1(int var1,int var2){</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  const1 = 999;</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  change1 = var1 + var2          return (change1);</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int main(){</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  change1 = 10;</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  printf("Hello World$");</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  return 0;</a:t>
            </a:r>
            <a:br>
              <a:rPr kumimoji="0" lang="zh-CN" altLang="zh-CN" sz="1400" b="0" i="0" u="none" strike="noStrike" cap="none" normalizeH="0" baseline="0" dirty="0">
                <a:ln>
                  <a:noFill/>
                </a:ln>
                <a:effectLst/>
                <a:latin typeface="Arial Unicode MS" panose="020B0604020202020204" charset="-122"/>
                <a:ea typeface="Helvetica Neue"/>
              </a:rPr>
            </a:br>
            <a:r>
              <a:rPr kumimoji="0" lang="zh-CN" altLang="zh-CN" sz="1400" b="0" i="0" u="none" strike="noStrike" cap="none" normalizeH="0" baseline="0" dirty="0">
                <a:ln>
                  <a:noFill/>
                </a:ln>
                <a:effectLst/>
                <a:latin typeface="Arial Unicode MS" panose="020B0604020202020204" charset="-122"/>
                <a:ea typeface="Helvetica Neue"/>
              </a:rPr>
              <a:t>}</a:t>
            </a:r>
            <a:r>
              <a:rPr kumimoji="0" lang="zh-CN" altLang="zh-CN" sz="1400" b="0" i="0" u="none" strike="noStrike" cap="none" normalizeH="0" baseline="0" dirty="0">
                <a:ln>
                  <a:noFill/>
                </a:ln>
                <a:effectLst/>
              </a:rPr>
              <a:t> </a:t>
            </a:r>
            <a:endParaRPr kumimoji="0" lang="zh-CN" altLang="zh-CN" sz="1400" b="0" i="0" u="none" strike="noStrike" cap="none" normalizeH="0" baseline="0" dirty="0">
              <a:ln>
                <a:noFill/>
              </a:ln>
              <a:effectLst/>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1043608" y="332656"/>
            <a:ext cx="7793037" cy="767680"/>
          </a:xfrm>
        </p:spPr>
        <p:txBody>
          <a:bodyPr vert="horz" wrap="square" lIns="91440" tIns="45720" rIns="91440" bIns="45720" anchor="b" anchorCtr="0"/>
          <a:lstStyle/>
          <a:p>
            <a:r>
              <a:rPr lang="zh-CN" altLang="en-US" dirty="0"/>
              <a:t>错误类型及说明</a:t>
            </a:r>
          </a:p>
        </p:txBody>
      </p:sp>
      <p:graphicFrame>
        <p:nvGraphicFramePr>
          <p:cNvPr id="3" name="表格 2"/>
          <p:cNvGraphicFramePr/>
          <p:nvPr>
            <p:custDataLst>
              <p:tags r:id="rId1"/>
            </p:custDataLst>
          </p:nvPr>
        </p:nvGraphicFramePr>
        <p:xfrm>
          <a:off x="307355" y="1052279"/>
          <a:ext cx="6298565" cy="5741670"/>
        </p:xfrm>
        <a:graphic>
          <a:graphicData uri="http://schemas.openxmlformats.org/drawingml/2006/table">
            <a:tbl>
              <a:tblPr firstRow="1" bandRow="1">
                <a:tableStyleId>{5C22544A-7EE6-4342-B048-85BDC9FD1C3A}</a:tableStyleId>
              </a:tblPr>
              <a:tblGrid>
                <a:gridCol w="1036320">
                  <a:extLst>
                    <a:ext uri="{9D8B030D-6E8A-4147-A177-3AD203B41FA5}">
                      <a16:colId xmlns:a16="http://schemas.microsoft.com/office/drawing/2014/main" val="20000"/>
                    </a:ext>
                  </a:extLst>
                </a:gridCol>
                <a:gridCol w="396240">
                  <a:extLst>
                    <a:ext uri="{9D8B030D-6E8A-4147-A177-3AD203B41FA5}">
                      <a16:colId xmlns:a16="http://schemas.microsoft.com/office/drawing/2014/main" val="20001"/>
                    </a:ext>
                  </a:extLst>
                </a:gridCol>
                <a:gridCol w="2113915">
                  <a:extLst>
                    <a:ext uri="{9D8B030D-6E8A-4147-A177-3AD203B41FA5}">
                      <a16:colId xmlns:a16="http://schemas.microsoft.com/office/drawing/2014/main" val="20002"/>
                    </a:ext>
                  </a:extLst>
                </a:gridCol>
                <a:gridCol w="2752090">
                  <a:extLst>
                    <a:ext uri="{9D8B030D-6E8A-4147-A177-3AD203B41FA5}">
                      <a16:colId xmlns:a16="http://schemas.microsoft.com/office/drawing/2014/main" val="20003"/>
                    </a:ext>
                  </a:extLst>
                </a:gridCol>
              </a:tblGrid>
              <a:tr h="359410">
                <a:tc>
                  <a:txBody>
                    <a:bodyPr/>
                    <a:lstStyle/>
                    <a:p>
                      <a:pPr indent="0" algn="ctr">
                        <a:buNone/>
                      </a:pPr>
                      <a:r>
                        <a:rPr lang="zh-CN" sz="700" b="1">
                          <a:solidFill>
                            <a:srgbClr val="333333"/>
                          </a:solidFill>
                          <a:latin typeface="Arial" panose="020B0604020202020204" pitchFamily="34" charset="0"/>
                          <a:ea typeface="宋体" panose="02010600030101010101" pitchFamily="2" charset="-122"/>
                        </a:rPr>
                        <a:t>错误类型</a:t>
                      </a:r>
                      <a:endParaRPr lang="zh-CN" altLang="en-US" sz="700" b="1">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700" b="1">
                          <a:solidFill>
                            <a:srgbClr val="333333"/>
                          </a:solidFill>
                          <a:latin typeface="Arial" panose="020B0604020202020204" pitchFamily="34" charset="0"/>
                          <a:ea typeface="宋体" panose="02010600030101010101" pitchFamily="2" charset="-122"/>
                        </a:rPr>
                        <a:t>错误</a:t>
                      </a:r>
                    </a:p>
                    <a:p>
                      <a:pPr indent="0" algn="ctr">
                        <a:buNone/>
                      </a:pPr>
                      <a:r>
                        <a:rPr lang="zh-CN" sz="700" b="1">
                          <a:solidFill>
                            <a:srgbClr val="333333"/>
                          </a:solidFill>
                          <a:latin typeface="Arial" panose="020B0604020202020204" pitchFamily="34" charset="0"/>
                          <a:ea typeface="宋体" panose="02010600030101010101" pitchFamily="2" charset="-122"/>
                        </a:rPr>
                        <a:t>类别码</a:t>
                      </a:r>
                      <a:endParaRPr lang="zh-CN" altLang="en-US" sz="700" b="1">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700" b="1">
                          <a:solidFill>
                            <a:srgbClr val="333333"/>
                          </a:solidFill>
                          <a:latin typeface="Arial" panose="020B0604020202020204" pitchFamily="34" charset="0"/>
                          <a:ea typeface="宋体" panose="02010600030101010101" pitchFamily="2" charset="-122"/>
                        </a:rPr>
                        <a:t>解释</a:t>
                      </a:r>
                      <a:endParaRPr lang="zh-CN" altLang="en-US" sz="700" b="1">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zh-CN" sz="700" b="1">
                          <a:solidFill>
                            <a:srgbClr val="333333"/>
                          </a:solidFill>
                          <a:latin typeface="Arial" panose="020B0604020202020204" pitchFamily="34" charset="0"/>
                          <a:ea typeface="宋体" panose="02010600030101010101" pitchFamily="2" charset="-122"/>
                        </a:rPr>
                        <a:t>对应文法及出错符号</a:t>
                      </a:r>
                      <a:r>
                        <a:rPr lang="en-US" sz="700" b="1">
                          <a:solidFill>
                            <a:srgbClr val="333333"/>
                          </a:solidFill>
                          <a:latin typeface="Cambria" panose="02040503050406030204" charset="-122"/>
                        </a:rPr>
                        <a:t>(…</a:t>
                      </a:r>
                      <a:r>
                        <a:rPr lang="en-US" sz="700" b="1">
                          <a:solidFill>
                            <a:srgbClr val="333333"/>
                          </a:solidFill>
                          <a:latin typeface="宋体" panose="02010600030101010101" pitchFamily="2" charset="-122"/>
                        </a:rPr>
                        <a:t>省略该条规则后续部分</a:t>
                      </a:r>
                      <a:endParaRPr lang="en-US" altLang="en-US" sz="700" b="1">
                        <a:solidFill>
                          <a:srgbClr val="333333"/>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260350">
                <a:tc>
                  <a:txBody>
                    <a:bodyPr/>
                    <a:lstStyle/>
                    <a:p>
                      <a:pPr indent="0">
                        <a:buNone/>
                      </a:pPr>
                      <a:r>
                        <a:rPr lang="zh-CN" sz="700" b="0">
                          <a:solidFill>
                            <a:srgbClr val="333333"/>
                          </a:solidFill>
                          <a:latin typeface="Arial" panose="020B0604020202020204" pitchFamily="34" charset="0"/>
                          <a:ea typeface="宋体" panose="02010600030101010101" pitchFamily="2" charset="-122"/>
                        </a:rPr>
                        <a:t>非法符号</a:t>
                      </a:r>
                      <a:endParaRPr lang="zh-CN" altLang="en-US" sz="700" b="0">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a</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sz="700">
                          <a:solidFill>
                            <a:srgbClr val="333333"/>
                          </a:solidFill>
                        </a:rPr>
                        <a:t>出现了 '&amp;' 和 '|' 这两个符号，应该将其当做 '&amp;&amp;' 与 '||' 进行处理，报错行号为 '&amp;' 或 '|' 所在的行号。</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LAndExp</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LAndExp</a:t>
                      </a:r>
                      <a:r>
                        <a:rPr lang="en-US" sz="700" b="0" dirty="0">
                          <a:solidFill>
                            <a:srgbClr val="333333"/>
                          </a:solidFill>
                          <a:latin typeface="Cambria" panose="02040503050406030204" charset="-122"/>
                        </a:rPr>
                        <a:t> '&amp;&amp;'</a:t>
                      </a:r>
                      <a:r>
                        <a:rPr lang="en-US" sz="700" b="0" dirty="0" err="1">
                          <a:solidFill>
                            <a:srgbClr val="333333"/>
                          </a:solidFill>
                          <a:latin typeface="Cambria" panose="02040503050406030204" charset="-122"/>
                        </a:rPr>
                        <a:t>EqExp</a:t>
                      </a:r>
                      <a:endParaRPr lang="en-US" sz="700" b="0" dirty="0">
                        <a:solidFill>
                          <a:srgbClr val="333333"/>
                        </a:solidFill>
                        <a:latin typeface="Cambria" panose="02040503050406030204" charset="-122"/>
                      </a:endParaRPr>
                    </a:p>
                    <a:p>
                      <a:pPr indent="0">
                        <a:buNone/>
                      </a:pPr>
                      <a:r>
                        <a:rPr lang="en-US" sz="700" b="0" dirty="0" err="1">
                          <a:solidFill>
                            <a:srgbClr val="333333"/>
                          </a:solidFill>
                          <a:latin typeface="Cambria" panose="02040503050406030204" charset="-122"/>
                        </a:rPr>
                        <a:t>LOrExp</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LOrExp</a:t>
                      </a:r>
                      <a:r>
                        <a:rPr lang="en-US" sz="700" b="0" dirty="0">
                          <a:solidFill>
                            <a:srgbClr val="333333"/>
                          </a:solidFill>
                          <a:latin typeface="Cambria" panose="02040503050406030204" charset="-122"/>
                        </a:rPr>
                        <a:t> '||'</a:t>
                      </a:r>
                      <a:r>
                        <a:rPr lang="en-US" sz="700" b="0" dirty="0" err="1">
                          <a:solidFill>
                            <a:srgbClr val="333333"/>
                          </a:solidFill>
                          <a:latin typeface="Cambria" panose="02040503050406030204" charset="-122"/>
                        </a:rPr>
                        <a:t>LAndExp</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678815">
                <a:tc>
                  <a:txBody>
                    <a:bodyPr/>
                    <a:lstStyle/>
                    <a:p>
                      <a:pPr indent="0">
                        <a:buNone/>
                      </a:pPr>
                      <a:r>
                        <a:rPr lang="zh-CN" sz="700" b="0">
                          <a:solidFill>
                            <a:srgbClr val="333333"/>
                          </a:solidFill>
                          <a:latin typeface="Arial" panose="020B0604020202020204" pitchFamily="34" charset="0"/>
                          <a:ea typeface="宋体" panose="02010600030101010101" pitchFamily="2" charset="-122"/>
                        </a:rPr>
                        <a:t>名字重定义</a:t>
                      </a:r>
                      <a:endParaRPr lang="zh-CN" altLang="en-US" sz="700" b="0">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b</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函数名或者变量名在</a:t>
                      </a:r>
                      <a:r>
                        <a:rPr lang="en-US" sz="700" b="1">
                          <a:solidFill>
                            <a:srgbClr val="333333"/>
                          </a:solidFill>
                          <a:latin typeface="宋体" panose="02010600030101010101" pitchFamily="2" charset="-122"/>
                        </a:rPr>
                        <a:t>当前作用域</a:t>
                      </a:r>
                      <a:r>
                        <a:rPr lang="en-US" sz="700" b="0">
                          <a:solidFill>
                            <a:srgbClr val="333333"/>
                          </a:solidFill>
                          <a:latin typeface="宋体" panose="02010600030101010101" pitchFamily="2" charset="-122"/>
                        </a:rPr>
                        <a:t>下重复定义。注意，变量一定是同一级作用域下才会判定出错，不同级作用域下，内层会覆盖外层定义。报错行号为</a:t>
                      </a:r>
                      <a:r>
                        <a:rPr lang="en-US" sz="700" b="1">
                          <a:solidFill>
                            <a:srgbClr val="333333"/>
                          </a:solidFill>
                          <a:latin typeface="Cambria" panose="02040503050406030204" charset="-122"/>
                        </a:rPr>
                        <a:t>&lt;Ident&gt;</a:t>
                      </a:r>
                      <a:r>
                        <a:rPr lang="en-US" sz="700" b="0">
                          <a:solidFill>
                            <a:srgbClr val="333333"/>
                          </a:solidFill>
                          <a:latin typeface="宋体" panose="02010600030101010101" pitchFamily="2" charset="-122"/>
                        </a:rPr>
                        <a:t>所在行数。</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ConstDef</a:t>
                      </a:r>
                      <a:r>
                        <a:rPr lang="en-US" sz="700" b="0" dirty="0">
                          <a:solidFill>
                            <a:srgbClr val="333333"/>
                          </a:solidFill>
                          <a:latin typeface="Cambria" panose="02040503050406030204" charset="-122"/>
                        </a:rPr>
                        <a:t> → Ident …</a:t>
                      </a:r>
                    </a:p>
                    <a:p>
                      <a:pPr indent="0">
                        <a:buNone/>
                      </a:pPr>
                      <a:r>
                        <a:rPr lang="en-US" sz="700" b="0" dirty="0" err="1">
                          <a:solidFill>
                            <a:srgbClr val="333333"/>
                          </a:solidFill>
                          <a:latin typeface="Cambria" panose="02040503050406030204" charset="-122"/>
                        </a:rPr>
                        <a:t>VarDef</a:t>
                      </a:r>
                      <a:r>
                        <a:rPr lang="en-US" sz="700" b="0" dirty="0">
                          <a:solidFill>
                            <a:srgbClr val="333333"/>
                          </a:solidFill>
                          <a:latin typeface="Cambria" panose="02040503050406030204" charset="-122"/>
                        </a:rPr>
                        <a:t> → … Ident … Ident …</a:t>
                      </a:r>
                    </a:p>
                    <a:p>
                      <a:pPr indent="0">
                        <a:buNone/>
                      </a:pPr>
                      <a:r>
                        <a:rPr lang="en-US" sz="700" b="0" dirty="0" err="1">
                          <a:solidFill>
                            <a:srgbClr val="333333"/>
                          </a:solidFill>
                          <a:latin typeface="Cambria" panose="02040503050406030204" charset="-122"/>
                        </a:rPr>
                        <a:t>FuncDef</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FuncType</a:t>
                      </a:r>
                      <a:r>
                        <a:rPr lang="en-US" sz="700" b="0" dirty="0">
                          <a:solidFill>
                            <a:srgbClr val="333333"/>
                          </a:solidFill>
                          <a:latin typeface="Cambria" panose="02040503050406030204" charset="-122"/>
                        </a:rPr>
                        <a:t> Ident …</a:t>
                      </a:r>
                    </a:p>
                    <a:p>
                      <a:pPr indent="0">
                        <a:buNone/>
                      </a:pPr>
                      <a:r>
                        <a:rPr lang="en-US" sz="700" b="0" dirty="0" err="1">
                          <a:solidFill>
                            <a:srgbClr val="333333"/>
                          </a:solidFill>
                          <a:latin typeface="Cambria" panose="02040503050406030204" charset="-122"/>
                        </a:rPr>
                        <a:t>FuncFParam</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BType</a:t>
                      </a:r>
                      <a:r>
                        <a:rPr lang="en-US" sz="700" b="0" dirty="0">
                          <a:solidFill>
                            <a:srgbClr val="333333"/>
                          </a:solidFill>
                          <a:latin typeface="Cambria" panose="02040503050406030204" charset="-122"/>
                        </a:rPr>
                        <a:t> Ident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60985">
                <a:tc>
                  <a:txBody>
                    <a:bodyPr/>
                    <a:lstStyle/>
                    <a:p>
                      <a:pPr indent="0">
                        <a:buNone/>
                      </a:pPr>
                      <a:r>
                        <a:rPr lang="zh-CN" sz="700" b="0">
                          <a:solidFill>
                            <a:srgbClr val="333333"/>
                          </a:solidFill>
                          <a:latin typeface="Arial" panose="020B0604020202020204" pitchFamily="34" charset="0"/>
                          <a:ea typeface="宋体" panose="02010600030101010101" pitchFamily="2" charset="-122"/>
                        </a:rPr>
                        <a:t>未定义的名字</a:t>
                      </a:r>
                      <a:endParaRPr lang="zh-CN" altLang="en-US" sz="700" b="0">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c</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使用了未定义的标识符报错行号为</a:t>
                      </a:r>
                      <a:r>
                        <a:rPr lang="en-US" sz="700" b="1">
                          <a:solidFill>
                            <a:srgbClr val="333333"/>
                          </a:solidFill>
                          <a:latin typeface="Cambria" panose="02040503050406030204" charset="-122"/>
                        </a:rPr>
                        <a:t>&lt;Ident&gt;</a:t>
                      </a:r>
                      <a:r>
                        <a:rPr lang="en-US" sz="700" b="0">
                          <a:solidFill>
                            <a:srgbClr val="333333"/>
                          </a:solidFill>
                          <a:latin typeface="宋体" panose="02010600030101010101" pitchFamily="2" charset="-122"/>
                        </a:rPr>
                        <a:t>所在行数。</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LVal</a:t>
                      </a:r>
                      <a:r>
                        <a:rPr lang="en-US" sz="700" b="0" dirty="0">
                          <a:solidFill>
                            <a:srgbClr val="333333"/>
                          </a:solidFill>
                          <a:latin typeface="Cambria" panose="02040503050406030204" charset="-122"/>
                        </a:rPr>
                        <a:t> → Ident …</a:t>
                      </a:r>
                    </a:p>
                    <a:p>
                      <a:pPr indent="0">
                        <a:buNone/>
                      </a:pPr>
                      <a:r>
                        <a:rPr lang="en-US" sz="700" b="0" dirty="0" err="1">
                          <a:solidFill>
                            <a:srgbClr val="333333"/>
                          </a:solidFill>
                          <a:latin typeface="Cambria" panose="02040503050406030204" charset="-122"/>
                        </a:rPr>
                        <a:t>UnaryExp</a:t>
                      </a:r>
                      <a:r>
                        <a:rPr lang="en-US" sz="700" b="0" dirty="0">
                          <a:solidFill>
                            <a:srgbClr val="333333"/>
                          </a:solidFill>
                          <a:latin typeface="Cambria" panose="02040503050406030204" charset="-122"/>
                        </a:rPr>
                        <a:t> → Ident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58470">
                <a:tc>
                  <a:txBody>
                    <a:bodyPr/>
                    <a:lstStyle/>
                    <a:p>
                      <a:pPr indent="0">
                        <a:buNone/>
                      </a:pPr>
                      <a:r>
                        <a:rPr lang="zh-CN" sz="700" b="0">
                          <a:solidFill>
                            <a:srgbClr val="333333"/>
                          </a:solidFill>
                          <a:latin typeface="Arial" panose="020B0604020202020204" pitchFamily="34" charset="0"/>
                          <a:ea typeface="宋体" panose="02010600030101010101" pitchFamily="2" charset="-122"/>
                        </a:rPr>
                        <a:t>函数参数个数不匹配</a:t>
                      </a:r>
                      <a:endParaRPr lang="zh-CN" altLang="en-US" sz="700" b="0">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d</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函数调用语句中，参数个数与函数定义中的参数个数不匹配。报错行号为函数调用语句的</a:t>
                      </a:r>
                      <a:r>
                        <a:rPr lang="en-US" sz="700" b="1">
                          <a:solidFill>
                            <a:srgbClr val="333333"/>
                          </a:solidFill>
                          <a:latin typeface="宋体" panose="02010600030101010101" pitchFamily="2" charset="-122"/>
                        </a:rPr>
                        <a:t>函数名</a:t>
                      </a:r>
                      <a:r>
                        <a:rPr lang="en-US" sz="700" b="0">
                          <a:solidFill>
                            <a:srgbClr val="333333"/>
                          </a:solidFill>
                          <a:latin typeface="宋体" panose="02010600030101010101" pitchFamily="2" charset="-122"/>
                        </a:rPr>
                        <a:t>所在行数。</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UnaryExp</a:t>
                      </a:r>
                      <a:r>
                        <a:rPr lang="en-US" sz="700" b="0" dirty="0">
                          <a:solidFill>
                            <a:srgbClr val="333333"/>
                          </a:solidFill>
                          <a:latin typeface="Cambria" panose="02040503050406030204" charset="-122"/>
                        </a:rPr>
                        <a:t> → Ident ‘(’ [</a:t>
                      </a:r>
                      <a:r>
                        <a:rPr lang="en-US" sz="700" b="0" dirty="0" err="1">
                          <a:solidFill>
                            <a:srgbClr val="333333"/>
                          </a:solidFill>
                          <a:latin typeface="Cambria" panose="02040503050406030204" charset="-122"/>
                        </a:rPr>
                        <a:t>FuncRParams</a:t>
                      </a:r>
                      <a:r>
                        <a:rPr lang="en-US" sz="700" b="0" dirty="0">
                          <a:solidFill>
                            <a:srgbClr val="333333"/>
                          </a:solidFill>
                          <a:latin typeface="Cambria" panose="02040503050406030204" charset="-122"/>
                        </a:rPr>
                        <a:t> ]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57835">
                <a:tc>
                  <a:txBody>
                    <a:bodyPr/>
                    <a:lstStyle/>
                    <a:p>
                      <a:pPr indent="0">
                        <a:buNone/>
                      </a:pPr>
                      <a:r>
                        <a:rPr lang="zh-CN" altLang="en-US" sz="700" b="0">
                          <a:solidFill>
                            <a:srgbClr val="333333"/>
                          </a:solidFill>
                          <a:latin typeface="Arial" panose="020B0604020202020204" pitchFamily="34" charset="0"/>
                          <a:ea typeface="宋体" panose="02010600030101010101" pitchFamily="2" charset="-122"/>
                        </a:rPr>
                        <a:t>类型不匹配</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e</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altLang="en-US" sz="700" b="0">
                          <a:solidFill>
                            <a:srgbClr val="333333"/>
                          </a:solidFill>
                          <a:latin typeface="宋体" panose="02010600030101010101" pitchFamily="2" charset="-122"/>
                        </a:rPr>
                        <a:t>当表达式中出现多类型混合运算时，或者有返回值的函数返回的类型与定义的返回类型不⼀致，或者赋值语句中左值和右值类型不⼀致，或者函数参数传递时实参类型与形参类型不⼀致等情况时，报此错误。报错⾏号为发⽣类型不匹配的位置所在⾏号。</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zh-CN" sz="700" b="0" dirty="0">
                          <a:solidFill>
                            <a:srgbClr val="333333"/>
                          </a:solidFill>
                          <a:latin typeface="Cambria" panose="02040503050406030204" charset="-122"/>
                        </a:rPr>
                        <a:t>Stmt → LVal '=' Exp ';'</a:t>
                      </a:r>
                    </a:p>
                    <a:p>
                      <a:pPr indent="0">
                        <a:buNone/>
                      </a:pPr>
                      <a:r>
                        <a:rPr lang="en-US" altLang="zh-CN" sz="700" b="0" dirty="0">
                          <a:solidFill>
                            <a:srgbClr val="333333"/>
                          </a:solidFill>
                          <a:latin typeface="Cambria" panose="02040503050406030204" charset="-122"/>
                        </a:rPr>
                        <a:t>Stmt → 'return' [Exp]';'</a:t>
                      </a:r>
                    </a:p>
                    <a:p>
                      <a:pPr indent="0">
                        <a:buNone/>
                      </a:pPr>
                      <a:r>
                        <a:rPr lang="en-US" altLang="zh-CN" sz="700" b="0" dirty="0">
                          <a:solidFill>
                            <a:srgbClr val="333333"/>
                          </a:solidFill>
                          <a:latin typeface="Cambria" panose="02040503050406030204" charset="-122"/>
                        </a:rPr>
                        <a:t>UnaryExp → Ident '('[FuncRParams] ')'</a:t>
                      </a:r>
                    </a:p>
                    <a:p>
                      <a:pPr indent="0">
                        <a:buNone/>
                      </a:pPr>
                      <a:r>
                        <a:rPr lang="en-US" altLang="zh-CN" sz="700" b="0" dirty="0">
                          <a:solidFill>
                            <a:srgbClr val="333333"/>
                          </a:solidFill>
                          <a:latin typeface="Cambria" panose="02040503050406030204" charset="-122"/>
                        </a:rPr>
                        <a:t>CaseStmt → 'case' Number':' ...</a:t>
                      </a:r>
                    </a:p>
                    <a:p>
                      <a:pPr indent="0">
                        <a:buNone/>
                      </a:pPr>
                      <a:r>
                        <a:rPr lang="en-US" altLang="zh-CN" sz="700" b="0" dirty="0">
                          <a:solidFill>
                            <a:srgbClr val="333333"/>
                          </a:solidFill>
                          <a:latin typeface="Cambria" panose="02040503050406030204" charset="-122"/>
                        </a:rPr>
                        <a:t>Stmt →'printf''('StringConst{','Exp}')'';'</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359410">
                <a:tc>
                  <a:txBody>
                    <a:bodyPr/>
                    <a:lstStyle/>
                    <a:p>
                      <a:pPr indent="0">
                        <a:buNone/>
                      </a:pPr>
                      <a:r>
                        <a:rPr lang="zh-CN" sz="700" b="0">
                          <a:solidFill>
                            <a:srgbClr val="333333"/>
                          </a:solidFill>
                          <a:latin typeface="Arial" panose="020B0604020202020204" pitchFamily="34" charset="0"/>
                          <a:ea typeface="宋体" panose="02010600030101010101" pitchFamily="2" charset="-122"/>
                        </a:rPr>
                        <a:t>无返回值的函数存在不匹配的</a:t>
                      </a:r>
                      <a:r>
                        <a:rPr lang="en-US" sz="700" b="0">
                          <a:solidFill>
                            <a:srgbClr val="333333"/>
                          </a:solidFill>
                          <a:latin typeface="Cambria" panose="02040503050406030204" charset="-122"/>
                        </a:rPr>
                        <a:t>return</a:t>
                      </a:r>
                      <a:r>
                        <a:rPr lang="en-US" sz="700" b="0">
                          <a:solidFill>
                            <a:srgbClr val="333333"/>
                          </a:solidFill>
                          <a:latin typeface="宋体" panose="02010600030101010101" pitchFamily="2" charset="-122"/>
                        </a:rPr>
                        <a:t>语句</a:t>
                      </a:r>
                      <a:endParaRPr lang="en-US" altLang="en-US" sz="700" b="0">
                        <a:solidFill>
                          <a:srgbClr val="333333"/>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f</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报错行号为</a:t>
                      </a:r>
                      <a:r>
                        <a:rPr lang="en-US" sz="700" b="1">
                          <a:solidFill>
                            <a:srgbClr val="333333"/>
                          </a:solidFill>
                          <a:latin typeface="Cambria" panose="02040503050406030204" charset="-122"/>
                        </a:rPr>
                        <a:t>‘return’</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Stmt</a:t>
                      </a:r>
                      <a:r>
                        <a:rPr lang="en-US" sz="700" b="0" dirty="0">
                          <a:solidFill>
                            <a:srgbClr val="333333"/>
                          </a:solidFill>
                          <a:latin typeface="Cambria" panose="02040503050406030204" charset="-122"/>
                        </a:rPr>
                        <a:t> → ‘return’ { ‘[’ Exp ’]’ }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58470">
                <a:tc>
                  <a:txBody>
                    <a:bodyPr/>
                    <a:lstStyle/>
                    <a:p>
                      <a:pPr indent="0">
                        <a:buNone/>
                      </a:pPr>
                      <a:r>
                        <a:rPr lang="zh-CN" sz="700" b="0">
                          <a:solidFill>
                            <a:srgbClr val="333333"/>
                          </a:solidFill>
                          <a:latin typeface="Arial" panose="020B0604020202020204" pitchFamily="34" charset="0"/>
                          <a:ea typeface="宋体" panose="02010600030101010101" pitchFamily="2" charset="-122"/>
                        </a:rPr>
                        <a:t>有返回值的函数缺少</a:t>
                      </a:r>
                      <a:r>
                        <a:rPr lang="en-US" sz="700" b="0">
                          <a:solidFill>
                            <a:srgbClr val="333333"/>
                          </a:solidFill>
                          <a:latin typeface="Cambria" panose="02040503050406030204" charset="-122"/>
                        </a:rPr>
                        <a:t>return</a:t>
                      </a:r>
                      <a:r>
                        <a:rPr lang="en-US" sz="700" b="0">
                          <a:solidFill>
                            <a:srgbClr val="333333"/>
                          </a:solidFill>
                          <a:latin typeface="宋体" panose="02010600030101010101" pitchFamily="2" charset="-122"/>
                        </a:rPr>
                        <a:t>语句</a:t>
                      </a:r>
                      <a:endParaRPr lang="en-US" altLang="en-US" sz="700" b="0">
                        <a:solidFill>
                          <a:srgbClr val="333333"/>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g</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只需要考虑函数末尾是否存在</a:t>
                      </a:r>
                      <a:r>
                        <a:rPr lang="en-US" sz="700" b="0">
                          <a:solidFill>
                            <a:srgbClr val="333333"/>
                          </a:solidFill>
                          <a:latin typeface="Cambria" panose="02040503050406030204" charset="-122"/>
                        </a:rPr>
                        <a:t>return</a:t>
                      </a:r>
                      <a:r>
                        <a:rPr lang="en-US" sz="700" b="0">
                          <a:solidFill>
                            <a:srgbClr val="333333"/>
                          </a:solidFill>
                          <a:latin typeface="宋体" panose="02010600030101010101" pitchFamily="2" charset="-122"/>
                        </a:rPr>
                        <a:t>语句，</a:t>
                      </a:r>
                      <a:r>
                        <a:rPr lang="en-US" sz="700" b="1">
                          <a:solidFill>
                            <a:srgbClr val="333333"/>
                          </a:solidFill>
                          <a:latin typeface="宋体" panose="02010600030101010101" pitchFamily="2" charset="-122"/>
                        </a:rPr>
                        <a:t>无需考虑数据流</a:t>
                      </a:r>
                      <a:r>
                        <a:rPr lang="en-US" sz="700" b="0">
                          <a:solidFill>
                            <a:srgbClr val="333333"/>
                          </a:solidFill>
                          <a:latin typeface="宋体" panose="02010600030101010101" pitchFamily="2" charset="-122"/>
                        </a:rPr>
                        <a:t>。报错行号为函数</a:t>
                      </a:r>
                      <a:r>
                        <a:rPr lang="en-US" sz="700" b="1">
                          <a:solidFill>
                            <a:srgbClr val="333333"/>
                          </a:solidFill>
                          <a:latin typeface="宋体" panose="02010600030101010101" pitchFamily="2" charset="-122"/>
                        </a:rPr>
                        <a:t>结尾的</a:t>
                      </a:r>
                      <a:r>
                        <a:rPr lang="en-US" sz="700" b="1">
                          <a:solidFill>
                            <a:srgbClr val="333333"/>
                          </a:solidFill>
                          <a:latin typeface="Cambria" panose="02040503050406030204" charset="-122"/>
                        </a:rPr>
                        <a:t>’}’</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FuncDef</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FuncType</a:t>
                      </a:r>
                      <a:r>
                        <a:rPr lang="en-US" sz="700" b="0" dirty="0">
                          <a:solidFill>
                            <a:srgbClr val="333333"/>
                          </a:solidFill>
                          <a:latin typeface="Cambria" panose="02040503050406030204" charset="-122"/>
                        </a:rPr>
                        <a:t> Ident ‘(’[</a:t>
                      </a:r>
                      <a:r>
                        <a:rPr lang="en-US" sz="700" b="0" dirty="0" err="1">
                          <a:solidFill>
                            <a:srgbClr val="333333"/>
                          </a:solidFill>
                          <a:latin typeface="Cambria" panose="02040503050406030204" charset="-122"/>
                        </a:rPr>
                        <a:t>FuncFParams</a:t>
                      </a:r>
                      <a:r>
                        <a:rPr lang="en-US" sz="700" b="0" dirty="0">
                          <a:solidFill>
                            <a:srgbClr val="333333"/>
                          </a:solidFill>
                          <a:latin typeface="Cambria" panose="02040503050406030204" charset="-122"/>
                        </a:rPr>
                        <a:t>] ‘)’ Block</a:t>
                      </a:r>
                    </a:p>
                    <a:p>
                      <a:pPr indent="0">
                        <a:buNone/>
                      </a:pPr>
                      <a:r>
                        <a:rPr lang="en-US" sz="700" b="0" dirty="0" err="1">
                          <a:solidFill>
                            <a:srgbClr val="333333"/>
                          </a:solidFill>
                          <a:latin typeface="Cambria" panose="02040503050406030204" charset="-122"/>
                        </a:rPr>
                        <a:t>MainFuncDef</a:t>
                      </a:r>
                      <a:r>
                        <a:rPr lang="en-US" sz="700" b="0" dirty="0">
                          <a:solidFill>
                            <a:srgbClr val="333333"/>
                          </a:solidFill>
                          <a:latin typeface="Cambria" panose="02040503050406030204" charset="-122"/>
                        </a:rPr>
                        <a:t> → 'int' 'main' '('')' Block</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60985">
                <a:tc>
                  <a:txBody>
                    <a:bodyPr/>
                    <a:lstStyle/>
                    <a:p>
                      <a:pPr indent="0">
                        <a:buNone/>
                      </a:pPr>
                      <a:r>
                        <a:rPr lang="zh-CN" sz="700" b="0">
                          <a:solidFill>
                            <a:srgbClr val="333333"/>
                          </a:solidFill>
                          <a:latin typeface="Arial" panose="020B0604020202020204" pitchFamily="34" charset="0"/>
                          <a:ea typeface="宋体" panose="02010600030101010101" pitchFamily="2" charset="-122"/>
                        </a:rPr>
                        <a:t>不能改变常量的值</a:t>
                      </a:r>
                      <a:endParaRPr lang="zh-CN" altLang="en-US" sz="700" b="0">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h</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a:solidFill>
                            <a:srgbClr val="333333"/>
                          </a:solidFill>
                          <a:latin typeface="Cambria" panose="02040503050406030204" charset="-122"/>
                        </a:rPr>
                        <a:t>&lt;LVal&gt;</a:t>
                      </a:r>
                      <a:r>
                        <a:rPr lang="en-US" sz="700" b="0">
                          <a:solidFill>
                            <a:srgbClr val="333333"/>
                          </a:solidFill>
                          <a:latin typeface="宋体" panose="02010600030101010101" pitchFamily="2" charset="-122"/>
                        </a:rPr>
                        <a:t>为常量时，不能对其修改。报错行号为</a:t>
                      </a:r>
                      <a:r>
                        <a:rPr lang="en-US" sz="700" b="1">
                          <a:solidFill>
                            <a:srgbClr val="333333"/>
                          </a:solidFill>
                          <a:latin typeface="Cambria" panose="02040503050406030204" charset="-122"/>
                        </a:rPr>
                        <a:t>&lt;LVal&gt;</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Stmt</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LVal</a:t>
                      </a:r>
                      <a:r>
                        <a:rPr lang="en-US" sz="700" b="0" dirty="0">
                          <a:solidFill>
                            <a:srgbClr val="333333"/>
                          </a:solidFill>
                          <a:latin typeface="Cambria" panose="02040503050406030204" charset="-122"/>
                        </a:rPr>
                        <a:t> ‘=’ Exp ‘;’</a:t>
                      </a:r>
                    </a:p>
                    <a:p>
                      <a:pPr indent="0">
                        <a:buNone/>
                      </a:pPr>
                      <a:r>
                        <a:rPr lang="en-US" sz="700" b="0" dirty="0" err="1">
                          <a:solidFill>
                            <a:srgbClr val="333333"/>
                          </a:solidFill>
                          <a:latin typeface="Cambria" panose="02040503050406030204" charset="-122"/>
                        </a:rPr>
                        <a:t>ForStmt</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LVal</a:t>
                      </a:r>
                      <a:r>
                        <a:rPr lang="en-US" sz="700" b="0" dirty="0">
                          <a:solidFill>
                            <a:srgbClr val="333333"/>
                          </a:solidFill>
                          <a:latin typeface="Cambria" panose="02040503050406030204" charset="-122"/>
                        </a:rPr>
                        <a:t> '=' Exp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260350">
                <a:tc>
                  <a:txBody>
                    <a:bodyPr/>
                    <a:lstStyle/>
                    <a:p>
                      <a:pPr indent="0">
                        <a:buNone/>
                      </a:pPr>
                      <a:r>
                        <a:rPr lang="zh-CN" sz="700" b="0">
                          <a:solidFill>
                            <a:srgbClr val="333333"/>
                          </a:solidFill>
                          <a:latin typeface="Arial" panose="020B0604020202020204" pitchFamily="34" charset="0"/>
                          <a:ea typeface="宋体" panose="02010600030101010101" pitchFamily="2" charset="-122"/>
                        </a:rPr>
                        <a:t>缺少分号</a:t>
                      </a:r>
                      <a:endParaRPr lang="zh-CN" altLang="en-US" sz="700" b="0">
                        <a:solidFill>
                          <a:srgbClr val="333333"/>
                        </a:solidFill>
                        <a:latin typeface="Arial" panose="020B0604020202020204" pitchFamily="34" charset="0"/>
                        <a:ea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i</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报错行号为分号</a:t>
                      </a:r>
                      <a:r>
                        <a:rPr lang="en-US" sz="700" b="1">
                          <a:solidFill>
                            <a:srgbClr val="333333"/>
                          </a:solidFill>
                          <a:latin typeface="宋体" panose="02010600030101010101" pitchFamily="2" charset="-122"/>
                        </a:rPr>
                        <a:t>前一个非终结符</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Stmt</a:t>
                      </a:r>
                      <a:r>
                        <a:rPr lang="en-US" sz="700" b="0" dirty="0">
                          <a:solidFill>
                            <a:srgbClr val="333333"/>
                          </a:solidFill>
                          <a:latin typeface="Cambria" panose="02040503050406030204" charset="-122"/>
                        </a:rPr>
                        <a:t>, </a:t>
                      </a:r>
                      <a:r>
                        <a:rPr lang="en-US" sz="700" b="0" dirty="0" err="1">
                          <a:solidFill>
                            <a:srgbClr val="333333"/>
                          </a:solidFill>
                          <a:latin typeface="Cambria" panose="02040503050406030204" charset="-122"/>
                        </a:rPr>
                        <a:t>ConstDecl</a:t>
                      </a:r>
                      <a:r>
                        <a:rPr lang="en-US" sz="700" b="0" dirty="0">
                          <a:solidFill>
                            <a:srgbClr val="333333"/>
                          </a:solidFill>
                          <a:latin typeface="Cambria" panose="02040503050406030204" charset="-122"/>
                        </a:rPr>
                        <a:t> </a:t>
                      </a:r>
                      <a:r>
                        <a:rPr lang="zh-CN" altLang="en-US" sz="700" b="0" dirty="0">
                          <a:solidFill>
                            <a:srgbClr val="333333"/>
                          </a:solidFill>
                          <a:latin typeface="Cambria" panose="02040503050406030204" charset="-122"/>
                        </a:rPr>
                        <a:t>及 </a:t>
                      </a:r>
                      <a:r>
                        <a:rPr lang="en-US" sz="700" b="0" dirty="0" err="1">
                          <a:solidFill>
                            <a:srgbClr val="333333"/>
                          </a:solidFill>
                          <a:latin typeface="Cambria" panose="02040503050406030204" charset="-122"/>
                        </a:rPr>
                        <a:t>VarDecl</a:t>
                      </a:r>
                      <a:r>
                        <a:rPr lang="en-US" sz="700" b="0" dirty="0">
                          <a:solidFill>
                            <a:srgbClr val="333333"/>
                          </a:solidFill>
                          <a:latin typeface="Cambria" panose="02040503050406030204" charset="-122"/>
                        </a:rPr>
                        <a:t> </a:t>
                      </a:r>
                      <a:r>
                        <a:rPr lang="zh-CN" altLang="en-US" sz="700" b="0" dirty="0">
                          <a:solidFill>
                            <a:srgbClr val="333333"/>
                          </a:solidFill>
                          <a:latin typeface="Cambria" panose="02040503050406030204" charset="-122"/>
                        </a:rPr>
                        <a:t>中的 </a:t>
                      </a:r>
                      <a:r>
                        <a:rPr lang="en-US" altLang="zh-CN" sz="700" b="0" dirty="0">
                          <a:solidFill>
                            <a:srgbClr val="333333"/>
                          </a:solidFill>
                          <a:latin typeface="Cambria" panose="02040503050406030204" charset="-122"/>
                        </a:rPr>
                        <a:t>';’</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260985">
                <a:tc>
                  <a:txBody>
                    <a:bodyPr/>
                    <a:lstStyle/>
                    <a:p>
                      <a:pPr indent="0">
                        <a:buNone/>
                      </a:pPr>
                      <a:r>
                        <a:rPr lang="zh-CN" sz="700" b="0">
                          <a:solidFill>
                            <a:srgbClr val="333333"/>
                          </a:solidFill>
                          <a:latin typeface="Arial" panose="020B0604020202020204" pitchFamily="34" charset="0"/>
                          <a:ea typeface="宋体" panose="02010600030101010101" pitchFamily="2" charset="-122"/>
                        </a:rPr>
                        <a:t>缺少右小括号</a:t>
                      </a:r>
                      <a:r>
                        <a:rPr lang="en-US" sz="700" b="0">
                          <a:solidFill>
                            <a:srgbClr val="333333"/>
                          </a:solidFill>
                          <a:latin typeface="Cambria" panose="02040503050406030204" charset="-122"/>
                        </a:rPr>
                        <a:t>’)’</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j</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报错行号为右小括号</a:t>
                      </a:r>
                      <a:r>
                        <a:rPr lang="en-US" sz="700" b="1">
                          <a:solidFill>
                            <a:srgbClr val="333333"/>
                          </a:solidFill>
                          <a:latin typeface="宋体" panose="02010600030101010101" pitchFamily="2" charset="-122"/>
                        </a:rPr>
                        <a:t>前一个非终结符</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altLang="en-US" sz="700" b="0" dirty="0">
                          <a:solidFill>
                            <a:srgbClr val="333333"/>
                          </a:solidFill>
                          <a:latin typeface="Arial" panose="020B0604020202020204" pitchFamily="34" charset="0"/>
                          <a:ea typeface="宋体" panose="02010600030101010101" pitchFamily="2" charset="-122"/>
                        </a:rPr>
                        <a:t>函数调用 </a:t>
                      </a:r>
                      <a:r>
                        <a:rPr lang="en-US" altLang="zh-CN"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UnaryExp</a:t>
                      </a:r>
                      <a:r>
                        <a:rPr lang="en-US" altLang="zh-CN" sz="700" b="0" dirty="0">
                          <a:solidFill>
                            <a:srgbClr val="333333"/>
                          </a:solidFill>
                          <a:latin typeface="Arial" panose="020B0604020202020204" pitchFamily="34" charset="0"/>
                          <a:ea typeface="宋体" panose="02010600030101010101" pitchFamily="2" charset="-122"/>
                        </a:rPr>
                        <a:t> )</a:t>
                      </a:r>
                      <a:r>
                        <a:rPr lang="zh-CN" altLang="en-US" sz="700" b="0" dirty="0">
                          <a:solidFill>
                            <a:srgbClr val="333333"/>
                          </a:solidFill>
                          <a:latin typeface="Arial" panose="020B0604020202020204" pitchFamily="34" charset="0"/>
                          <a:ea typeface="宋体" panose="02010600030101010101" pitchFamily="2" charset="-122"/>
                        </a:rPr>
                        <a:t>、函数定义 </a:t>
                      </a:r>
                      <a:r>
                        <a:rPr lang="en-US" altLang="zh-CN"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FuncDef</a:t>
                      </a:r>
                      <a:r>
                        <a:rPr lang="en-US" altLang="zh-CN"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MainFuncDef</a:t>
                      </a:r>
                      <a:r>
                        <a:rPr lang="en-US" altLang="zh-CN" sz="700" b="0" dirty="0">
                          <a:solidFill>
                            <a:srgbClr val="333333"/>
                          </a:solidFill>
                          <a:latin typeface="Arial" panose="020B0604020202020204" pitchFamily="34" charset="0"/>
                          <a:ea typeface="宋体" panose="02010600030101010101" pitchFamily="2" charset="-122"/>
                        </a:rPr>
                        <a:t> )</a:t>
                      </a:r>
                    </a:p>
                    <a:p>
                      <a:pPr indent="0">
                        <a:buNone/>
                      </a:pPr>
                      <a:r>
                        <a:rPr lang="zh-CN" altLang="en-US"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Stmt</a:t>
                      </a:r>
                      <a:r>
                        <a:rPr lang="en-US" altLang="zh-CN" sz="700" b="0" dirty="0">
                          <a:solidFill>
                            <a:srgbClr val="333333"/>
                          </a:solidFill>
                          <a:latin typeface="Arial" panose="020B0604020202020204" pitchFamily="34" charset="0"/>
                          <a:ea typeface="宋体" panose="02010600030101010101" pitchFamily="2" charset="-122"/>
                        </a:rPr>
                        <a:t> </a:t>
                      </a:r>
                      <a:r>
                        <a:rPr lang="zh-CN" altLang="en-US" sz="700" b="0" dirty="0">
                          <a:solidFill>
                            <a:srgbClr val="333333"/>
                          </a:solidFill>
                          <a:latin typeface="Arial" panose="020B0604020202020204" pitchFamily="34" charset="0"/>
                          <a:ea typeface="宋体" panose="02010600030101010101" pitchFamily="2" charset="-122"/>
                        </a:rPr>
                        <a:t>及 </a:t>
                      </a:r>
                      <a:r>
                        <a:rPr lang="en-US" altLang="zh-CN" sz="700" b="0" dirty="0" err="1">
                          <a:solidFill>
                            <a:srgbClr val="333333"/>
                          </a:solidFill>
                          <a:latin typeface="Arial" panose="020B0604020202020204" pitchFamily="34" charset="0"/>
                          <a:ea typeface="宋体" panose="02010600030101010101" pitchFamily="2" charset="-122"/>
                        </a:rPr>
                        <a:t>PrimaryExp</a:t>
                      </a:r>
                      <a:r>
                        <a:rPr lang="en-US" altLang="zh-CN" sz="700" b="0" dirty="0">
                          <a:solidFill>
                            <a:srgbClr val="333333"/>
                          </a:solidFill>
                          <a:latin typeface="Arial" panose="020B0604020202020204" pitchFamily="34" charset="0"/>
                          <a:ea typeface="宋体" panose="02010600030101010101" pitchFamily="2" charset="-122"/>
                        </a:rPr>
                        <a:t> </a:t>
                      </a:r>
                      <a:r>
                        <a:rPr lang="zh-CN" altLang="en-US" sz="700" b="0" dirty="0">
                          <a:solidFill>
                            <a:srgbClr val="333333"/>
                          </a:solidFill>
                          <a:latin typeface="Arial" panose="020B0604020202020204" pitchFamily="34" charset="0"/>
                          <a:ea typeface="宋体" panose="02010600030101010101" pitchFamily="2" charset="-122"/>
                        </a:rPr>
                        <a:t>中的 </a:t>
                      </a:r>
                      <a:r>
                        <a:rPr lang="en-US" altLang="zh-CN" sz="700" b="0" dirty="0">
                          <a:solidFill>
                            <a:srgbClr val="333333"/>
                          </a:solidFill>
                          <a:latin typeface="Arial" panose="020B0604020202020204" pitchFamily="34" charset="0"/>
                          <a:ea typeface="宋体" panose="02010600030101010101" pitchFamily="2" charset="-122"/>
                        </a:rPr>
                        <a:t>')’</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382270">
                <a:tc>
                  <a:txBody>
                    <a:bodyPr/>
                    <a:lstStyle/>
                    <a:p>
                      <a:pPr indent="0">
                        <a:buNone/>
                      </a:pPr>
                      <a:r>
                        <a:rPr lang="zh-CN" sz="700" b="0">
                          <a:solidFill>
                            <a:srgbClr val="333333"/>
                          </a:solidFill>
                          <a:latin typeface="Arial" panose="020B0604020202020204" pitchFamily="34" charset="0"/>
                          <a:ea typeface="宋体" panose="02010600030101010101" pitchFamily="2" charset="-122"/>
                        </a:rPr>
                        <a:t>缺少右中括号</a:t>
                      </a:r>
                      <a:r>
                        <a:rPr lang="en-US" sz="700" b="0">
                          <a:solidFill>
                            <a:srgbClr val="333333"/>
                          </a:solidFill>
                          <a:latin typeface="Cambria" panose="02040503050406030204" charset="-122"/>
                        </a:rPr>
                        <a:t>’]’</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k</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报错行号为右中括号</a:t>
                      </a:r>
                      <a:r>
                        <a:rPr lang="en-US" sz="700" b="1">
                          <a:solidFill>
                            <a:srgbClr val="333333"/>
                          </a:solidFill>
                          <a:latin typeface="宋体" panose="02010600030101010101" pitchFamily="2" charset="-122"/>
                        </a:rPr>
                        <a:t>前一个非终结符</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altLang="en-US" sz="700" b="0" dirty="0">
                          <a:solidFill>
                            <a:srgbClr val="333333"/>
                          </a:solidFill>
                          <a:latin typeface="Arial" panose="020B0604020202020204" pitchFamily="34" charset="0"/>
                          <a:ea typeface="宋体" panose="02010600030101010101" pitchFamily="2" charset="-122"/>
                        </a:rPr>
                        <a:t>数组定义 </a:t>
                      </a:r>
                      <a:r>
                        <a:rPr lang="en-US" altLang="zh-CN"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ConstDef</a:t>
                      </a:r>
                      <a:r>
                        <a:rPr lang="en-US" altLang="zh-CN"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VarDef,FuncFParam</a:t>
                      </a:r>
                      <a:r>
                        <a:rPr lang="en-US" altLang="zh-CN" sz="700" b="0" dirty="0">
                          <a:solidFill>
                            <a:srgbClr val="333333"/>
                          </a:solidFill>
                          <a:latin typeface="Arial" panose="020B0604020202020204" pitchFamily="34" charset="0"/>
                          <a:ea typeface="宋体" panose="02010600030101010101" pitchFamily="2" charset="-122"/>
                        </a:rPr>
                        <a:t> ) </a:t>
                      </a:r>
                      <a:r>
                        <a:rPr lang="zh-CN" altLang="en-US" sz="700" b="0" dirty="0">
                          <a:solidFill>
                            <a:srgbClr val="333333"/>
                          </a:solidFill>
                          <a:latin typeface="Arial" panose="020B0604020202020204" pitchFamily="34" charset="0"/>
                          <a:ea typeface="宋体" panose="02010600030101010101" pitchFamily="2" charset="-122"/>
                        </a:rPr>
                        <a:t>和使用 </a:t>
                      </a:r>
                      <a:r>
                        <a:rPr lang="en-US" altLang="zh-CN" sz="700" b="0" dirty="0">
                          <a:solidFill>
                            <a:srgbClr val="333333"/>
                          </a:solidFill>
                          <a:latin typeface="Arial" panose="020B0604020202020204" pitchFamily="34" charset="0"/>
                          <a:ea typeface="宋体" panose="02010600030101010101" pitchFamily="2" charset="-122"/>
                        </a:rPr>
                        <a:t>( </a:t>
                      </a:r>
                      <a:r>
                        <a:rPr lang="en-US" altLang="zh-CN" sz="700" b="0" dirty="0" err="1">
                          <a:solidFill>
                            <a:srgbClr val="333333"/>
                          </a:solidFill>
                          <a:latin typeface="Arial" panose="020B0604020202020204" pitchFamily="34" charset="0"/>
                          <a:ea typeface="宋体" panose="02010600030101010101" pitchFamily="2" charset="-122"/>
                        </a:rPr>
                        <a:t>LVal</a:t>
                      </a:r>
                      <a:r>
                        <a:rPr lang="en-US" altLang="zh-CN" sz="700" b="0" dirty="0">
                          <a:solidFill>
                            <a:srgbClr val="333333"/>
                          </a:solidFill>
                          <a:latin typeface="Arial" panose="020B0604020202020204" pitchFamily="34" charset="0"/>
                          <a:ea typeface="宋体" panose="02010600030101010101" pitchFamily="2" charset="-122"/>
                        </a:rPr>
                        <a:t> )</a:t>
                      </a:r>
                    </a:p>
                    <a:p>
                      <a:pPr indent="0">
                        <a:buNone/>
                      </a:pPr>
                      <a:r>
                        <a:rPr lang="zh-CN" altLang="en-US" sz="700" b="0" dirty="0">
                          <a:solidFill>
                            <a:srgbClr val="333333"/>
                          </a:solidFill>
                          <a:latin typeface="Arial" panose="020B0604020202020204" pitchFamily="34" charset="0"/>
                          <a:ea typeface="宋体" panose="02010600030101010101" pitchFamily="2" charset="-122"/>
                        </a:rPr>
                        <a:t>中的 </a:t>
                      </a:r>
                      <a:r>
                        <a:rPr lang="en-US" altLang="zh-CN" sz="700" b="0" dirty="0">
                          <a:solidFill>
                            <a:srgbClr val="333333"/>
                          </a:solidFill>
                          <a:latin typeface="Arial" panose="020B0604020202020204" pitchFamily="34" charset="0"/>
                          <a:ea typeface="宋体" panose="02010600030101010101" pitchFamily="2" charset="-122"/>
                        </a:rPr>
                        <a:t>']’</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r h="367665">
                <a:tc>
                  <a:txBody>
                    <a:bodyPr/>
                    <a:lstStyle/>
                    <a:p>
                      <a:pPr indent="0">
                        <a:buNone/>
                      </a:pPr>
                      <a:r>
                        <a:rPr lang="en-US" sz="700" b="0">
                          <a:solidFill>
                            <a:srgbClr val="333333"/>
                          </a:solidFill>
                          <a:latin typeface="Cambria" panose="02040503050406030204" charset="-122"/>
                        </a:rPr>
                        <a:t>printf</a:t>
                      </a:r>
                      <a:r>
                        <a:rPr lang="en-US" sz="700" b="0">
                          <a:solidFill>
                            <a:srgbClr val="333333"/>
                          </a:solidFill>
                          <a:latin typeface="宋体" panose="02010600030101010101" pitchFamily="2" charset="-122"/>
                        </a:rPr>
                        <a:t>中格式字符与表达式个数不匹配</a:t>
                      </a:r>
                      <a:endParaRPr lang="en-US" altLang="en-US" sz="700" b="0">
                        <a:solidFill>
                          <a:srgbClr val="333333"/>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l</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报错行号为</a:t>
                      </a:r>
                      <a:r>
                        <a:rPr lang="en-US" sz="700" b="1">
                          <a:solidFill>
                            <a:srgbClr val="333333"/>
                          </a:solidFill>
                          <a:latin typeface="Cambria" panose="02040503050406030204" charset="-122"/>
                        </a:rPr>
                        <a:t>‘printf’</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a:solidFill>
                            <a:srgbClr val="333333"/>
                          </a:solidFill>
                          <a:latin typeface="Cambria" panose="02040503050406030204" charset="-122"/>
                        </a:rPr>
                        <a:t>'</a:t>
                      </a:r>
                      <a:r>
                        <a:rPr lang="en-US" sz="700" b="0" dirty="0" err="1">
                          <a:solidFill>
                            <a:srgbClr val="333333"/>
                          </a:solidFill>
                          <a:latin typeface="Cambria" panose="02040503050406030204" charset="-122"/>
                        </a:rPr>
                        <a:t>printf</a:t>
                      </a:r>
                      <a:r>
                        <a:rPr lang="en-US" sz="700" b="0" dirty="0">
                          <a:solidFill>
                            <a:srgbClr val="333333"/>
                          </a:solidFill>
                          <a:latin typeface="Cambria" panose="02040503050406030204" charset="-122"/>
                        </a:rPr>
                        <a:t>' '(' </a:t>
                      </a:r>
                      <a:r>
                        <a:rPr lang="en-US" sz="700" b="0" dirty="0" err="1">
                          <a:solidFill>
                            <a:srgbClr val="333333"/>
                          </a:solidFill>
                          <a:latin typeface="Cambria" panose="02040503050406030204" charset="-122"/>
                        </a:rPr>
                        <a:t>StringConst</a:t>
                      </a:r>
                      <a:r>
                        <a:rPr lang="en-US" sz="700" b="0" dirty="0">
                          <a:solidFill>
                            <a:srgbClr val="333333"/>
                          </a:solidFill>
                          <a:latin typeface="Cambria" panose="02040503050406030204" charset="-122"/>
                        </a:rPr>
                        <a:t> {',' Exp}')'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2"/>
                  </a:ext>
                </a:extLst>
              </a:tr>
              <a:tr h="359410">
                <a:tc>
                  <a:txBody>
                    <a:bodyPr/>
                    <a:lstStyle/>
                    <a:p>
                      <a:pPr indent="0">
                        <a:buNone/>
                      </a:pPr>
                      <a:r>
                        <a:rPr lang="zh-CN" sz="700" b="0" dirty="0">
                          <a:solidFill>
                            <a:srgbClr val="333333"/>
                          </a:solidFill>
                          <a:latin typeface="Arial" panose="020B0604020202020204" pitchFamily="34" charset="0"/>
                          <a:ea typeface="宋体" panose="02010600030101010101" pitchFamily="2" charset="-122"/>
                        </a:rPr>
                        <a:t>在非循环块中使用</a:t>
                      </a:r>
                      <a:r>
                        <a:rPr lang="en-US" sz="700" b="0" dirty="0" err="1">
                          <a:solidFill>
                            <a:srgbClr val="333333"/>
                          </a:solidFill>
                          <a:latin typeface="Cambria" panose="02040503050406030204" charset="-122"/>
                        </a:rPr>
                        <a:t>break</a:t>
                      </a:r>
                      <a:r>
                        <a:rPr lang="en-US" sz="700" b="0" dirty="0" err="1">
                          <a:solidFill>
                            <a:srgbClr val="333333"/>
                          </a:solidFill>
                          <a:latin typeface="宋体" panose="02010600030101010101" pitchFamily="2" charset="-122"/>
                        </a:rPr>
                        <a:t>和</a:t>
                      </a:r>
                      <a:r>
                        <a:rPr lang="en-US" sz="700" b="0" dirty="0" err="1">
                          <a:solidFill>
                            <a:srgbClr val="333333"/>
                          </a:solidFill>
                          <a:latin typeface="Cambria" panose="02040503050406030204" charset="-122"/>
                        </a:rPr>
                        <a:t>continue</a:t>
                      </a:r>
                      <a:r>
                        <a:rPr lang="en-US" sz="700" b="0" dirty="0" err="1">
                          <a:solidFill>
                            <a:srgbClr val="333333"/>
                          </a:solidFill>
                          <a:latin typeface="宋体" panose="02010600030101010101" pitchFamily="2" charset="-122"/>
                        </a:rPr>
                        <a:t>语句</a:t>
                      </a:r>
                      <a:endParaRPr lang="en-US" altLang="en-US" sz="700" b="0" dirty="0" err="1">
                        <a:solidFill>
                          <a:srgbClr val="333333"/>
                        </a:solidFill>
                        <a:latin typeface="宋体" panose="02010600030101010101" pitchFamily="2"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sz="700" b="0">
                          <a:solidFill>
                            <a:srgbClr val="333333"/>
                          </a:solidFill>
                          <a:latin typeface="Cambria" panose="02040503050406030204" charset="-122"/>
                        </a:rPr>
                        <a:t>m</a:t>
                      </a:r>
                      <a:endParaRPr lang="en-US" altLang="en-US" sz="700" b="0">
                        <a:solidFill>
                          <a:srgbClr val="333333"/>
                        </a:solidFill>
                        <a:latin typeface="Cambria" panose="02040503050406030204" charset="-122"/>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zh-CN" sz="700" b="0">
                          <a:solidFill>
                            <a:srgbClr val="333333"/>
                          </a:solidFill>
                          <a:latin typeface="Arial" panose="020B0604020202020204" pitchFamily="34" charset="0"/>
                          <a:ea typeface="宋体" panose="02010600030101010101" pitchFamily="2" charset="-122"/>
                        </a:rPr>
                        <a:t>报错行号为</a:t>
                      </a:r>
                      <a:r>
                        <a:rPr lang="en-US" sz="700" b="1">
                          <a:solidFill>
                            <a:srgbClr val="333333"/>
                          </a:solidFill>
                          <a:latin typeface="Cambria" panose="02040503050406030204" charset="-122"/>
                        </a:rPr>
                        <a:t>‘break’</a:t>
                      </a:r>
                      <a:r>
                        <a:rPr lang="en-US" sz="700" b="1">
                          <a:solidFill>
                            <a:srgbClr val="333333"/>
                          </a:solidFill>
                          <a:latin typeface="宋体" panose="02010600030101010101" pitchFamily="2" charset="-122"/>
                        </a:rPr>
                        <a:t>与</a:t>
                      </a:r>
                      <a:r>
                        <a:rPr lang="en-US" sz="700" b="1">
                          <a:solidFill>
                            <a:srgbClr val="333333"/>
                          </a:solidFill>
                          <a:latin typeface="Cambria" panose="02040503050406030204" charset="-122"/>
                        </a:rPr>
                        <a:t>’continue’</a:t>
                      </a:r>
                      <a:r>
                        <a:rPr lang="en-US" sz="700" b="0">
                          <a:solidFill>
                            <a:srgbClr val="333333"/>
                          </a:solidFill>
                          <a:latin typeface="宋体" panose="02010600030101010101" pitchFamily="2" charset="-122"/>
                        </a:rPr>
                        <a:t>所在行号。</a:t>
                      </a:r>
                      <a:endParaRPr lang="en-US" altLang="en-US" sz="700" b="0">
                        <a:solidFill>
                          <a:srgbClr val="333333"/>
                        </a:solidFill>
                        <a:latin typeface="宋体" panose="02010600030101010101" pitchFamily="2"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sz="700" b="0" dirty="0" err="1">
                          <a:solidFill>
                            <a:srgbClr val="333333"/>
                          </a:solidFill>
                          <a:latin typeface="Cambria" panose="02040503050406030204" charset="-122"/>
                        </a:rPr>
                        <a:t>Stmt</a:t>
                      </a:r>
                      <a:r>
                        <a:rPr lang="en-US" sz="700" b="0" dirty="0">
                          <a:solidFill>
                            <a:srgbClr val="333333"/>
                          </a:solidFill>
                          <a:latin typeface="Cambria" panose="02040503050406030204" charset="-122"/>
                        </a:rPr>
                        <a:t> → ‘break’ ‘;’|‘continue’ ‘;’</a:t>
                      </a:r>
                      <a:endParaRPr lang="en-US" altLang="en-US" sz="700" b="0" dirty="0">
                        <a:solidFill>
                          <a:srgbClr val="333333"/>
                        </a:solidFill>
                        <a:latin typeface="Cambria" panose="02040503050406030204" charset="-122"/>
                      </a:endParaRP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3"/>
                  </a:ext>
                </a:extLst>
              </a:tr>
              <a:tr h="359410">
                <a:tc>
                  <a:txBody>
                    <a:bodyPr/>
                    <a:lstStyle/>
                    <a:p>
                      <a:pPr indent="0">
                        <a:buNone/>
                      </a:pPr>
                      <a:r>
                        <a:rPr lang="en-US" altLang="zh-CN" sz="700" b="0" dirty="0">
                          <a:solidFill>
                            <a:srgbClr val="333333"/>
                          </a:solidFill>
                          <a:latin typeface="宋体" panose="02010600030101010101" pitchFamily="2" charset="-122"/>
                        </a:rPr>
                        <a:t>switch </a:t>
                      </a:r>
                      <a:r>
                        <a:rPr lang="zh-CN" altLang="en-US" sz="700" b="0" dirty="0">
                          <a:solidFill>
                            <a:srgbClr val="333333"/>
                          </a:solidFill>
                          <a:latin typeface="宋体" panose="02010600030101010101" pitchFamily="2" charset="-122"/>
                        </a:rPr>
                        <a:t>语句中 </a:t>
                      </a:r>
                      <a:r>
                        <a:rPr lang="en-US" altLang="zh-CN" sz="700" b="0" dirty="0">
                          <a:solidFill>
                            <a:srgbClr val="333333"/>
                          </a:solidFill>
                          <a:latin typeface="宋体" panose="02010600030101010101" pitchFamily="2" charset="-122"/>
                        </a:rPr>
                        <a:t>case</a:t>
                      </a:r>
                    </a:p>
                    <a:p>
                      <a:pPr indent="0">
                        <a:buNone/>
                      </a:pPr>
                      <a:r>
                        <a:rPr lang="zh-CN" altLang="en-US" sz="700" b="0" dirty="0">
                          <a:solidFill>
                            <a:srgbClr val="333333"/>
                          </a:solidFill>
                          <a:latin typeface="宋体" panose="02010600030101010101" pitchFamily="2" charset="-122"/>
                        </a:rPr>
                        <a:t>和</a:t>
                      </a:r>
                      <a:r>
                        <a:rPr lang="en-US" altLang="zh-CN" sz="700" b="0" dirty="0">
                          <a:solidFill>
                            <a:srgbClr val="333333"/>
                          </a:solidFill>
                          <a:latin typeface="宋体" panose="02010600030101010101" pitchFamily="2" charset="-122"/>
                        </a:rPr>
                        <a:t>default</a:t>
                      </a:r>
                      <a:r>
                        <a:rPr lang="zh-CN" altLang="en-US" sz="700" b="0" dirty="0">
                          <a:solidFill>
                            <a:srgbClr val="333333"/>
                          </a:solidFill>
                          <a:latin typeface="宋体" panose="02010600030101010101" pitchFamily="2" charset="-122"/>
                        </a:rPr>
                        <a:t>重复</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lgn="ctr">
                        <a:buNone/>
                      </a:pPr>
                      <a:r>
                        <a:rPr lang="en-US" altLang="en-US" sz="700" b="0">
                          <a:solidFill>
                            <a:srgbClr val="333333"/>
                          </a:solidFill>
                          <a:latin typeface="Cambria" panose="02040503050406030204" charset="-122"/>
                        </a:rPr>
                        <a:t>n</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zh-CN" sz="700" b="0">
                          <a:solidFill>
                            <a:srgbClr val="333333"/>
                          </a:solidFill>
                          <a:latin typeface="宋体" panose="02010600030101010101" pitchFamily="2" charset="-122"/>
                        </a:rPr>
                        <a:t>switch </a:t>
                      </a:r>
                      <a:r>
                        <a:rPr lang="zh-CN" altLang="en-US" sz="700" b="0">
                          <a:solidFill>
                            <a:srgbClr val="333333"/>
                          </a:solidFill>
                          <a:latin typeface="宋体" panose="02010600030101010101" pitchFamily="2" charset="-122"/>
                        </a:rPr>
                        <a:t>语句中出现了重复的 </a:t>
                      </a:r>
                      <a:r>
                        <a:rPr lang="en-US" altLang="zh-CN" sz="700" b="0">
                          <a:solidFill>
                            <a:srgbClr val="333333"/>
                          </a:solidFill>
                          <a:latin typeface="宋体" panose="02010600030101010101" pitchFamily="2" charset="-122"/>
                        </a:rPr>
                        <a:t>case </a:t>
                      </a:r>
                      <a:r>
                        <a:rPr lang="zh-CN" altLang="en-US" sz="700" b="0">
                          <a:solidFill>
                            <a:srgbClr val="333333"/>
                          </a:solidFill>
                          <a:latin typeface="宋体" panose="02010600030101010101" pitchFamily="2" charset="-122"/>
                        </a:rPr>
                        <a:t>常量值，或者出现了多个 </a:t>
                      </a:r>
                      <a:r>
                        <a:rPr lang="en-US" altLang="zh-CN" sz="700" b="0">
                          <a:solidFill>
                            <a:srgbClr val="333333"/>
                          </a:solidFill>
                          <a:latin typeface="宋体" panose="02010600030101010101" pitchFamily="2" charset="-122"/>
                        </a:rPr>
                        <a:t>default </a:t>
                      </a:r>
                      <a:r>
                        <a:rPr lang="zh-CN" altLang="en-US" sz="700" b="0">
                          <a:solidFill>
                            <a:srgbClr val="333333"/>
                          </a:solidFill>
                          <a:latin typeface="宋体" panose="02010600030101010101" pitchFamily="2" charset="-122"/>
                        </a:rPr>
                        <a:t>分⽀。报错⾏号为重复的 '</a:t>
                      </a:r>
                      <a:r>
                        <a:rPr lang="en-US" altLang="zh-CN" sz="700" b="0">
                          <a:solidFill>
                            <a:srgbClr val="333333"/>
                          </a:solidFill>
                          <a:latin typeface="宋体" panose="02010600030101010101" pitchFamily="2" charset="-122"/>
                        </a:rPr>
                        <a:t>case' </a:t>
                      </a:r>
                      <a:r>
                        <a:rPr lang="zh-CN" altLang="en-US" sz="700" b="0">
                          <a:solidFill>
                            <a:srgbClr val="333333"/>
                          </a:solidFill>
                          <a:latin typeface="宋体" panose="02010600030101010101" pitchFamily="2" charset="-122"/>
                        </a:rPr>
                        <a:t>或 '</a:t>
                      </a:r>
                      <a:r>
                        <a:rPr lang="en-US" altLang="zh-CN" sz="700" b="0">
                          <a:solidFill>
                            <a:srgbClr val="333333"/>
                          </a:solidFill>
                          <a:latin typeface="宋体" panose="02010600030101010101" pitchFamily="2" charset="-122"/>
                        </a:rPr>
                        <a:t>default' </a:t>
                      </a:r>
                      <a:r>
                        <a:rPr lang="zh-CN" altLang="en-US" sz="700" b="0">
                          <a:solidFill>
                            <a:srgbClr val="333333"/>
                          </a:solidFill>
                          <a:latin typeface="宋体" panose="02010600030101010101" pitchFamily="2" charset="-122"/>
                        </a:rPr>
                        <a:t>所在⾏号。</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p>
                      <a:pPr indent="0">
                        <a:buNone/>
                      </a:pPr>
                      <a:r>
                        <a:rPr lang="en-US" altLang="zh-CN" sz="700" b="0" dirty="0">
                          <a:solidFill>
                            <a:srgbClr val="333333"/>
                          </a:solidFill>
                          <a:latin typeface="Cambria" panose="02040503050406030204" charset="-122"/>
                        </a:rPr>
                        <a:t>CaseStmt → 'case' Number':' { Stmt } </a:t>
                      </a:r>
                    </a:p>
                    <a:p>
                      <a:pPr indent="0">
                        <a:buNone/>
                      </a:pPr>
                      <a:r>
                        <a:rPr lang="en-US" altLang="zh-CN" sz="700" b="0" dirty="0">
                          <a:solidFill>
                            <a:srgbClr val="333333"/>
                          </a:solidFill>
                          <a:latin typeface="Cambria" panose="02040503050406030204" charset="-122"/>
                        </a:rPr>
                        <a:t>| 'default' ':' { Stmt }</a:t>
                      </a:r>
                    </a:p>
                  </a:txBody>
                  <a:tcPr marL="12700" marR="12700" marT="1270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4"/>
                  </a:ext>
                </a:extLst>
              </a:tr>
            </a:tbl>
          </a:graphicData>
        </a:graphic>
      </p:graphicFrame>
      <p:sp>
        <p:nvSpPr>
          <p:cNvPr id="5" name="文本框 4"/>
          <p:cNvSpPr txBox="1"/>
          <p:nvPr/>
        </p:nvSpPr>
        <p:spPr>
          <a:xfrm>
            <a:off x="6732240" y="2276872"/>
            <a:ext cx="2160240" cy="2585323"/>
          </a:xfrm>
          <a:prstGeom prst="rect">
            <a:avLst/>
          </a:prstGeom>
          <a:noFill/>
          <a:ln>
            <a:solidFill>
              <a:schemeClr val="accent2"/>
            </a:solidFill>
          </a:ln>
        </p:spPr>
        <p:txBody>
          <a:bodyPr wrap="square">
            <a:spAutoFit/>
          </a:bodyPr>
          <a:lstStyle/>
          <a:p>
            <a:pPr marL="285750" indent="-285750">
              <a:buFont typeface="Arial" panose="020B0604020202020204" pitchFamily="34" charset="0"/>
              <a:buChar char="•"/>
            </a:pPr>
            <a:r>
              <a:rPr lang="zh-CN" altLang="en-US" sz="1800" dirty="0">
                <a:solidFill>
                  <a:srgbClr val="333333"/>
                </a:solidFill>
                <a:effectLst/>
                <a:latin typeface="微软雅黑" panose="020B0503020204020204" charset="-122"/>
                <a:ea typeface="微软雅黑" panose="020B0503020204020204" charset="-122"/>
              </a:rPr>
              <a:t>错误类别</a:t>
            </a:r>
            <a:r>
              <a:rPr lang="zh-CN" altLang="en-US" sz="1800" dirty="0">
                <a:solidFill>
                  <a:srgbClr val="333333"/>
                </a:solidFill>
                <a:effectLst/>
                <a:latin typeface="OpenSans-Regular"/>
              </a:rPr>
              <a:t> </a:t>
            </a:r>
            <a:r>
              <a:rPr lang="en-US" altLang="zh-CN" sz="1800" dirty="0">
                <a:solidFill>
                  <a:srgbClr val="333333"/>
                </a:solidFill>
                <a:effectLst/>
                <a:latin typeface="OpenSans-Regular"/>
              </a:rPr>
              <a:t>a </a:t>
            </a:r>
            <a:r>
              <a:rPr lang="zh-CN" altLang="en-US" sz="1800" dirty="0">
                <a:solidFill>
                  <a:srgbClr val="333333"/>
                </a:solidFill>
                <a:effectLst/>
                <a:latin typeface="微软雅黑" panose="020B0503020204020204" charset="-122"/>
                <a:ea typeface="微软雅黑" panose="020B0503020204020204" charset="-122"/>
              </a:rPr>
              <a:t>为词法分析中会出现的错误。 </a:t>
            </a:r>
            <a:endParaRPr lang="zh-CN" altLang="en-US" dirty="0"/>
          </a:p>
          <a:p>
            <a:pPr marL="285750" indent="-285750">
              <a:buFont typeface="Arial" panose="020B0604020202020204" pitchFamily="34" charset="0"/>
              <a:buChar char="•"/>
            </a:pPr>
            <a:r>
              <a:rPr lang="zh-CN" altLang="en-US" sz="1800" dirty="0">
                <a:solidFill>
                  <a:srgbClr val="333333"/>
                </a:solidFill>
                <a:effectLst/>
                <a:latin typeface="微软雅黑" panose="020B0503020204020204" charset="-122"/>
                <a:ea typeface="微软雅黑" panose="020B0503020204020204" charset="-122"/>
              </a:rPr>
              <a:t>错误类别</a:t>
            </a:r>
            <a:r>
              <a:rPr lang="zh-CN" altLang="en-US" sz="1800" dirty="0">
                <a:solidFill>
                  <a:srgbClr val="333333"/>
                </a:solidFill>
                <a:effectLst/>
                <a:latin typeface="OpenSans-Regular"/>
              </a:rPr>
              <a:t> </a:t>
            </a:r>
            <a:r>
              <a:rPr lang="en-US" altLang="zh-CN" sz="1800" dirty="0" err="1">
                <a:solidFill>
                  <a:srgbClr val="333333"/>
                </a:solidFill>
                <a:effectLst/>
                <a:latin typeface="OpenSans-Regular"/>
              </a:rPr>
              <a:t>i</a:t>
            </a:r>
            <a:r>
              <a:rPr lang="en-US" altLang="zh-CN" sz="1800" dirty="0">
                <a:solidFill>
                  <a:srgbClr val="333333"/>
                </a:solidFill>
                <a:effectLst/>
                <a:latin typeface="OpenSans-Regular"/>
              </a:rPr>
              <a:t>, j, k </a:t>
            </a:r>
            <a:r>
              <a:rPr lang="zh-CN" altLang="en-US" sz="1800" dirty="0">
                <a:solidFill>
                  <a:srgbClr val="333333"/>
                </a:solidFill>
                <a:effectLst/>
                <a:latin typeface="微软雅黑" panose="020B0503020204020204" charset="-122"/>
                <a:ea typeface="微软雅黑" panose="020B0503020204020204" charset="-122"/>
              </a:rPr>
              <a:t>为语法分析中会出现的错误。 </a:t>
            </a:r>
            <a:endParaRPr lang="zh-CN" altLang="en-US" dirty="0"/>
          </a:p>
          <a:p>
            <a:pPr marL="285750" indent="-285750">
              <a:buFont typeface="Arial" panose="020B0604020202020204" pitchFamily="34" charset="0"/>
              <a:buChar char="•"/>
            </a:pPr>
            <a:r>
              <a:rPr lang="zh-CN" altLang="en-US" sz="1800" dirty="0">
                <a:solidFill>
                  <a:srgbClr val="333333"/>
                </a:solidFill>
                <a:effectLst/>
                <a:latin typeface="微软雅黑" panose="020B0503020204020204" charset="-122"/>
                <a:ea typeface="微软雅黑" panose="020B0503020204020204" charset="-122"/>
              </a:rPr>
              <a:t>剩余错误类别均为语义分析中会出现的错误。</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wrap="square" lIns="91440" tIns="45720" rIns="91440" bIns="45720" anchor="b" anchorCtr="0"/>
          <a:lstStyle/>
          <a:p>
            <a:r>
              <a:rPr lang="zh-CN" altLang="en-US" dirty="0"/>
              <a:t>代码生成</a:t>
            </a:r>
          </a:p>
        </p:txBody>
      </p:sp>
      <p:sp>
        <p:nvSpPr>
          <p:cNvPr id="32771" name="内容占位符 2"/>
          <p:cNvSpPr>
            <a:spLocks noGrp="1"/>
          </p:cNvSpPr>
          <p:nvPr>
            <p:ph idx="1"/>
          </p:nvPr>
        </p:nvSpPr>
        <p:spPr>
          <a:xfrm>
            <a:off x="1182688" y="2017713"/>
            <a:ext cx="7793036" cy="4003576"/>
          </a:xfrm>
        </p:spPr>
        <p:txBody>
          <a:bodyPr vert="horz" wrap="square" lIns="91440" tIns="45720" rIns="91440" bIns="45720" anchor="t" anchorCtr="0"/>
          <a:lstStyle/>
          <a:p>
            <a:r>
              <a:rPr lang="zh-CN" altLang="en-US" sz="2800" dirty="0"/>
              <a:t>考核目标代码的运行结果</a:t>
            </a:r>
            <a:endParaRPr lang="en-US" altLang="zh-CN" sz="2800" dirty="0"/>
          </a:p>
          <a:p>
            <a:pPr lvl="1"/>
            <a:r>
              <a:rPr lang="en-US" altLang="zh-CN" sz="2400" dirty="0"/>
              <a:t>PCODE</a:t>
            </a:r>
            <a:r>
              <a:rPr lang="zh-CN" altLang="en-US" sz="2400" dirty="0"/>
              <a:t>：在</a:t>
            </a:r>
            <a:r>
              <a:rPr lang="zh-CN" altLang="en-US" sz="2400" dirty="0">
                <a:solidFill>
                  <a:srgbClr val="FF0000"/>
                </a:solidFill>
              </a:rPr>
              <a:t>解释执行程序</a:t>
            </a:r>
            <a:r>
              <a:rPr lang="zh-CN" altLang="en-US" sz="2400" dirty="0"/>
              <a:t>上的运行结果</a:t>
            </a:r>
            <a:endParaRPr lang="en-US" altLang="zh-CN" sz="2400" dirty="0"/>
          </a:p>
          <a:p>
            <a:pPr lvl="1"/>
            <a:r>
              <a:rPr lang="en-US" altLang="zh-CN" sz="2400" dirty="0"/>
              <a:t>MIPS</a:t>
            </a:r>
            <a:r>
              <a:rPr lang="zh-CN" altLang="en-US" sz="2400" dirty="0"/>
              <a:t>：用</a:t>
            </a:r>
            <a:r>
              <a:rPr lang="en-US" altLang="zh-CN" sz="2400" dirty="0"/>
              <a:t>Mars</a:t>
            </a:r>
            <a:r>
              <a:rPr lang="zh-CN" altLang="en-US" sz="2400" dirty="0"/>
              <a:t>运行的结果</a:t>
            </a:r>
            <a:endParaRPr lang="en-US" altLang="zh-CN" sz="2400" dirty="0"/>
          </a:p>
          <a:p>
            <a:pPr lvl="1"/>
            <a:r>
              <a:rPr lang="en-US" altLang="zh-CN" sz="2400" dirty="0"/>
              <a:t>LLVM IR: </a:t>
            </a:r>
            <a:r>
              <a:rPr lang="zh-CN" altLang="en-US" sz="2400" dirty="0"/>
              <a:t>用</a:t>
            </a:r>
            <a:r>
              <a:rPr lang="en-US" altLang="zh-CN" sz="2400" dirty="0"/>
              <a:t>llc</a:t>
            </a:r>
            <a:r>
              <a:rPr lang="zh-CN" altLang="en-US" sz="2400" dirty="0"/>
              <a:t>工具运行的结果</a:t>
            </a:r>
            <a:endParaRPr lang="en-US" altLang="zh-CN" sz="2400" dirty="0"/>
          </a:p>
          <a:p>
            <a:r>
              <a:rPr lang="zh-CN" altLang="en-US" sz="2800" dirty="0"/>
              <a:t>分两次作业</a:t>
            </a:r>
            <a:endParaRPr lang="en-US" altLang="zh-CN" sz="2800" dirty="0"/>
          </a:p>
          <a:p>
            <a:pPr lvl="1"/>
            <a:r>
              <a:rPr lang="zh-CN" altLang="en-US" sz="2400" dirty="0"/>
              <a:t>先快速实现一个完整编译器</a:t>
            </a:r>
            <a:endParaRPr lang="en-US" altLang="zh-CN" sz="2400" dirty="0"/>
          </a:p>
          <a:p>
            <a:pPr lvl="1"/>
            <a:r>
              <a:rPr lang="zh-CN" altLang="en-US" sz="2400" dirty="0"/>
              <a:t>再处理扩展的语法成分</a:t>
            </a:r>
            <a:endParaRPr lang="en-US" altLang="zh-CN" sz="2400" dirty="0"/>
          </a:p>
          <a:p>
            <a:r>
              <a:rPr lang="zh-CN" altLang="en-US" sz="2800" dirty="0"/>
              <a:t>应始终具备错误处理能力</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wrap="square" lIns="91440" tIns="45720" rIns="91440" bIns="45720" anchor="b" anchorCtr="0"/>
          <a:lstStyle/>
          <a:p>
            <a:r>
              <a:rPr lang="zh-CN" altLang="en-US" dirty="0"/>
              <a:t>代码生成</a:t>
            </a:r>
          </a:p>
        </p:txBody>
      </p:sp>
      <p:sp>
        <p:nvSpPr>
          <p:cNvPr id="32771" name="内容占位符 2"/>
          <p:cNvSpPr>
            <a:spLocks noGrp="1"/>
          </p:cNvSpPr>
          <p:nvPr>
            <p:ph idx="1"/>
          </p:nvPr>
        </p:nvSpPr>
        <p:spPr>
          <a:xfrm>
            <a:off x="971550" y="2018030"/>
            <a:ext cx="7560890" cy="3715385"/>
          </a:xfrm>
        </p:spPr>
        <p:txBody>
          <a:bodyPr vert="horz" wrap="square" lIns="91440" tIns="45720" rIns="91440" bIns="45720" anchor="t" anchorCtr="0"/>
          <a:lstStyle/>
          <a:p>
            <a:pPr algn="l" latinLnBrk="1"/>
            <a:r>
              <a:rPr lang="zh-CN" altLang="en-US" sz="2400" b="0" i="0" dirty="0">
                <a:solidFill>
                  <a:srgbClr val="333333"/>
                </a:solidFill>
                <a:effectLst/>
                <a:latin typeface="Open Sans" panose="020B0606030504020204" pitchFamily="34" charset="0"/>
              </a:rPr>
              <a:t>生成 </a:t>
            </a:r>
            <a:r>
              <a:rPr lang="en-US" altLang="zh-CN" sz="2400" b="0" i="0" dirty="0" err="1"/>
              <a:t>PCODE </a:t>
            </a:r>
            <a:r>
              <a:rPr lang="zh-CN" altLang="en-US" sz="2400" b="0" i="0" dirty="0">
                <a:solidFill>
                  <a:srgbClr val="333333"/>
                </a:solidFill>
                <a:effectLst/>
                <a:latin typeface="Open Sans" panose="020B0606030504020204" pitchFamily="34" charset="0"/>
              </a:rPr>
              <a:t>的编译器，生成 </a:t>
            </a:r>
            <a:r>
              <a:rPr lang="en-US" altLang="zh-CN" sz="2400" b="0" i="0" dirty="0" err="1"/>
              <a:t>PCODE </a:t>
            </a:r>
            <a:r>
              <a:rPr lang="zh-CN" altLang="en-US" sz="2400" b="0" i="0" dirty="0">
                <a:solidFill>
                  <a:srgbClr val="333333"/>
                </a:solidFill>
                <a:effectLst/>
                <a:latin typeface="Open Sans" panose="020B0606030504020204" pitchFamily="34" charset="0"/>
              </a:rPr>
              <a:t>并解释执行，在 </a:t>
            </a:r>
            <a:r>
              <a:rPr lang="en-US" altLang="zh-CN" sz="2400" b="0" i="0" dirty="0" err="1"/>
              <a:t>pcoderesult.txt </a:t>
            </a:r>
            <a:r>
              <a:rPr lang="zh-CN" altLang="en-US" sz="2400" b="0" i="0" dirty="0">
                <a:solidFill>
                  <a:srgbClr val="333333"/>
                </a:solidFill>
                <a:effectLst/>
                <a:latin typeface="Open Sans" panose="020B0606030504020204" pitchFamily="34" charset="0"/>
              </a:rPr>
              <a:t>中记录解释执行结果。</a:t>
            </a:r>
          </a:p>
          <a:p>
            <a:pPr algn="l" latinLnBrk="1"/>
            <a:r>
              <a:rPr lang="zh-CN" altLang="en-US" sz="2400" b="0" i="0" dirty="0">
                <a:solidFill>
                  <a:srgbClr val="333333"/>
                </a:solidFill>
                <a:effectLst/>
                <a:latin typeface="Open Sans" panose="020B0606030504020204" pitchFamily="34" charset="0"/>
              </a:rPr>
              <a:t>生成</a:t>
            </a:r>
            <a:r>
              <a:rPr lang="en-US" altLang="zh-CN" sz="2400" b="0" i="0" dirty="0" err="1"/>
              <a:t> LLVM IR </a:t>
            </a:r>
            <a:r>
              <a:rPr lang="zh-CN" altLang="en-US" sz="2400" b="0" i="0" dirty="0">
                <a:solidFill>
                  <a:srgbClr val="333333"/>
                </a:solidFill>
                <a:effectLst/>
                <a:latin typeface="Open Sans" panose="020B0606030504020204" pitchFamily="34" charset="0"/>
              </a:rPr>
              <a:t>的编译器，将目标代码生成结果输出至 </a:t>
            </a:r>
            <a:r>
              <a:rPr lang="en-US" altLang="zh-CN" sz="2400" b="0" i="0" dirty="0" err="1"/>
              <a:t>llvm_ir.txt </a:t>
            </a:r>
            <a:r>
              <a:rPr lang="zh-CN" altLang="en-US" sz="2400" b="0" i="0" dirty="0">
                <a:solidFill>
                  <a:srgbClr val="333333"/>
                </a:solidFill>
                <a:effectLst/>
                <a:latin typeface="Open Sans" panose="020B0606030504020204" pitchFamily="34" charset="0"/>
              </a:rPr>
              <a:t>中。</a:t>
            </a:r>
          </a:p>
          <a:p>
            <a:pPr algn="l" latinLnBrk="1"/>
            <a:r>
              <a:rPr lang="zh-CN" altLang="en-US" sz="2400" b="0" i="0" dirty="0">
                <a:solidFill>
                  <a:srgbClr val="333333"/>
                </a:solidFill>
                <a:effectLst/>
                <a:latin typeface="Open Sans" panose="020B0606030504020204" pitchFamily="34" charset="0"/>
              </a:rPr>
              <a:t>生成</a:t>
            </a:r>
            <a:r>
              <a:rPr lang="en-US" altLang="zh-CN" sz="2400" b="0" i="0" dirty="0" err="1"/>
              <a:t> MIPS </a:t>
            </a:r>
            <a:r>
              <a:rPr lang="zh-CN" altLang="en-US" sz="2400" b="0" i="0" dirty="0">
                <a:solidFill>
                  <a:srgbClr val="333333"/>
                </a:solidFill>
                <a:effectLst/>
                <a:latin typeface="Open Sans" panose="020B0606030504020204" pitchFamily="34" charset="0"/>
              </a:rPr>
              <a:t>的编译器，将目标代码生成结果输出至 </a:t>
            </a:r>
            <a:r>
              <a:rPr lang="en-US" altLang="zh-CN" sz="2400" b="0" i="0" dirty="0" err="1"/>
              <a:t>mips.txt </a:t>
            </a:r>
            <a:r>
              <a:rPr lang="zh-CN" altLang="en-US" sz="2400" b="0" i="0" dirty="0">
                <a:solidFill>
                  <a:srgbClr val="333333"/>
                </a:solidFill>
                <a:effectLst/>
                <a:latin typeface="Open Sans" panose="020B0606030504020204" pitchFamily="34" charset="0"/>
              </a:rPr>
              <a:t>中。</a:t>
            </a:r>
          </a:p>
          <a:p>
            <a:pPr marL="0" indent="0" algn="l" latinLnBrk="1">
              <a:buNone/>
            </a:pPr>
            <a:r>
              <a:rPr lang="zh-CN" altLang="en-US" sz="2800" dirty="0">
                <a:solidFill>
                  <a:srgbClr val="FF0000"/>
                </a:solidFill>
              </a:rPr>
              <a:t>代码生成作业二以</a:t>
            </a:r>
            <a:r>
              <a:rPr lang="en-US" altLang="zh-CN" sz="2800" dirty="0">
                <a:solidFill>
                  <a:srgbClr val="FF0000"/>
                </a:solidFill>
              </a:rPr>
              <a:t>MIPS</a:t>
            </a:r>
            <a:r>
              <a:rPr lang="zh-CN" altLang="en-US" sz="2800" dirty="0">
                <a:solidFill>
                  <a:srgbClr val="FF0000"/>
                </a:solidFill>
              </a:rPr>
              <a:t>为目标码才能参加竞速排序</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vert="horz" wrap="square" lIns="91440" tIns="45720" rIns="91440" bIns="45720" anchor="b" anchorCtr="0"/>
          <a:lstStyle/>
          <a:p>
            <a:r>
              <a:rPr lang="zh-CN" altLang="en-US" dirty="0"/>
              <a:t>代码生成</a:t>
            </a:r>
          </a:p>
        </p:txBody>
      </p:sp>
      <p:sp>
        <p:nvSpPr>
          <p:cNvPr id="4" name="Rectangle 1"/>
          <p:cNvSpPr>
            <a:spLocks noChangeArrowheads="1"/>
          </p:cNvSpPr>
          <p:nvPr/>
        </p:nvSpPr>
        <p:spPr bwMode="auto">
          <a:xfrm>
            <a:off x="899592" y="2287906"/>
            <a:ext cx="2467663" cy="268529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b="0" i="0" u="none" strike="noStrike" cap="none" normalizeH="0" baseline="0" dirty="0">
                <a:ln>
                  <a:noFill/>
                </a:ln>
                <a:solidFill>
                  <a:schemeClr val="tx2"/>
                </a:solidFill>
                <a:effectLst/>
                <a:latin typeface="Arial Unicode MS" panose="020B0604020202020204" charset="-122"/>
                <a:ea typeface="Helvetica Neue"/>
              </a:rPr>
              <a:t>testfile.txt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b="0" i="0" u="none" strike="noStrike" cap="none" normalizeH="0" baseline="0" dirty="0">
              <a:ln>
                <a:noFill/>
              </a:ln>
              <a:solidFill>
                <a:srgbClr val="333333"/>
              </a:solidFill>
              <a:effectLst/>
              <a:latin typeface="Arial Unicode MS" panose="020B0604020202020204" charset="-122"/>
              <a:ea typeface="Helvetica Neue"/>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b="0" i="0" u="none" strike="noStrike" cap="none" normalizeH="0" baseline="0" dirty="0">
                <a:ln>
                  <a:noFill/>
                </a:ln>
                <a:solidFill>
                  <a:srgbClr val="333333"/>
                </a:solidFill>
                <a:effectLst/>
                <a:latin typeface="Arial Unicode MS" panose="020B0604020202020204" charset="-122"/>
                <a:ea typeface="Helvetica Neue"/>
              </a:rPr>
              <a:t>int test;</a:t>
            </a:r>
            <a:br>
              <a:rPr kumimoji="0" lang="zh-CN" altLang="zh-CN" b="0" i="0" u="none" strike="noStrike" cap="none" normalizeH="0" baseline="0" dirty="0">
                <a:ln>
                  <a:noFill/>
                </a:ln>
                <a:solidFill>
                  <a:srgbClr val="333333"/>
                </a:solidFill>
                <a:effectLst/>
                <a:latin typeface="Arial Unicode MS" panose="020B0604020202020204" charset="-122"/>
                <a:ea typeface="Helvetica Neue"/>
              </a:rPr>
            </a:br>
            <a:r>
              <a:rPr kumimoji="0" lang="zh-CN" altLang="zh-CN" b="0" i="0" u="none" strike="noStrike" cap="none" normalizeH="0" baseline="0" dirty="0">
                <a:ln>
                  <a:noFill/>
                </a:ln>
                <a:solidFill>
                  <a:srgbClr val="333333"/>
                </a:solidFill>
                <a:effectLst/>
                <a:latin typeface="Arial Unicode MS" panose="020B0604020202020204" charset="-122"/>
                <a:ea typeface="Helvetica Neue"/>
              </a:rPr>
              <a:t>int main(){</a:t>
            </a:r>
            <a:br>
              <a:rPr kumimoji="0" lang="zh-CN" altLang="zh-CN" b="0" i="0" u="none" strike="noStrike" cap="none" normalizeH="0" baseline="0" dirty="0">
                <a:ln>
                  <a:noFill/>
                </a:ln>
                <a:solidFill>
                  <a:srgbClr val="333333"/>
                </a:solidFill>
                <a:effectLst/>
                <a:latin typeface="Arial Unicode MS" panose="020B0604020202020204" charset="-122"/>
                <a:ea typeface="Helvetica Neue"/>
              </a:rPr>
            </a:br>
            <a:r>
              <a:rPr kumimoji="0" lang="zh-CN" altLang="zh-CN" b="0" i="0" u="none" strike="noStrike" cap="none" normalizeH="0" baseline="0" dirty="0">
                <a:ln>
                  <a:noFill/>
                </a:ln>
                <a:solidFill>
                  <a:srgbClr val="333333"/>
                </a:solidFill>
                <a:effectLst/>
                <a:latin typeface="Arial Unicode MS" panose="020B0604020202020204" charset="-122"/>
                <a:ea typeface="Helvetica Neue"/>
              </a:rPr>
              <a:t>   printf("Hello World\n");</a:t>
            </a:r>
            <a:br>
              <a:rPr kumimoji="0" lang="zh-CN" altLang="zh-CN" b="0" i="0" u="none" strike="noStrike" cap="none" normalizeH="0" baseline="0" dirty="0">
                <a:ln>
                  <a:noFill/>
                </a:ln>
                <a:solidFill>
                  <a:srgbClr val="333333"/>
                </a:solidFill>
                <a:effectLst/>
                <a:latin typeface="Arial Unicode MS" panose="020B0604020202020204" charset="-122"/>
                <a:ea typeface="Helvetica Neue"/>
              </a:rPr>
            </a:br>
            <a:r>
              <a:rPr kumimoji="0" lang="zh-CN" altLang="zh-CN" b="0" i="0" u="none" strike="noStrike" cap="none" normalizeH="0" baseline="0" dirty="0">
                <a:ln>
                  <a:noFill/>
                </a:ln>
                <a:solidFill>
                  <a:srgbClr val="333333"/>
                </a:solidFill>
                <a:effectLst/>
                <a:latin typeface="Arial Unicode MS" panose="020B0604020202020204" charset="-122"/>
                <a:ea typeface="Helvetica Neue"/>
              </a:rPr>
              <a:t>   test = getint();</a:t>
            </a:r>
            <a:br>
              <a:rPr kumimoji="0" lang="zh-CN" altLang="zh-CN" b="0" i="0" u="none" strike="noStrike" cap="none" normalizeH="0" baseline="0" dirty="0">
                <a:ln>
                  <a:noFill/>
                </a:ln>
                <a:solidFill>
                  <a:srgbClr val="333333"/>
                </a:solidFill>
                <a:effectLst/>
                <a:latin typeface="Arial Unicode MS" panose="020B0604020202020204" charset="-122"/>
                <a:ea typeface="Helvetica Neue"/>
              </a:rPr>
            </a:br>
            <a:r>
              <a:rPr kumimoji="0" lang="zh-CN" altLang="zh-CN" b="0" i="0" u="none" strike="noStrike" cap="none" normalizeH="0" baseline="0" dirty="0">
                <a:ln>
                  <a:noFill/>
                </a:ln>
                <a:solidFill>
                  <a:srgbClr val="333333"/>
                </a:solidFill>
                <a:effectLst/>
                <a:latin typeface="Arial Unicode MS" panose="020B0604020202020204" charset="-122"/>
                <a:ea typeface="Helvetica Neue"/>
              </a:rPr>
              <a:t>   printf("%d",test);</a:t>
            </a:r>
            <a:br>
              <a:rPr kumimoji="0" lang="zh-CN" altLang="zh-CN" b="0" i="0" u="none" strike="noStrike" cap="none" normalizeH="0" baseline="0" dirty="0">
                <a:ln>
                  <a:noFill/>
                </a:ln>
                <a:solidFill>
                  <a:srgbClr val="333333"/>
                </a:solidFill>
                <a:effectLst/>
                <a:latin typeface="Arial Unicode MS" panose="020B0604020202020204" charset="-122"/>
                <a:ea typeface="Helvetica Neue"/>
              </a:rPr>
            </a:br>
            <a:r>
              <a:rPr kumimoji="0" lang="zh-CN" altLang="zh-CN" b="0" i="0" u="none" strike="noStrike" cap="none" normalizeH="0" baseline="0" dirty="0">
                <a:ln>
                  <a:noFill/>
                </a:ln>
                <a:solidFill>
                  <a:srgbClr val="333333"/>
                </a:solidFill>
                <a:effectLst/>
                <a:latin typeface="Arial Unicode MS" panose="020B0604020202020204" charset="-122"/>
                <a:ea typeface="Helvetica Neue"/>
              </a:rPr>
              <a:t>   return 0;</a:t>
            </a:r>
            <a:br>
              <a:rPr kumimoji="0" lang="zh-CN" altLang="zh-CN" b="0" i="0" u="none" strike="noStrike" cap="none" normalizeH="0" baseline="0" dirty="0">
                <a:ln>
                  <a:noFill/>
                </a:ln>
                <a:solidFill>
                  <a:srgbClr val="333333"/>
                </a:solidFill>
                <a:effectLst/>
                <a:latin typeface="Arial Unicode MS" panose="020B0604020202020204" charset="-122"/>
                <a:ea typeface="Helvetica Neue"/>
              </a:rPr>
            </a:br>
            <a:r>
              <a:rPr kumimoji="0" lang="zh-CN" altLang="zh-CN" b="0" i="0" u="none" strike="noStrike" cap="none" normalizeH="0" baseline="0" dirty="0">
                <a:ln>
                  <a:noFill/>
                </a:ln>
                <a:solidFill>
                  <a:srgbClr val="333333"/>
                </a:solidFill>
                <a:effectLst/>
                <a:latin typeface="Arial Unicode MS" panose="020B0604020202020204" charset="-122"/>
                <a:ea typeface="Helvetica Neue"/>
              </a:rPr>
              <a:t>}</a:t>
            </a:r>
            <a:r>
              <a:rPr kumimoji="0" lang="zh-CN" altLang="zh-CN" b="0" i="0" u="none" strike="noStrike" cap="none" normalizeH="0" baseline="0" dirty="0">
                <a:ln>
                  <a:noFill/>
                </a:ln>
                <a:solidFill>
                  <a:schemeClr val="tx1"/>
                </a:solidFill>
                <a:effectLst/>
              </a:rPr>
              <a:t>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8" name="文本框 7"/>
          <p:cNvSpPr txBox="1"/>
          <p:nvPr/>
        </p:nvSpPr>
        <p:spPr>
          <a:xfrm>
            <a:off x="3563888" y="3105834"/>
            <a:ext cx="1800195" cy="922020"/>
          </a:xfrm>
          <a:prstGeom prst="rect">
            <a:avLst/>
          </a:prstGeom>
          <a:noFill/>
          <a:ln>
            <a:solidFill>
              <a:schemeClr val="accent2"/>
            </a:solidFill>
          </a:ln>
        </p:spPr>
        <p:txBody>
          <a:bodyPr wrap="square" rtlCol="0">
            <a:spAutoFit/>
          </a:bodyPr>
          <a:lstStyle/>
          <a:p>
            <a:r>
              <a:rPr lang="en-US" altLang="zh-CN" sz="1800" noProof="0" dirty="0">
                <a:ln>
                  <a:noFill/>
                </a:ln>
                <a:solidFill>
                  <a:schemeClr val="tx2"/>
                </a:solidFill>
                <a:effectLst/>
                <a:uLnTx/>
                <a:uFillTx/>
              </a:rPr>
              <a:t>input.txt</a:t>
            </a:r>
          </a:p>
          <a:p>
            <a:endParaRPr lang="en-US" altLang="zh-CN" dirty="0">
              <a:solidFill>
                <a:srgbClr val="C00000"/>
              </a:solidFill>
            </a:endParaRPr>
          </a:p>
          <a:p>
            <a:r>
              <a:rPr lang="en-US" altLang="zh-CN" sz="1800" noProof="0" dirty="0">
                <a:ln>
                  <a:noFill/>
                </a:ln>
                <a:solidFill>
                  <a:srgbClr val="C00000"/>
                </a:solidFill>
                <a:effectLst/>
                <a:uLnTx/>
                <a:uFillTx/>
              </a:rPr>
              <a:t>2026</a:t>
            </a:r>
          </a:p>
        </p:txBody>
      </p:sp>
      <p:sp>
        <p:nvSpPr>
          <p:cNvPr id="9" name="文本框 8"/>
          <p:cNvSpPr txBox="1"/>
          <p:nvPr/>
        </p:nvSpPr>
        <p:spPr>
          <a:xfrm>
            <a:off x="5940152" y="3105834"/>
            <a:ext cx="2866476" cy="1198880"/>
          </a:xfrm>
          <a:prstGeom prst="rect">
            <a:avLst/>
          </a:prstGeom>
          <a:noFill/>
          <a:ln>
            <a:solidFill>
              <a:schemeClr val="accent2"/>
            </a:solidFill>
          </a:ln>
        </p:spPr>
        <p:txBody>
          <a:bodyPr wrap="square" rtlCol="0">
            <a:spAutoFit/>
          </a:bodyPr>
          <a:lstStyle/>
          <a:p>
            <a:r>
              <a:rPr lang="en-US" altLang="zh-CN" sz="1800" noProof="0" dirty="0">
                <a:ln>
                  <a:noFill/>
                </a:ln>
                <a:solidFill>
                  <a:schemeClr val="tx2"/>
                </a:solidFill>
                <a:effectLst/>
                <a:uLnTx/>
                <a:uFillTx/>
              </a:rPr>
              <a:t>pcoderesult.txt</a:t>
            </a:r>
            <a:r>
              <a:rPr lang="zh-CN" altLang="en-US" sz="1800" noProof="0" dirty="0">
                <a:ln>
                  <a:noFill/>
                </a:ln>
                <a:solidFill>
                  <a:schemeClr val="tx2"/>
                </a:solidFill>
                <a:effectLst/>
                <a:uLnTx/>
                <a:uFillTx/>
              </a:rPr>
              <a:t>或标准输出</a:t>
            </a:r>
            <a:endParaRPr lang="en-US" altLang="zh-CN" sz="1800" noProof="0" dirty="0">
              <a:ln>
                <a:noFill/>
              </a:ln>
              <a:solidFill>
                <a:schemeClr val="tx2"/>
              </a:solidFill>
              <a:effectLst/>
              <a:uLnTx/>
              <a:uFillTx/>
            </a:endParaRPr>
          </a:p>
          <a:p>
            <a:endParaRPr lang="en-US" altLang="zh-CN" sz="1800" noProof="0" dirty="0">
              <a:ln>
                <a:noFill/>
              </a:ln>
              <a:solidFill>
                <a:srgbClr val="C00000"/>
              </a:solidFill>
              <a:effectLst/>
              <a:uLnTx/>
              <a:uFillTx/>
            </a:endParaRPr>
          </a:p>
          <a:p>
            <a:r>
              <a:rPr lang="en-US" altLang="zh-CN" sz="1800" noProof="0" dirty="0">
                <a:ln>
                  <a:noFill/>
                </a:ln>
                <a:solidFill>
                  <a:srgbClr val="C00000"/>
                </a:solidFill>
                <a:effectLst/>
                <a:uLnTx/>
                <a:uFillTx/>
              </a:rPr>
              <a:t>Hello World</a:t>
            </a:r>
            <a:br>
              <a:rPr lang="en-US" altLang="zh-CN" sz="1800" noProof="0" dirty="0">
                <a:ln>
                  <a:noFill/>
                </a:ln>
                <a:solidFill>
                  <a:srgbClr val="C00000"/>
                </a:solidFill>
                <a:effectLst/>
                <a:uLnTx/>
                <a:uFillTx/>
              </a:rPr>
            </a:br>
            <a:r>
              <a:rPr lang="en-US" altLang="zh-CN" sz="1800" noProof="0" dirty="0">
                <a:ln>
                  <a:noFill/>
                </a:ln>
                <a:solidFill>
                  <a:srgbClr val="C00000"/>
                </a:solidFill>
                <a:effectLst/>
                <a:uLnTx/>
                <a:uFillTx/>
              </a:rPr>
              <a:t>2026 </a:t>
            </a:r>
          </a:p>
        </p:txBody>
      </p:sp>
      <p:sp>
        <p:nvSpPr>
          <p:cNvPr id="5" name="Rectangle 2"/>
          <p:cNvSpPr>
            <a:spLocks noChangeArrowheads="1"/>
          </p:cNvSpPr>
          <p:nvPr/>
        </p:nvSpPr>
        <p:spPr bwMode="auto">
          <a:xfrm>
            <a:off x="0" y="9339"/>
            <a:ext cx="65" cy="43852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5220" rIns="0" bIns="952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vert="horz" wrap="square" lIns="91440" tIns="45720" rIns="91440" bIns="45720" anchor="b" anchorCtr="0"/>
          <a:lstStyle/>
          <a:p>
            <a:r>
              <a:rPr lang="zh-CN" altLang="en-US" dirty="0"/>
              <a:t>竞速排序</a:t>
            </a:r>
          </a:p>
        </p:txBody>
      </p:sp>
      <p:sp>
        <p:nvSpPr>
          <p:cNvPr id="33795" name="内容占位符 2"/>
          <p:cNvSpPr>
            <a:spLocks noGrp="1"/>
          </p:cNvSpPr>
          <p:nvPr>
            <p:ph idx="1"/>
          </p:nvPr>
        </p:nvSpPr>
        <p:spPr>
          <a:xfrm>
            <a:off x="899795" y="2060575"/>
            <a:ext cx="8138160" cy="4258945"/>
          </a:xfrm>
        </p:spPr>
        <p:txBody>
          <a:bodyPr vert="horz" wrap="square" lIns="91440" tIns="45720" rIns="91440" bIns="45720" anchor="t" anchorCtr="0"/>
          <a:lstStyle/>
          <a:p>
            <a:r>
              <a:rPr lang="zh-CN" altLang="en-US" sz="2400" dirty="0"/>
              <a:t>运行结果正确</a:t>
            </a:r>
            <a:endParaRPr lang="en-US" altLang="zh-CN" sz="2400" dirty="0"/>
          </a:p>
          <a:p>
            <a:r>
              <a:rPr lang="zh-CN" altLang="en-US" sz="2400" dirty="0"/>
              <a:t>对每个文件计算</a:t>
            </a:r>
            <a:r>
              <a:rPr lang="en-US" altLang="zh-CN" sz="2400" dirty="0" err="1"/>
              <a:t>FinalCycle</a:t>
            </a:r>
            <a:r>
              <a:rPr lang="en-US" altLang="zh-CN" sz="2400" dirty="0"/>
              <a:t> = DIV*18+MULT*3 + JUMP/BRANCH * 1.5 + MEM * 2 + OTHER * 1</a:t>
            </a:r>
            <a:r>
              <a:rPr lang="zh-CN" altLang="en-US" sz="2400" dirty="0"/>
              <a:t>的值，在运行正确的前提下，</a:t>
            </a:r>
            <a:r>
              <a:rPr lang="en-US" altLang="zh-CN" sz="2400" dirty="0" err="1"/>
              <a:t>FinalCycle</a:t>
            </a:r>
            <a:r>
              <a:rPr lang="zh-CN" altLang="en-US" sz="2400" dirty="0"/>
              <a:t>越小排名越靠前</a:t>
            </a:r>
            <a:endParaRPr lang="en-US" altLang="zh-CN" sz="2400" dirty="0"/>
          </a:p>
          <a:p>
            <a:r>
              <a:rPr lang="zh-CN" altLang="en-US" sz="2400" dirty="0"/>
              <a:t>每个文件根据</a:t>
            </a:r>
            <a:r>
              <a:rPr lang="en-US" altLang="zh-CN" sz="2400" dirty="0" err="1"/>
              <a:t>FinalCycle</a:t>
            </a:r>
            <a:r>
              <a:rPr lang="zh-CN" altLang="en-US" sz="2400" dirty="0"/>
              <a:t>的值分段计分</a:t>
            </a:r>
            <a:endParaRPr lang="en-US" altLang="zh-CN" sz="2400" dirty="0"/>
          </a:p>
          <a:p>
            <a:r>
              <a:rPr lang="zh-CN" altLang="en-US" sz="2400" dirty="0"/>
              <a:t>多个文件则对每个文件的得分加权求和</a:t>
            </a:r>
          </a:p>
          <a:p>
            <a:r>
              <a:rPr lang="zh-CN" altLang="en-US" sz="2400" dirty="0">
                <a:solidFill>
                  <a:srgbClr val="FF0000"/>
                </a:solidFill>
              </a:rPr>
              <a:t>本次作业的前提是代码生成作业二需要以</a:t>
            </a:r>
            <a:r>
              <a:rPr lang="en-US" altLang="zh-CN" sz="2400" dirty="0">
                <a:solidFill>
                  <a:srgbClr val="FF0000"/>
                </a:solidFill>
              </a:rPr>
              <a:t>MIPS</a:t>
            </a:r>
            <a:r>
              <a:rPr lang="zh-CN" altLang="en-US" sz="2400" dirty="0">
                <a:solidFill>
                  <a:srgbClr val="FF0000"/>
                </a:solidFill>
              </a:rPr>
              <a:t>为目标码</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vert="horz" wrap="square" lIns="91440" tIns="45720" rIns="91440" bIns="45720" anchor="b" anchorCtr="0"/>
          <a:lstStyle/>
          <a:p>
            <a:r>
              <a:rPr lang="zh-CN" altLang="en-US" dirty="0"/>
              <a:t>竞速排序</a:t>
            </a:r>
          </a:p>
        </p:txBody>
      </p:sp>
      <p:pic>
        <p:nvPicPr>
          <p:cNvPr id="9" name="图片 8">
            <a:extLst>
              <a:ext uri="{FF2B5EF4-FFF2-40B4-BE49-F238E27FC236}">
                <a16:creationId xmlns:a16="http://schemas.microsoft.com/office/drawing/2014/main" id="{DC9963A4-929C-41DB-8AAC-D92F5B0325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1916832"/>
            <a:ext cx="5211070" cy="3522977"/>
          </a:xfrm>
          <a:prstGeom prst="rect">
            <a:avLst/>
          </a:prstGeom>
        </p:spPr>
      </p:pic>
      <p:pic>
        <p:nvPicPr>
          <p:cNvPr id="11" name="图片 10">
            <a:extLst>
              <a:ext uri="{FF2B5EF4-FFF2-40B4-BE49-F238E27FC236}">
                <a16:creationId xmlns:a16="http://schemas.microsoft.com/office/drawing/2014/main" id="{C0EA7130-52AE-4CEC-A08F-EFB74C98D1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82103" y="3271523"/>
            <a:ext cx="5596524" cy="3522977"/>
          </a:xfrm>
          <a:prstGeom prst="rect">
            <a:avLst/>
          </a:prstGeom>
        </p:spPr>
      </p:pic>
    </p:spTree>
    <p:extLst>
      <p:ext uri="{BB962C8B-B14F-4D97-AF65-F5344CB8AC3E}">
        <p14:creationId xmlns:p14="http://schemas.microsoft.com/office/powerpoint/2010/main" val="2653867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971550" y="836613"/>
            <a:ext cx="7793038" cy="839787"/>
          </a:xfrm>
        </p:spPr>
        <p:txBody>
          <a:bodyPr vert="horz" wrap="square" lIns="91440" tIns="45720" rIns="91440" bIns="45720" anchor="b" anchorCtr="0"/>
          <a:lstStyle/>
          <a:p>
            <a:pPr eaLnBrk="1" hangingPunct="1"/>
            <a:r>
              <a:rPr lang="zh-CN" altLang="en-US" dirty="0"/>
              <a:t>任务及考核说明</a:t>
            </a:r>
          </a:p>
        </p:txBody>
      </p:sp>
      <p:sp>
        <p:nvSpPr>
          <p:cNvPr id="36867" name="Rectangle 3"/>
          <p:cNvSpPr>
            <a:spLocks noGrp="1"/>
          </p:cNvSpPr>
          <p:nvPr>
            <p:ph idx="1"/>
          </p:nvPr>
        </p:nvSpPr>
        <p:spPr>
          <a:xfrm>
            <a:off x="1116330" y="1700530"/>
            <a:ext cx="7853045" cy="5045075"/>
          </a:xfrm>
        </p:spPr>
        <p:txBody>
          <a:bodyPr vert="horz" wrap="square" lIns="91440" tIns="45720" rIns="91440" bIns="45720" anchor="t" anchorCtr="0"/>
          <a:lstStyle/>
          <a:p>
            <a:pPr eaLnBrk="1" hangingPunct="1">
              <a:lnSpc>
                <a:spcPct val="150000"/>
              </a:lnSpc>
            </a:pPr>
            <a:r>
              <a:rPr lang="zh-CN" altLang="en-US" sz="2200" dirty="0"/>
              <a:t>每次任务对应教学平台中</a:t>
            </a:r>
            <a:r>
              <a:rPr lang="en-US" altLang="zh-CN" sz="2200" dirty="0"/>
              <a:t>1-4</a:t>
            </a:r>
            <a:r>
              <a:rPr lang="zh-CN" altLang="en-US" sz="2200" dirty="0"/>
              <a:t>道作业，作业在第</a:t>
            </a:r>
            <a:r>
              <a:rPr lang="en-US" altLang="zh-CN" sz="2200" dirty="0"/>
              <a:t>2</a:t>
            </a:r>
            <a:r>
              <a:rPr lang="zh-CN" altLang="en-US" sz="2200" dirty="0"/>
              <a:t>周全部打开，随理论课进展依次关闭</a:t>
            </a:r>
            <a:endParaRPr lang="en-US" altLang="zh-CN" sz="2200" dirty="0"/>
          </a:p>
          <a:p>
            <a:pPr eaLnBrk="1" hangingPunct="1">
              <a:lnSpc>
                <a:spcPct val="150000"/>
              </a:lnSpc>
            </a:pPr>
            <a:r>
              <a:rPr lang="zh-CN" altLang="en-US" sz="2200" dirty="0"/>
              <a:t>每次作业请严格按照输入输出的要求实现，以便准确评判</a:t>
            </a:r>
            <a:endParaRPr lang="en-US" altLang="zh-CN" sz="2200" dirty="0"/>
          </a:p>
          <a:p>
            <a:pPr eaLnBrk="1" hangingPunct="1">
              <a:lnSpc>
                <a:spcPct val="150000"/>
              </a:lnSpc>
            </a:pPr>
            <a:r>
              <a:rPr lang="zh-CN" altLang="en-US" sz="2200" dirty="0"/>
              <a:t>提交后自动评判，若有错误可修改后再次提交</a:t>
            </a:r>
            <a:endParaRPr lang="en-US" altLang="zh-CN" sz="2200" dirty="0"/>
          </a:p>
          <a:p>
            <a:pPr eaLnBrk="1" hangingPunct="1">
              <a:lnSpc>
                <a:spcPct val="150000"/>
              </a:lnSpc>
            </a:pPr>
            <a:r>
              <a:rPr lang="zh-CN" altLang="en-US" sz="2200" dirty="0"/>
              <a:t>作业关闭前可多次提交，以</a:t>
            </a:r>
            <a:r>
              <a:rPr lang="zh-CN" altLang="en-US" sz="2200" dirty="0">
                <a:solidFill>
                  <a:srgbClr val="FF0000"/>
                </a:solidFill>
              </a:rPr>
              <a:t>最后一次结果</a:t>
            </a:r>
            <a:r>
              <a:rPr lang="zh-CN" altLang="en-US" sz="2200" dirty="0"/>
              <a:t>为准</a:t>
            </a:r>
            <a:endParaRPr lang="en-US" altLang="zh-CN" sz="2200" dirty="0"/>
          </a:p>
          <a:p>
            <a:pPr eaLnBrk="1" hangingPunct="1">
              <a:lnSpc>
                <a:spcPct val="150000"/>
              </a:lnSpc>
            </a:pPr>
            <a:r>
              <a:rPr lang="zh-CN" altLang="en-US" sz="2200" dirty="0"/>
              <a:t>作业关闭后再提交会扣分，每晚交</a:t>
            </a:r>
            <a:r>
              <a:rPr lang="en-US" altLang="zh-CN" sz="2200" dirty="0"/>
              <a:t>24</a:t>
            </a:r>
            <a:r>
              <a:rPr lang="zh-CN" altLang="en-US" sz="2200" dirty="0"/>
              <a:t>小时，扣</a:t>
            </a:r>
            <a:r>
              <a:rPr lang="en-US" altLang="zh-CN" sz="2200" dirty="0"/>
              <a:t>10%</a:t>
            </a:r>
          </a:p>
          <a:p>
            <a:pPr eaLnBrk="1" hangingPunct="1">
              <a:lnSpc>
                <a:spcPct val="150000"/>
              </a:lnSpc>
            </a:pPr>
            <a:r>
              <a:rPr lang="zh-CN" altLang="en-US" sz="2200" dirty="0"/>
              <a:t>期中和期末上机考核内容包括现场修改程序、新的测试程序、回答问题等，</a:t>
            </a:r>
            <a:r>
              <a:rPr lang="zh-CN" altLang="en-US" sz="2200" dirty="0">
                <a:solidFill>
                  <a:srgbClr val="FF0000"/>
                </a:solidFill>
              </a:rPr>
              <a:t>全程断外网，</a:t>
            </a:r>
            <a:r>
              <a:rPr lang="zh-CN" sz="2200" dirty="0">
                <a:solidFill>
                  <a:srgbClr val="FF0000"/>
                </a:solidFill>
              </a:rPr>
              <a:t>不能使用大模型</a:t>
            </a:r>
            <a:endParaRPr lang="zh-CN" altLang="en-US" sz="2200" dirty="0"/>
          </a:p>
          <a:p>
            <a:pPr eaLnBrk="1" hangingPunct="1">
              <a:lnSpc>
                <a:spcPct val="150000"/>
              </a:lnSpc>
            </a:pPr>
            <a:r>
              <a:rPr lang="zh-CN" altLang="en-US" sz="2200" dirty="0"/>
              <a:t>现场答辩，</a:t>
            </a:r>
            <a:r>
              <a:rPr lang="zh-CN" altLang="en-US" sz="2200" dirty="0">
                <a:sym typeface="+mn-ea"/>
              </a:rPr>
              <a:t>讲解自己的实现方案，并针对代码回答问题</a:t>
            </a:r>
            <a:endParaRPr lang="zh-CN" alt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b" anchorCtr="0"/>
          <a:lstStyle/>
          <a:p>
            <a:r>
              <a:rPr lang="zh-CN" altLang="en-US" dirty="0"/>
              <a:t>评测及开发环境</a:t>
            </a:r>
          </a:p>
        </p:txBody>
      </p:sp>
      <p:sp>
        <p:nvSpPr>
          <p:cNvPr id="41987" name="内容占位符 2"/>
          <p:cNvSpPr>
            <a:spLocks noGrp="1"/>
          </p:cNvSpPr>
          <p:nvPr>
            <p:ph idx="1"/>
          </p:nvPr>
        </p:nvSpPr>
        <p:spPr>
          <a:xfrm>
            <a:off x="1182688" y="2017713"/>
            <a:ext cx="7493768" cy="4579937"/>
          </a:xfrm>
        </p:spPr>
        <p:txBody>
          <a:bodyPr vert="horz" wrap="square" lIns="91440" tIns="45720" rIns="91440" bIns="45720" anchor="t" anchorCtr="0"/>
          <a:lstStyle/>
          <a:p>
            <a:r>
              <a:rPr lang="en-US" altLang="zh-CN" sz="2400" dirty="0"/>
              <a:t>Clang12.0.0</a:t>
            </a:r>
          </a:p>
          <a:p>
            <a:r>
              <a:rPr lang="en-US" altLang="zh-CN" sz="2400" dirty="0"/>
              <a:t>Java JDK 17</a:t>
            </a:r>
          </a:p>
          <a:p>
            <a:r>
              <a:rPr lang="en-US" altLang="zh-CN" sz="2400" dirty="0"/>
              <a:t>Mars </a:t>
            </a:r>
            <a:r>
              <a:rPr lang="en-US" sz="2400" dirty="0"/>
              <a:t>2026(</a:t>
            </a:r>
            <a:r>
              <a:rPr lang="zh-CN" altLang="en-US" sz="2400" dirty="0"/>
              <a:t>编译专用</a:t>
            </a:r>
            <a:r>
              <a:rPr lang="en-US" altLang="zh-CN" sz="2400" dirty="0"/>
              <a:t>)</a:t>
            </a:r>
            <a:endParaRPr lang="zh-CN" altLang="en-US" sz="2400" dirty="0"/>
          </a:p>
          <a:p>
            <a:r>
              <a:rPr lang="en-US" altLang="zh-CN" sz="2400" dirty="0" err="1"/>
              <a:t>Clion</a:t>
            </a:r>
            <a:r>
              <a:rPr lang="en-US" altLang="zh-CN" sz="2400" dirty="0"/>
              <a:t> 2019.3.6</a:t>
            </a:r>
          </a:p>
          <a:p>
            <a:r>
              <a:rPr lang="en-US" altLang="zh-CN" sz="2400" dirty="0"/>
              <a:t>Idea 2022.3.2</a:t>
            </a:r>
          </a:p>
          <a:p>
            <a:r>
              <a:rPr lang="zh-CN" altLang="en-US" sz="2400" dirty="0"/>
              <a:t>可以使用</a:t>
            </a:r>
            <a:r>
              <a:rPr lang="en-US" altLang="zh-CN" sz="2400" dirty="0" err="1">
                <a:hlinkClick r:id="rId3"/>
              </a:rPr>
              <a:t>Cmake</a:t>
            </a:r>
            <a:r>
              <a:rPr lang="en-US" altLang="zh-CN" sz="2400" dirty="0"/>
              <a:t> 3.28.3 </a:t>
            </a:r>
            <a:r>
              <a:rPr lang="zh-CN" altLang="en-US" sz="2400" dirty="0"/>
              <a:t>进行项目管理</a:t>
            </a:r>
            <a:endParaRPr lang="en-US" altLang="zh-CN"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nvPr>
        </p:nvGraphicFramePr>
        <p:xfrm>
          <a:off x="314241" y="1124744"/>
          <a:ext cx="8725535" cy="5252249"/>
        </p:xfrm>
        <a:graphic>
          <a:graphicData uri="http://schemas.openxmlformats.org/drawingml/2006/table">
            <a:tbl>
              <a:tblPr/>
              <a:tblGrid>
                <a:gridCol w="647700">
                  <a:extLst>
                    <a:ext uri="{9D8B030D-6E8A-4147-A177-3AD203B41FA5}">
                      <a16:colId xmlns:a16="http://schemas.microsoft.com/office/drawing/2014/main" val="20000"/>
                    </a:ext>
                  </a:extLst>
                </a:gridCol>
                <a:gridCol w="288169">
                  <a:extLst>
                    <a:ext uri="{9D8B030D-6E8A-4147-A177-3AD203B41FA5}">
                      <a16:colId xmlns:a16="http://schemas.microsoft.com/office/drawing/2014/main" val="20001"/>
                    </a:ext>
                  </a:extLst>
                </a:gridCol>
                <a:gridCol w="288169">
                  <a:extLst>
                    <a:ext uri="{9D8B030D-6E8A-4147-A177-3AD203B41FA5}">
                      <a16:colId xmlns:a16="http://schemas.microsoft.com/office/drawing/2014/main" val="20002"/>
                    </a:ext>
                  </a:extLst>
                </a:gridCol>
                <a:gridCol w="288169">
                  <a:extLst>
                    <a:ext uri="{9D8B030D-6E8A-4147-A177-3AD203B41FA5}">
                      <a16:colId xmlns:a16="http://schemas.microsoft.com/office/drawing/2014/main" val="20003"/>
                    </a:ext>
                  </a:extLst>
                </a:gridCol>
                <a:gridCol w="288169">
                  <a:extLst>
                    <a:ext uri="{9D8B030D-6E8A-4147-A177-3AD203B41FA5}">
                      <a16:colId xmlns:a16="http://schemas.microsoft.com/office/drawing/2014/main" val="20004"/>
                    </a:ext>
                  </a:extLst>
                </a:gridCol>
                <a:gridCol w="297815">
                  <a:extLst>
                    <a:ext uri="{9D8B030D-6E8A-4147-A177-3AD203B41FA5}">
                      <a16:colId xmlns:a16="http://schemas.microsoft.com/office/drawing/2014/main" val="20005"/>
                    </a:ext>
                  </a:extLst>
                </a:gridCol>
                <a:gridCol w="2252345">
                  <a:extLst>
                    <a:ext uri="{9D8B030D-6E8A-4147-A177-3AD203B41FA5}">
                      <a16:colId xmlns:a16="http://schemas.microsoft.com/office/drawing/2014/main" val="20006"/>
                    </a:ext>
                  </a:extLst>
                </a:gridCol>
                <a:gridCol w="1089660">
                  <a:extLst>
                    <a:ext uri="{9D8B030D-6E8A-4147-A177-3AD203B41FA5}">
                      <a16:colId xmlns:a16="http://schemas.microsoft.com/office/drawing/2014/main" val="20007"/>
                    </a:ext>
                  </a:extLst>
                </a:gridCol>
                <a:gridCol w="1665605">
                  <a:extLst>
                    <a:ext uri="{9D8B030D-6E8A-4147-A177-3AD203B41FA5}">
                      <a16:colId xmlns:a16="http://schemas.microsoft.com/office/drawing/2014/main" val="20008"/>
                    </a:ext>
                  </a:extLst>
                </a:gridCol>
                <a:gridCol w="1619734">
                  <a:extLst>
                    <a:ext uri="{9D8B030D-6E8A-4147-A177-3AD203B41FA5}">
                      <a16:colId xmlns:a16="http://schemas.microsoft.com/office/drawing/2014/main" val="20009"/>
                    </a:ext>
                  </a:extLst>
                </a:gridCol>
              </a:tblGrid>
              <a:tr h="18351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1"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一</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二</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三</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四</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五</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六</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gridSpan="3">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日</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0">
                <a:tc v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v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v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v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v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v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建议提交作业</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常规任务</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考核任务</a:t>
                      </a: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截止作业</a:t>
                      </a: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8829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2</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gridSpan="3">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讲解实验内容。发布讲座、所有实验作业打开</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3</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文法解读提交</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4</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lvl="1"/>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latin typeface="Tahoma" panose="020B0604030504040204" pitchFamily="34" charset="0"/>
                          <a:ea typeface="宋体" panose="02010600030101010101" pitchFamily="2" charset="-122"/>
                          <a:sym typeface="+mn-ea"/>
                        </a:rPr>
                        <a:t>词法分析提交（免上机）</a:t>
                      </a: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sz="1100" dirty="0">
                          <a:ln>
                            <a:noFill/>
                          </a:ln>
                          <a:solidFill>
                            <a:srgbClr val="000000"/>
                          </a:solidFill>
                          <a:effectLst/>
                          <a:sym typeface="+mn-ea"/>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sym typeface="+mn-ea"/>
                        </a:rPr>
                        <a:t>文法解读</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5</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补</a:t>
                      </a:r>
                      <a:r>
                        <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9</a:t>
                      </a:r>
                      <a:r>
                        <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月</a:t>
                      </a:r>
                      <a:r>
                        <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27</a:t>
                      </a:r>
                      <a:r>
                        <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日课，上机答疑</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r>
                        <a:rPr lang="en-US" altLang="zh-CN" sz="1100" dirty="0">
                          <a:ln>
                            <a:noFill/>
                          </a:ln>
                          <a:solidFill>
                            <a:srgbClr val="000000"/>
                          </a:solidFill>
                          <a:effectLst/>
                          <a:sym typeface="+mn-ea"/>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effectLst/>
                          <a:sym typeface="+mn-ea"/>
                        </a:rPr>
                        <a:t>词法分析</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6</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语法分析提交（免上机）</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7</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effectLst/>
                          <a:sym typeface="+mn-ea"/>
                        </a:rPr>
                        <a:t>语义分析提交（免上机）</a:t>
                      </a: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模拟上机考核</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r>
                        <a:rPr lang="en-US" altLang="zh-CN" sz="1100" dirty="0">
                          <a:ln>
                            <a:noFill/>
                          </a:ln>
                          <a:solidFill>
                            <a:srgbClr val="000000"/>
                          </a:solidFill>
                          <a:effectLst/>
                          <a:sym typeface="+mn-ea"/>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effectLst/>
                          <a:latin typeface="Tahoma" panose="020B0604030504040204" pitchFamily="34" charset="0"/>
                          <a:ea typeface="宋体" panose="02010600030101010101" pitchFamily="2" charset="-122"/>
                          <a:sym typeface="+mn-ea"/>
                        </a:rPr>
                        <a:t>语法分析</a:t>
                      </a: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8</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gridSpan="3">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期中上机考核</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9</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rPr>
                        <a:t>语义分析分享</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rPr>
                        <a:t>/</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rPr>
                        <a:t>现场考核</a:t>
                      </a: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100" dirty="0">
                          <a:ln>
                            <a:noFill/>
                          </a:ln>
                          <a:effectLst/>
                          <a:latin typeface="Tahoma" panose="020B0604030504040204" pitchFamily="34" charset="0"/>
                          <a:ea typeface="宋体" panose="02010600030101010101" pitchFamily="2" charset="-122"/>
                          <a:sym typeface="+mn-ea"/>
                        </a:rPr>
                        <a:t>语义分析</a:t>
                      </a: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10</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100" dirty="0">
                          <a:ln>
                            <a:noFill/>
                          </a:ln>
                          <a:effectLst/>
                          <a:sym typeface="+mn-ea"/>
                        </a:rPr>
                        <a:t>代码生成一提交</a:t>
                      </a: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latin typeface="Tahoma" panose="020B0604030504040204" pitchFamily="34" charset="0"/>
                          <a:ea typeface="宋体" panose="02010600030101010101" pitchFamily="2" charset="-122"/>
                          <a:sym typeface="+mn-ea"/>
                        </a:rPr>
                        <a:t>语义分析分享</a:t>
                      </a:r>
                      <a:r>
                        <a:rPr lang="en-US" altLang="zh-CN" sz="1100" dirty="0">
                          <a:ln>
                            <a:noFill/>
                          </a:ln>
                          <a:solidFill>
                            <a:srgbClr val="000000"/>
                          </a:solidFill>
                          <a:effectLst/>
                          <a:latin typeface="Tahoma" panose="020B0604030504040204" pitchFamily="34" charset="0"/>
                          <a:ea typeface="宋体" panose="02010600030101010101" pitchFamily="2" charset="-122"/>
                          <a:sym typeface="+mn-ea"/>
                        </a:rPr>
                        <a:t>/</a:t>
                      </a:r>
                      <a:r>
                        <a:rPr lang="zh-CN" altLang="en-US" sz="1100" dirty="0">
                          <a:ln>
                            <a:noFill/>
                          </a:ln>
                          <a:solidFill>
                            <a:srgbClr val="000000"/>
                          </a:solidFill>
                          <a:effectLst/>
                          <a:latin typeface="Tahoma" panose="020B0604030504040204" pitchFamily="34" charset="0"/>
                          <a:ea typeface="宋体" panose="02010600030101010101" pitchFamily="2" charset="-122"/>
                          <a:sym typeface="+mn-ea"/>
                        </a:rPr>
                        <a:t>现场考核</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11</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effectLst/>
                          <a:sym typeface="+mn-ea"/>
                        </a:rPr>
                        <a:t>代码生成二提交</a:t>
                      </a: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sym typeface="+mn-ea"/>
                        </a:rPr>
                        <a:t>代码生成现场考核</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12</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sym typeface="+mn-ea"/>
                        </a:rPr>
                        <a:t>代码生成现场考核</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effectLst/>
                          <a:latin typeface="Tahoma" panose="020B0604030504040204" pitchFamily="34" charset="0"/>
                          <a:ea typeface="宋体" panose="02010600030101010101" pitchFamily="2" charset="-122"/>
                          <a:sym typeface="+mn-ea"/>
                        </a:rPr>
                        <a:t>代码生成一</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13</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sym typeface="+mn-ea"/>
                        </a:rPr>
                        <a:t>代码生成现场考核</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3"/>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14</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100" dirty="0">
                          <a:ln>
                            <a:noFill/>
                          </a:ln>
                          <a:effectLst/>
                          <a:sym typeface="+mn-ea"/>
                        </a:rPr>
                        <a:t>竞速排序提交</a:t>
                      </a:r>
                      <a:endParaRPr kumimoji="0" lang="zh-CN" altLang="en-US" sz="1100" b="0" i="0" u="none" strike="noStrike" kern="1200" cap="none" normalizeH="0" baseline="0" dirty="0">
                        <a:ln>
                          <a:noFill/>
                        </a:ln>
                        <a:solidFill>
                          <a:schemeClr val="tx1"/>
                        </a:solidFill>
                        <a:effectLst/>
                        <a:latin typeface="Tahoma" panose="020B0604030504040204" pitchFamily="34" charset="0"/>
                        <a:ea typeface="宋体" panose="02010600030101010101" pitchFamily="2" charset="-122"/>
                        <a:cs typeface="+mn-cs"/>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latin typeface="Tahoma" panose="020B0604030504040204" pitchFamily="34" charset="0"/>
                          <a:ea typeface="宋体" panose="02010600030101010101" pitchFamily="2" charset="-122"/>
                          <a:sym typeface="+mn-ea"/>
                        </a:rPr>
                        <a:t>代码优化现场考核</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4"/>
                  </a:ext>
                </a:extLst>
              </a:tr>
              <a:tr h="3333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15</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kern="1200" cap="none" normalizeH="0" baseline="0" dirty="0">
                        <a:ln>
                          <a:noFill/>
                        </a:ln>
                        <a:solidFill>
                          <a:schemeClr val="tx1"/>
                        </a:solidFill>
                        <a:effectLst/>
                        <a:latin typeface="Tahoma" panose="020B0604030504040204" pitchFamily="34" charset="0"/>
                        <a:ea typeface="宋体" panose="02010600030101010101" pitchFamily="2" charset="-122"/>
                        <a:cs typeface="+mn-cs"/>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上机、答疑</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                                   </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latin typeface="Tahoma" panose="020B0604030504040204" pitchFamily="34" charset="0"/>
                          <a:ea typeface="宋体" panose="02010600030101010101" pitchFamily="2" charset="-122"/>
                          <a:sym typeface="+mn-ea"/>
                        </a:rPr>
                        <a:t>代码优化现场考核</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solidFill>
                            <a:srgbClr val="000000"/>
                          </a:solidFill>
                          <a:effectLst/>
                          <a:latin typeface="Tahoma" panose="020B0604030504040204" pitchFamily="34" charset="0"/>
                          <a:ea typeface="宋体" panose="02010600030101010101" pitchFamily="2" charset="-122"/>
                          <a:sym typeface="+mn-ea"/>
                        </a:rPr>
                        <a:t>代</a:t>
                      </a:r>
                      <a:r>
                        <a:rPr lang="zh-CN" altLang="en-US" sz="1100" dirty="0">
                          <a:ln>
                            <a:noFill/>
                          </a:ln>
                          <a:effectLst/>
                          <a:latin typeface="Tahoma" panose="020B0604030504040204" pitchFamily="34" charset="0"/>
                          <a:ea typeface="宋体" panose="02010600030101010101" pitchFamily="2" charset="-122"/>
                          <a:sym typeface="+mn-ea"/>
                        </a:rPr>
                        <a:t>码生成二</a:t>
                      </a: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5"/>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16</a:t>
                      </a:r>
                      <a:r>
                        <a:rPr kumimoji="0" lang="zh-CN" altLang="en-US" sz="1100" b="0" i="0" u="none" strike="noStrike" cap="none" normalizeH="0" baseline="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100" dirty="0">
                          <a:ln>
                            <a:noFill/>
                          </a:ln>
                          <a:effectLst/>
                          <a:sym typeface="+mn-ea"/>
                        </a:rPr>
                        <a:t>补</a:t>
                      </a:r>
                      <a:r>
                        <a:rPr lang="en-US" altLang="zh-CN" sz="1100" dirty="0">
                          <a:ln>
                            <a:noFill/>
                          </a:ln>
                          <a:effectLst/>
                          <a:sym typeface="+mn-ea"/>
                        </a:rPr>
                        <a:t>10</a:t>
                      </a:r>
                      <a:r>
                        <a:rPr lang="zh-CN" altLang="en-US" sz="1100" dirty="0">
                          <a:ln>
                            <a:noFill/>
                          </a:ln>
                          <a:effectLst/>
                          <a:sym typeface="+mn-ea"/>
                        </a:rPr>
                        <a:t>月</a:t>
                      </a:r>
                      <a:r>
                        <a:rPr lang="en-US" altLang="zh-CN" sz="1100" dirty="0">
                          <a:ln>
                            <a:noFill/>
                          </a:ln>
                          <a:effectLst/>
                          <a:sym typeface="+mn-ea"/>
                        </a:rPr>
                        <a:t>4</a:t>
                      </a:r>
                      <a:r>
                        <a:rPr lang="zh-CN" altLang="en-US" sz="1100" dirty="0">
                          <a:ln>
                            <a:noFill/>
                          </a:ln>
                          <a:effectLst/>
                          <a:sym typeface="+mn-ea"/>
                        </a:rPr>
                        <a:t>日课，代码优化现场考核</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sz="1100" dirty="0">
                          <a:ln>
                            <a:noFill/>
                          </a:ln>
                          <a:effectLst/>
                          <a:sym typeface="+mn-ea"/>
                        </a:rPr>
                        <a:t> </a:t>
                      </a:r>
                      <a:r>
                        <a:rPr lang="zh-CN" altLang="en-US" sz="1100" dirty="0">
                          <a:ln>
                            <a:noFill/>
                          </a:ln>
                          <a:effectLst/>
                          <a:sym typeface="+mn-ea"/>
                        </a:rPr>
                        <a:t>模拟上机考核</a:t>
                      </a:r>
                      <a:r>
                        <a:rPr lang="en-US" altLang="zh-CN" sz="1100" dirty="0">
                          <a:ln>
                            <a:noFill/>
                          </a:ln>
                          <a:effectLst/>
                          <a:sym typeface="+mn-ea"/>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sz="1100" dirty="0">
                          <a:ln>
                            <a:noFill/>
                          </a:ln>
                          <a:effectLst/>
                          <a:sym typeface="+mn-ea"/>
                        </a:rPr>
                        <a:t> </a:t>
                      </a:r>
                      <a:endPar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100" dirty="0">
                          <a:ln>
                            <a:noFill/>
                          </a:ln>
                          <a:effectLst/>
                          <a:sym typeface="+mn-ea"/>
                        </a:rPr>
                        <a:t>竞速排序及其他（全部截止）</a:t>
                      </a: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sym typeface="+mn-ea"/>
                      </a:endParaRPr>
                    </a:p>
                  </a:txBody>
                  <a:tcPr marT="36004" marB="36004" anchor="ctr" horzOverflow="overflow">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6"/>
                  </a:ext>
                </a:extLst>
              </a:tr>
              <a:tr h="2880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第</a:t>
                      </a:r>
                      <a:r>
                        <a:rPr kumimoji="0" lang="en-US" altLang="zh-CN"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17</a:t>
                      </a: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周</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endParaRPr lang="zh-CN" altLang="en-US" sz="1100" dirty="0"/>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endParaRP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gridSpan="3">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100" b="0" i="0" u="none" strike="noStrike" cap="none" normalizeH="0" baseline="0" dirty="0">
                          <a:ln>
                            <a:noFill/>
                          </a:ln>
                          <a:solidFill>
                            <a:srgbClr val="000000"/>
                          </a:solidFill>
                          <a:effectLst/>
                          <a:latin typeface="Tahoma" panose="020B0604030504040204" pitchFamily="34" charset="0"/>
                          <a:ea typeface="宋体" panose="02010600030101010101" pitchFamily="2" charset="-122"/>
                        </a:rPr>
                        <a:t>期末上机考核</a:t>
                      </a:r>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marT="36004" marB="36004"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7"/>
                  </a:ext>
                </a:extLst>
              </a:tr>
            </a:tbl>
          </a:graphicData>
        </a:graphic>
      </p:graphicFrame>
      <p:graphicFrame>
        <p:nvGraphicFramePr>
          <p:cNvPr id="4" name="表格 3"/>
          <p:cNvGraphicFramePr>
            <a:graphicFrameLocks noGrp="1"/>
          </p:cNvGraphicFramePr>
          <p:nvPr>
            <p:custDataLst>
              <p:tags r:id="rId2"/>
            </p:custDataLst>
            <p:extLst>
              <p:ext uri="{D42A27DB-BD31-4B8C-83A1-F6EECF244321}">
                <p14:modId xmlns:p14="http://schemas.microsoft.com/office/powerpoint/2010/main" val="409797961"/>
              </p:ext>
            </p:extLst>
          </p:nvPr>
        </p:nvGraphicFramePr>
        <p:xfrm>
          <a:off x="971550" y="1628800"/>
          <a:ext cx="8068310" cy="4753511"/>
        </p:xfrm>
        <a:graphic>
          <a:graphicData uri="http://schemas.openxmlformats.org/drawingml/2006/table">
            <a:tbl>
              <a:tblPr firstRow="1">
                <a:tableStyleId>{2A74AF91-AF91-4AF3-97A6-EFFC8734A8AF}</a:tableStyleId>
              </a:tblPr>
              <a:tblGrid>
                <a:gridCol w="280670">
                  <a:extLst>
                    <a:ext uri="{9D8B030D-6E8A-4147-A177-3AD203B41FA5}">
                      <a16:colId xmlns:a16="http://schemas.microsoft.com/office/drawing/2014/main" val="20000"/>
                    </a:ext>
                  </a:extLst>
                </a:gridCol>
                <a:gridCol w="289560">
                  <a:extLst>
                    <a:ext uri="{9D8B030D-6E8A-4147-A177-3AD203B41FA5}">
                      <a16:colId xmlns:a16="http://schemas.microsoft.com/office/drawing/2014/main" val="20001"/>
                    </a:ext>
                  </a:extLst>
                </a:gridCol>
                <a:gridCol w="279400">
                  <a:extLst>
                    <a:ext uri="{9D8B030D-6E8A-4147-A177-3AD203B41FA5}">
                      <a16:colId xmlns:a16="http://schemas.microsoft.com/office/drawing/2014/main" val="20002"/>
                    </a:ext>
                  </a:extLst>
                </a:gridCol>
                <a:gridCol w="302895">
                  <a:extLst>
                    <a:ext uri="{9D8B030D-6E8A-4147-A177-3AD203B41FA5}">
                      <a16:colId xmlns:a16="http://schemas.microsoft.com/office/drawing/2014/main" val="20003"/>
                    </a:ext>
                  </a:extLst>
                </a:gridCol>
                <a:gridCol w="287685">
                  <a:extLst>
                    <a:ext uri="{9D8B030D-6E8A-4147-A177-3AD203B41FA5}">
                      <a16:colId xmlns:a16="http://schemas.microsoft.com/office/drawing/2014/main" val="20004"/>
                    </a:ext>
                  </a:extLst>
                </a:gridCol>
                <a:gridCol w="2232248">
                  <a:extLst>
                    <a:ext uri="{9D8B030D-6E8A-4147-A177-3AD203B41FA5}">
                      <a16:colId xmlns:a16="http://schemas.microsoft.com/office/drawing/2014/main" val="20005"/>
                    </a:ext>
                  </a:extLst>
                </a:gridCol>
                <a:gridCol w="4395852">
                  <a:extLst>
                    <a:ext uri="{9D8B030D-6E8A-4147-A177-3AD203B41FA5}">
                      <a16:colId xmlns:a16="http://schemas.microsoft.com/office/drawing/2014/main" val="20006"/>
                    </a:ext>
                  </a:extLst>
                </a:gridCol>
              </a:tblGrid>
              <a:tr h="290972">
                <a:tc>
                  <a:txBody>
                    <a:bodyPr/>
                    <a:lstStyle/>
                    <a:p>
                      <a:pPr lvl="0" algn="r" rtl="0" fontAlgn="ctr"/>
                      <a:r>
                        <a:rPr lang="en-US" altLang="zh-CN" sz="800" b="0" u="none" strike="noStrike" kern="1200" dirty="0">
                          <a:ln>
                            <a:noFill/>
                          </a:ln>
                          <a:solidFill>
                            <a:schemeClr val="bg1">
                              <a:lumMod val="65000"/>
                            </a:schemeClr>
                          </a:solidFill>
                          <a:effectLst/>
                        </a:rPr>
                        <a:t> 9.14</a:t>
                      </a:r>
                    </a:p>
                  </a:txBody>
                  <a:tcPr marL="9525" marR="9525" marT="9525" marB="0" anchor="b">
                    <a:lnL>
                      <a:noFill/>
                    </a:lnL>
                    <a:lnR>
                      <a:noFill/>
                    </a:lnR>
                    <a:lnT>
                      <a:noFill/>
                    </a:lnT>
                    <a:lnB>
                      <a:noFill/>
                    </a:lnB>
                    <a:lnTlToBr>
                      <a:noFill/>
                    </a:lnTlToBr>
                    <a:lnBlToTr>
                      <a:noFill/>
                    </a:lnBlToTr>
                    <a:noFill/>
                  </a:tcPr>
                </a:tc>
                <a:tc>
                  <a:txBody>
                    <a:bodyPr/>
                    <a:lstStyle/>
                    <a:p>
                      <a:pPr lvl="0" algn="r" rtl="0" fontAlgn="ctr"/>
                      <a:r>
                        <a:rPr lang="en-US" altLang="zh-CN" sz="800" b="0" u="none" strike="noStrike" kern="1200" dirty="0">
                          <a:ln>
                            <a:noFill/>
                          </a:ln>
                          <a:solidFill>
                            <a:schemeClr val="bg1">
                              <a:lumMod val="65000"/>
                            </a:schemeClr>
                          </a:solidFill>
                          <a:effectLst/>
                        </a:rPr>
                        <a:t>      9.15</a:t>
                      </a:r>
                    </a:p>
                  </a:txBody>
                  <a:tcPr marL="9525" marR="9525" marT="9525" marB="0" anchor="b">
                    <a:lnL>
                      <a:noFill/>
                    </a:lnL>
                    <a:lnR>
                      <a:noFill/>
                    </a:lnR>
                    <a:lnT>
                      <a:noFill/>
                    </a:lnT>
                    <a:lnB>
                      <a:noFill/>
                    </a:lnB>
                    <a:lnTlToBr>
                      <a:noFill/>
                    </a:lnTlToBr>
                    <a:lnBlToTr>
                      <a:noFill/>
                    </a:lnBlToTr>
                    <a:noFill/>
                  </a:tcPr>
                </a:tc>
                <a:tc>
                  <a:txBody>
                    <a:bodyPr/>
                    <a:lstStyle/>
                    <a:p>
                      <a:pPr algn="r" rtl="0" fontAlgn="ctr"/>
                      <a:r>
                        <a:rPr lang="en-US" altLang="zh-CN" sz="800" b="0" u="none" strike="noStrike" dirty="0">
                          <a:ln>
                            <a:noFill/>
                          </a:ln>
                          <a:solidFill>
                            <a:schemeClr val="bg1">
                              <a:lumMod val="65000"/>
                            </a:schemeClr>
                          </a:solidFill>
                          <a:effectLst/>
                        </a:rPr>
                        <a:t>       9.16</a:t>
                      </a:r>
                    </a:p>
                  </a:txBody>
                  <a:tcPr marL="9525" marR="9525" marT="9525" marB="0" anchor="b">
                    <a:lnL>
                      <a:noFill/>
                    </a:lnL>
                    <a:lnR>
                      <a:noFill/>
                    </a:lnR>
                    <a:lnT>
                      <a:noFill/>
                    </a:lnT>
                    <a:lnB>
                      <a:noFill/>
                    </a:lnB>
                    <a:lnTlToBr>
                      <a:noFill/>
                    </a:lnTlToBr>
                    <a:lnBlToTr>
                      <a:noFill/>
                    </a:lnBlToTr>
                    <a:noFill/>
                  </a:tcPr>
                </a:tc>
                <a:tc>
                  <a:txBody>
                    <a:bodyPr/>
                    <a:lstStyle/>
                    <a:p>
                      <a:pPr algn="r" rtl="0" fontAlgn="ctr"/>
                      <a:r>
                        <a:rPr lang="en-US" altLang="zh-CN" sz="800" b="0" u="none" strike="noStrike" dirty="0">
                          <a:ln>
                            <a:noFill/>
                          </a:ln>
                          <a:solidFill>
                            <a:schemeClr val="bg1">
                              <a:lumMod val="65000"/>
                            </a:schemeClr>
                          </a:solidFill>
                          <a:effectLst/>
                        </a:rPr>
                        <a:t>       9.17</a:t>
                      </a:r>
                    </a:p>
                  </a:txBody>
                  <a:tcPr marL="9525" marR="9525" marT="9525" marB="0" anchor="b">
                    <a:lnL>
                      <a:noFill/>
                    </a:lnL>
                    <a:lnR>
                      <a:noFill/>
                    </a:lnR>
                    <a:lnT>
                      <a:noFill/>
                    </a:lnT>
                    <a:lnB>
                      <a:noFill/>
                    </a:lnB>
                    <a:lnTlToBr>
                      <a:noFill/>
                    </a:lnTlToBr>
                    <a:lnBlToTr>
                      <a:noFill/>
                    </a:lnBlToTr>
                    <a:noFill/>
                  </a:tcPr>
                </a:tc>
                <a:tc>
                  <a:txBody>
                    <a:bodyPr/>
                    <a:lstStyle/>
                    <a:p>
                      <a:pPr algn="r" rtl="0" fontAlgn="ctr"/>
                      <a:r>
                        <a:rPr lang="en-US" altLang="zh-CN" sz="800" b="0" u="none" strike="noStrike" dirty="0">
                          <a:ln>
                            <a:noFill/>
                          </a:ln>
                          <a:solidFill>
                            <a:schemeClr val="bg1">
                              <a:lumMod val="65000"/>
                            </a:schemeClr>
                          </a:solidFill>
                          <a:effectLst/>
                        </a:rPr>
                        <a:t>        9.18</a:t>
                      </a:r>
                    </a:p>
                  </a:txBody>
                  <a:tcPr marL="9525" marR="9525" marT="9525" marB="0" anchor="b">
                    <a:lnL>
                      <a:noFill/>
                    </a:lnL>
                    <a:lnR>
                      <a:noFill/>
                    </a:lnR>
                    <a:lnT>
                      <a:noFill/>
                    </a:lnT>
                    <a:lnB>
                      <a:noFill/>
                    </a:lnB>
                    <a:lnTlToBr>
                      <a:noFill/>
                    </a:lnTlToBr>
                    <a:lnBlToTr>
                      <a:noFill/>
                    </a:lnBlToTr>
                    <a:noFill/>
                  </a:tcPr>
                </a:tc>
                <a:tc>
                  <a:txBody>
                    <a:bodyPr/>
                    <a:lstStyle/>
                    <a:p>
                      <a:pPr algn="r" rtl="0" fontAlgn="ctr">
                        <a:buClrTx/>
                        <a:buSzTx/>
                        <a:buFontTx/>
                      </a:pPr>
                      <a:r>
                        <a:rPr lang="en-US" altLang="zh-CN" sz="800" b="0" u="none" strike="noStrike" dirty="0">
                          <a:ln>
                            <a:noFill/>
                          </a:ln>
                          <a:solidFill>
                            <a:schemeClr val="bg1">
                              <a:lumMod val="65000"/>
                            </a:schemeClr>
                          </a:solidFill>
                          <a:effectLst/>
                        </a:rPr>
                        <a:t>                                                                                                  9.19</a:t>
                      </a:r>
                    </a:p>
                  </a:txBody>
                  <a:tcPr marL="9525" marR="9525" marT="9525" marB="0" anchor="b">
                    <a:lnL>
                      <a:noFill/>
                    </a:lnL>
                    <a:lnR>
                      <a:noFill/>
                    </a:lnR>
                    <a:lnT>
                      <a:noFill/>
                    </a:lnT>
                    <a:lnB>
                      <a:noFill/>
                    </a:lnB>
                    <a:lnTlToBr>
                      <a:noFill/>
                    </a:lnTlToBr>
                    <a:lnBlToTr>
                      <a:noFill/>
                    </a:lnBlToTr>
                    <a:noFill/>
                  </a:tcPr>
                </a:tc>
                <a:tc>
                  <a:txBody>
                    <a:bodyPr/>
                    <a:lstStyle/>
                    <a:p>
                      <a:pPr algn="r" rtl="0" fontAlgn="ctr"/>
                      <a:r>
                        <a:rPr lang="en-US" altLang="zh-CN" sz="800" b="0" u="none" strike="noStrike" dirty="0">
                          <a:ln>
                            <a:noFill/>
                          </a:ln>
                          <a:solidFill>
                            <a:schemeClr val="bg1">
                              <a:lumMod val="65000"/>
                            </a:schemeClr>
                          </a:solidFill>
                          <a:effectLst/>
                        </a:rPr>
                        <a:t>                                                                                       9.20</a:t>
                      </a:r>
                    </a:p>
                  </a:txBody>
                  <a:tcPr marL="9525" marR="9525" marT="9525" marB="0" anchor="b">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85092">
                <a:tc>
                  <a:txBody>
                    <a:bodyPr/>
                    <a:lstStyle/>
                    <a:p>
                      <a:pPr algn="r" rtl="0" fontAlgn="ctr"/>
                      <a:r>
                        <a:rPr lang="en-US" altLang="zh-CN" sz="800" u="none" strike="noStrike" kern="1200" dirty="0">
                          <a:ln>
                            <a:noFill/>
                          </a:ln>
                          <a:solidFill>
                            <a:schemeClr val="bg1">
                              <a:lumMod val="65000"/>
                            </a:schemeClr>
                          </a:solidFill>
                          <a:effectLst/>
                        </a:rPr>
                        <a:t>9.21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kern="1200" dirty="0">
                          <a:ln>
                            <a:noFill/>
                          </a:ln>
                          <a:solidFill>
                            <a:schemeClr val="bg1">
                              <a:lumMod val="65000"/>
                            </a:schemeClr>
                          </a:solidFill>
                          <a:effectLst/>
                        </a:rPr>
                        <a:t>      9.22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9.23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9.24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9.25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9.26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9.27</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1"/>
                  </a:ext>
                </a:extLst>
              </a:tr>
              <a:tr h="288032">
                <a:tc>
                  <a:txBody>
                    <a:bodyPr/>
                    <a:lstStyle/>
                    <a:p>
                      <a:pPr lvl="0" algn="r" rtl="0" fontAlgn="ctr"/>
                      <a:r>
                        <a:rPr lang="en-US" altLang="zh-CN" sz="800" u="none" strike="noStrike" kern="1200" dirty="0">
                          <a:ln>
                            <a:noFill/>
                          </a:ln>
                          <a:solidFill>
                            <a:schemeClr val="bg1">
                              <a:lumMod val="65000"/>
                            </a:schemeClr>
                          </a:solidFill>
                          <a:effectLst/>
                        </a:rPr>
                        <a:t>9.28</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9.29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9.30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10.4</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2"/>
                  </a:ext>
                </a:extLst>
              </a:tr>
              <a:tr h="288032">
                <a:tc>
                  <a:txBody>
                    <a:bodyPr/>
                    <a:lstStyle/>
                    <a:p>
                      <a:pPr lvl="0" algn="r" rtl="0" fontAlgn="ctr"/>
                      <a:r>
                        <a:rPr lang="en-US" altLang="zh-CN" sz="800" u="none" strike="noStrike" dirty="0">
                          <a:ln>
                            <a:noFill/>
                          </a:ln>
                          <a:solidFill>
                            <a:schemeClr val="bg1">
                              <a:lumMod val="65000"/>
                            </a:schemeClr>
                          </a:solidFill>
                          <a:effectLst/>
                        </a:rPr>
                        <a:t>10.5</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dirty="0">
                          <a:ln>
                            <a:noFill/>
                          </a:ln>
                          <a:solidFill>
                            <a:schemeClr val="bg1">
                              <a:lumMod val="65000"/>
                            </a:schemeClr>
                          </a:solidFill>
                          <a:effectLst/>
                        </a:rPr>
                        <a:t>     10.6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10.8</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10.11</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3"/>
                  </a:ext>
                </a:extLst>
              </a:tr>
              <a:tr h="277272">
                <a:tc>
                  <a:txBody>
                    <a:bodyPr/>
                    <a:lstStyle/>
                    <a:p>
                      <a:pPr lvl="0" algn="r" rtl="0" fontAlgn="ctr"/>
                      <a:r>
                        <a:rPr lang="en-US" altLang="zh-CN" sz="800" u="none" strike="noStrike" kern="1200" dirty="0">
                          <a:ln>
                            <a:noFill/>
                          </a:ln>
                          <a:solidFill>
                            <a:schemeClr val="bg1">
                              <a:lumMod val="65000"/>
                            </a:schemeClr>
                          </a:solidFill>
                          <a:effectLst/>
                        </a:rPr>
                        <a:t>10.12</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10.13</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dirty="0">
                          <a:ln>
                            <a:noFill/>
                          </a:ln>
                          <a:solidFill>
                            <a:schemeClr val="bg1">
                              <a:lumMod val="65000"/>
                            </a:schemeClr>
                          </a:solidFill>
                          <a:effectLst/>
                        </a:rPr>
                        <a:t>     10.14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10.18</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4"/>
                  </a:ext>
                </a:extLst>
              </a:tr>
              <a:tr h="298792">
                <a:tc>
                  <a:txBody>
                    <a:bodyPr/>
                    <a:lstStyle/>
                    <a:p>
                      <a:pPr lvl="0" algn="r" rtl="0" fontAlgn="ctr"/>
                      <a:r>
                        <a:rPr lang="en-US" altLang="zh-CN" sz="800" u="none" strike="noStrike" kern="1200" dirty="0">
                          <a:ln>
                            <a:noFill/>
                          </a:ln>
                          <a:solidFill>
                            <a:schemeClr val="bg1">
                              <a:lumMod val="65000"/>
                            </a:schemeClr>
                          </a:solidFill>
                          <a:effectLst/>
                        </a:rPr>
                        <a:t>10.19</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10.20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10.25</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5"/>
                  </a:ext>
                </a:extLst>
              </a:tr>
              <a:tr h="288032">
                <a:tc>
                  <a:txBody>
                    <a:bodyPr/>
                    <a:lstStyle/>
                    <a:p>
                      <a:pPr lvl="0" algn="r" rtl="0" fontAlgn="ctr"/>
                      <a:r>
                        <a:rPr lang="en-US" altLang="zh-CN" sz="800" u="none" strike="noStrike" kern="1200" dirty="0">
                          <a:ln>
                            <a:noFill/>
                          </a:ln>
                          <a:solidFill>
                            <a:schemeClr val="bg1">
                              <a:lumMod val="65000"/>
                            </a:schemeClr>
                          </a:solidFill>
                          <a:effectLst/>
                        </a:rPr>
                        <a:t>10.26</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10.27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10.28</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10.29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10.30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10.31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6"/>
                  </a:ext>
                </a:extLst>
              </a:tr>
              <a:tr h="288032">
                <a:tc>
                  <a:txBody>
                    <a:bodyPr/>
                    <a:lstStyle/>
                    <a:p>
                      <a:pPr lvl="0" algn="r" rtl="0" fontAlgn="ctr"/>
                      <a:r>
                        <a:rPr lang="en-US" altLang="zh-CN" sz="800" u="none" strike="noStrike" kern="1200" dirty="0">
                          <a:ln>
                            <a:noFill/>
                          </a:ln>
                          <a:solidFill>
                            <a:schemeClr val="bg1">
                              <a:lumMod val="65000"/>
                            </a:schemeClr>
                          </a:solidFill>
                          <a:effectLst/>
                        </a:rPr>
                        <a:t>11.2</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11.3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11.8</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7"/>
                  </a:ext>
                </a:extLst>
              </a:tr>
              <a:tr h="288032">
                <a:tc>
                  <a:txBody>
                    <a:bodyPr/>
                    <a:lstStyle/>
                    <a:p>
                      <a:pPr lvl="0" algn="r" rtl="0" fontAlgn="ctr"/>
                      <a:r>
                        <a:rPr lang="en-US" altLang="zh-CN" sz="800" u="none" strike="noStrike" kern="1200" dirty="0">
                          <a:ln>
                            <a:noFill/>
                          </a:ln>
                          <a:solidFill>
                            <a:schemeClr val="bg1">
                              <a:lumMod val="65000"/>
                            </a:schemeClr>
                          </a:solidFill>
                          <a:effectLst/>
                        </a:rPr>
                        <a:t>11.9</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11.10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11.15</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8"/>
                  </a:ext>
                </a:extLst>
              </a:tr>
              <a:tr h="288032">
                <a:tc>
                  <a:txBody>
                    <a:bodyPr/>
                    <a:lstStyle/>
                    <a:p>
                      <a:pPr lvl="0" algn="r" rtl="0" fontAlgn="ctr"/>
                      <a:r>
                        <a:rPr lang="en-US" altLang="zh-CN" sz="800" u="none" strike="noStrike" kern="1200" dirty="0">
                          <a:ln>
                            <a:noFill/>
                          </a:ln>
                          <a:solidFill>
                            <a:schemeClr val="bg1">
                              <a:lumMod val="65000"/>
                            </a:schemeClr>
                          </a:solidFill>
                          <a:effectLst/>
                        </a:rPr>
                        <a:t>11.16</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11.17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11.18</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11.19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11.22</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09"/>
                  </a:ext>
                </a:extLst>
              </a:tr>
              <a:tr h="288032">
                <a:tc>
                  <a:txBody>
                    <a:bodyPr/>
                    <a:lstStyle/>
                    <a:p>
                      <a:pPr lvl="0" algn="r" rtl="0" fontAlgn="ctr"/>
                      <a:r>
                        <a:rPr lang="en-US" altLang="zh-CN" sz="800" u="none" strike="noStrike" kern="1200" dirty="0">
                          <a:ln>
                            <a:noFill/>
                          </a:ln>
                          <a:solidFill>
                            <a:schemeClr val="bg1">
                              <a:lumMod val="65000"/>
                            </a:schemeClr>
                          </a:solidFill>
                          <a:effectLst/>
                        </a:rPr>
                        <a:t>11.23</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11.24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11.28</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11.29</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10"/>
                  </a:ext>
                </a:extLst>
              </a:tr>
              <a:tr h="288032">
                <a:tc>
                  <a:txBody>
                    <a:bodyPr/>
                    <a:lstStyle/>
                    <a:p>
                      <a:pPr lvl="0" algn="r" rtl="0" fontAlgn="ctr"/>
                      <a:r>
                        <a:rPr lang="en-US" altLang="zh-CN" sz="800" u="none" strike="noStrike" kern="1200" dirty="0">
                          <a:ln>
                            <a:noFill/>
                          </a:ln>
                          <a:solidFill>
                            <a:schemeClr val="bg1">
                              <a:lumMod val="65000"/>
                            </a:schemeClr>
                          </a:solidFill>
                          <a:effectLst/>
                        </a:rPr>
                        <a:t>11.30</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12.1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12.6</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11"/>
                  </a:ext>
                </a:extLst>
              </a:tr>
              <a:tr h="216024">
                <a:tc>
                  <a:txBody>
                    <a:bodyPr/>
                    <a:lstStyle/>
                    <a:p>
                      <a:pPr lvl="0" algn="r" rtl="0" fontAlgn="ctr"/>
                      <a:r>
                        <a:rPr lang="en-US" altLang="zh-CN" sz="800" u="none" strike="noStrike" kern="1200" dirty="0">
                          <a:ln>
                            <a:noFill/>
                          </a:ln>
                          <a:solidFill>
                            <a:schemeClr val="bg1">
                              <a:lumMod val="65000"/>
                            </a:schemeClr>
                          </a:solidFill>
                          <a:effectLst/>
                        </a:rPr>
                        <a:t>12.7</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12.8</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12.13</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12"/>
                  </a:ext>
                </a:extLst>
              </a:tr>
              <a:tr h="323593">
                <a:tc>
                  <a:txBody>
                    <a:bodyPr/>
                    <a:lstStyle/>
                    <a:p>
                      <a:pPr lvl="0" algn="r" rtl="0" fontAlgn="ctr"/>
                      <a:r>
                        <a:rPr lang="en-US" altLang="zh-CN" sz="800" u="none" strike="noStrike" kern="1200" dirty="0">
                          <a:ln>
                            <a:noFill/>
                          </a:ln>
                          <a:solidFill>
                            <a:schemeClr val="bg1">
                              <a:lumMod val="65000"/>
                            </a:schemeClr>
                          </a:solidFill>
                          <a:effectLst/>
                        </a:rPr>
                        <a:t>12.14</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12.15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12.17</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12.18</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12.19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12.20</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13"/>
                  </a:ext>
                </a:extLst>
              </a:tr>
              <a:tr h="431154">
                <a:tc>
                  <a:txBody>
                    <a:bodyPr/>
                    <a:lstStyle/>
                    <a:p>
                      <a:pPr lvl="0" algn="r" rtl="0" fontAlgn="ctr"/>
                      <a:r>
                        <a:rPr lang="en-US" altLang="zh-CN" sz="800" u="none" strike="noStrike" kern="1200" dirty="0">
                          <a:ln>
                            <a:noFill/>
                          </a:ln>
                          <a:solidFill>
                            <a:schemeClr val="bg1">
                              <a:lumMod val="65000"/>
                            </a:schemeClr>
                          </a:solidFill>
                          <a:effectLst/>
                        </a:rPr>
                        <a:t>12.21</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12.22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12.23</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12.24</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12.25</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12.26</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12.27</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14"/>
                  </a:ext>
                </a:extLst>
              </a:tr>
              <a:tr h="289015">
                <a:tc>
                  <a:txBody>
                    <a:bodyPr/>
                    <a:lstStyle/>
                    <a:p>
                      <a:pPr lvl="0" algn="r" rtl="0" fontAlgn="ctr"/>
                      <a:r>
                        <a:rPr lang="en-US" altLang="zh-CN" sz="800" u="none" strike="noStrike" kern="1200" dirty="0">
                          <a:ln>
                            <a:noFill/>
                          </a:ln>
                          <a:solidFill>
                            <a:schemeClr val="bg1">
                              <a:lumMod val="65000"/>
                            </a:schemeClr>
                          </a:solidFill>
                          <a:effectLst/>
                        </a:rPr>
                        <a:t>12.28</a:t>
                      </a:r>
                    </a:p>
                  </a:txBody>
                  <a:tcPr marL="9525" marR="9525" marT="9525" marB="0" anchor="b">
                    <a:lnL>
                      <a:noFill/>
                    </a:lnL>
                    <a:lnR>
                      <a:noFill/>
                    </a:lnR>
                    <a:lnT>
                      <a:noFill/>
                    </a:lnT>
                    <a:lnB>
                      <a:noFill/>
                    </a:lnB>
                    <a:lnTlToBr>
                      <a:noFill/>
                    </a:lnTlToBr>
                    <a:lnBlToTr>
                      <a:noFill/>
                    </a:lnBlToTr>
                  </a:tcPr>
                </a:tc>
                <a:tc>
                  <a:txBody>
                    <a:bodyPr/>
                    <a:lstStyle/>
                    <a:p>
                      <a:pPr lvl="0" algn="r" rtl="0" fontAlgn="ctr"/>
                      <a:r>
                        <a:rPr lang="en-US" altLang="zh-CN" sz="800" u="none" strike="noStrike" kern="1200" dirty="0">
                          <a:ln>
                            <a:noFill/>
                          </a:ln>
                          <a:solidFill>
                            <a:schemeClr val="bg1">
                              <a:lumMod val="65000"/>
                            </a:schemeClr>
                          </a:solidFill>
                          <a:effectLst/>
                        </a:rPr>
                        <a:t>   12.29</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12.30</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12.31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1.1</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1.2</a:t>
                      </a:r>
                    </a:p>
                  </a:txBody>
                  <a:tcPr marL="9525" marR="9525" marT="9525" marB="0" anchor="b">
                    <a:lnL>
                      <a:noFill/>
                    </a:lnL>
                    <a:lnR>
                      <a:noFill/>
                    </a:lnR>
                    <a:lnT>
                      <a:noFill/>
                    </a:lnT>
                    <a:lnB>
                      <a:noFill/>
                    </a:lnB>
                    <a:lnTlToBr>
                      <a:noFill/>
                    </a:lnTlToBr>
                    <a:lnBlToTr>
                      <a:noFill/>
                    </a:lnBlToTr>
                  </a:tcPr>
                </a:tc>
                <a:tc>
                  <a:txBody>
                    <a:bodyPr/>
                    <a:lstStyle/>
                    <a:p>
                      <a:pPr algn="r" rtl="0" fontAlgn="ctr"/>
                      <a:r>
                        <a:rPr lang="en-US" altLang="zh-CN" sz="800" u="none" strike="noStrike" dirty="0">
                          <a:ln>
                            <a:noFill/>
                          </a:ln>
                          <a:solidFill>
                            <a:schemeClr val="bg1">
                              <a:lumMod val="65000"/>
                            </a:schemeClr>
                          </a:solidFill>
                          <a:effectLst/>
                        </a:rPr>
                        <a:t>                                                                                           1.3</a:t>
                      </a:r>
                    </a:p>
                  </a:txBody>
                  <a:tcPr marL="9525" marR="9525" marT="9525" marB="0" anchor="b">
                    <a:lnL>
                      <a:noFill/>
                    </a:lnL>
                    <a:lnR>
                      <a:noFill/>
                    </a:lnR>
                    <a:lnT>
                      <a:noFill/>
                    </a:lnT>
                    <a:lnB>
                      <a:noFill/>
                    </a:lnB>
                    <a:lnTlToBr>
                      <a:noFill/>
                    </a:lnTlToBr>
                    <a:lnBlToTr>
                      <a:noFill/>
                    </a:lnBlToTr>
                  </a:tcPr>
                </a:tc>
                <a:extLst>
                  <a:ext uri="{0D108BD9-81ED-4DB2-BD59-A6C34878D82A}">
                    <a16:rowId xmlns:a16="http://schemas.microsoft.com/office/drawing/2014/main" val="10015"/>
                  </a:ext>
                </a:extLst>
              </a:tr>
            </a:tbl>
          </a:graphicData>
        </a:graphic>
      </p:graphicFrame>
      <p:sp>
        <p:nvSpPr>
          <p:cNvPr id="38099" name="标题 1"/>
          <p:cNvSpPr>
            <a:spLocks noGrp="1"/>
          </p:cNvSpPr>
          <p:nvPr>
            <p:ph type="title"/>
          </p:nvPr>
        </p:nvSpPr>
        <p:spPr>
          <a:xfrm>
            <a:off x="346199" y="158412"/>
            <a:ext cx="7793037" cy="841375"/>
          </a:xfrm>
        </p:spPr>
        <p:txBody>
          <a:bodyPr vert="horz" wrap="square" lIns="91440" tIns="45720" rIns="91440" bIns="45720" anchor="b" anchorCtr="0"/>
          <a:lstStyle/>
          <a:p>
            <a:r>
              <a:rPr lang="zh-CN" altLang="en-US" dirty="0"/>
              <a:t>任务及考核日程</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9" name="标题 1"/>
          <p:cNvSpPr>
            <a:spLocks noGrp="1"/>
          </p:cNvSpPr>
          <p:nvPr>
            <p:ph type="title"/>
          </p:nvPr>
        </p:nvSpPr>
        <p:spPr>
          <a:xfrm>
            <a:off x="827584" y="836712"/>
            <a:ext cx="7793037" cy="841375"/>
          </a:xfrm>
        </p:spPr>
        <p:txBody>
          <a:bodyPr vert="horz" wrap="square" lIns="91440" tIns="45720" rIns="91440" bIns="45720" anchor="b" anchorCtr="0"/>
          <a:lstStyle/>
          <a:p>
            <a:r>
              <a:rPr lang="zh-CN" altLang="en-US" dirty="0"/>
              <a:t>作业列表</a:t>
            </a:r>
          </a:p>
        </p:txBody>
      </p:sp>
      <p:sp>
        <p:nvSpPr>
          <p:cNvPr id="2" name="文本框 1">
            <a:extLst>
              <a:ext uri="{FF2B5EF4-FFF2-40B4-BE49-F238E27FC236}">
                <a16:creationId xmlns:a16="http://schemas.microsoft.com/office/drawing/2014/main" id="{0C69A9C5-EB83-4BBC-93CD-82EE5BA5653E}"/>
              </a:ext>
            </a:extLst>
          </p:cNvPr>
          <p:cNvSpPr txBox="1"/>
          <p:nvPr/>
        </p:nvSpPr>
        <p:spPr>
          <a:xfrm>
            <a:off x="971600" y="1997839"/>
            <a:ext cx="6480720" cy="4644669"/>
          </a:xfrm>
          <a:prstGeom prst="rect">
            <a:avLst/>
          </a:prstGeom>
          <a:noFill/>
          <a:ln>
            <a:noFill/>
          </a:ln>
        </p:spPr>
        <p:txBody>
          <a:bodyPr wrap="square" rtlCol="0">
            <a:spAutoFit/>
          </a:bodyPr>
          <a:lstStyle/>
          <a:p>
            <a:pPr marL="342900" indent="-342900">
              <a:lnSpc>
                <a:spcPct val="150000"/>
              </a:lnSpc>
              <a:buAutoNum type="arabicPeriod"/>
            </a:pPr>
            <a:r>
              <a:rPr lang="en-US" altLang="zh-CN" sz="2000" dirty="0"/>
              <a:t>2026</a:t>
            </a:r>
            <a:r>
              <a:rPr lang="zh-CN" altLang="en-US" sz="2000" dirty="0"/>
              <a:t>文法解读（文法解读、</a:t>
            </a:r>
            <a:r>
              <a:rPr lang="en-US" altLang="zh-CN" sz="2000" dirty="0"/>
              <a:t>AI</a:t>
            </a:r>
            <a:r>
              <a:rPr lang="zh-CN" altLang="en-US" sz="2000" dirty="0"/>
              <a:t>交互记录）</a:t>
            </a:r>
            <a:endParaRPr lang="en-US" altLang="zh-CN" sz="2000" dirty="0"/>
          </a:p>
          <a:p>
            <a:pPr marL="342900" indent="-342900">
              <a:lnSpc>
                <a:spcPct val="150000"/>
              </a:lnSpc>
              <a:buAutoNum type="arabicPeriod"/>
            </a:pPr>
            <a:r>
              <a:rPr lang="en-US" altLang="zh-CN" sz="2000" dirty="0"/>
              <a:t>2026</a:t>
            </a:r>
            <a:r>
              <a:rPr lang="zh-CN" altLang="en-US" sz="2000" dirty="0"/>
              <a:t>设计文档</a:t>
            </a:r>
            <a:endParaRPr lang="en-US" altLang="zh-CN" sz="2000" dirty="0"/>
          </a:p>
          <a:p>
            <a:pPr marL="342900" indent="-342900">
              <a:lnSpc>
                <a:spcPct val="150000"/>
              </a:lnSpc>
              <a:buAutoNum type="arabicPeriod"/>
            </a:pPr>
            <a:r>
              <a:rPr lang="en-US" altLang="zh-CN" sz="2000" dirty="0"/>
              <a:t>2026</a:t>
            </a:r>
            <a:r>
              <a:rPr lang="zh-CN" altLang="en-US" sz="2000" dirty="0"/>
              <a:t>词法分析（词法分析、</a:t>
            </a:r>
            <a:r>
              <a:rPr lang="en-US" altLang="zh-CN" sz="2000" dirty="0"/>
              <a:t> AI</a:t>
            </a:r>
            <a:r>
              <a:rPr lang="zh-CN" altLang="en-US" sz="2000" dirty="0"/>
              <a:t>交互记录）</a:t>
            </a:r>
            <a:endParaRPr lang="en-US" altLang="zh-CN" sz="2000" dirty="0"/>
          </a:p>
          <a:p>
            <a:pPr marL="342900" indent="-342900">
              <a:lnSpc>
                <a:spcPct val="150000"/>
              </a:lnSpc>
              <a:buFontTx/>
              <a:buAutoNum type="arabicPeriod"/>
            </a:pPr>
            <a:r>
              <a:rPr lang="en-US" altLang="zh-CN" sz="2000" dirty="0"/>
              <a:t>2026</a:t>
            </a:r>
            <a:r>
              <a:rPr lang="zh-CN" altLang="en-US" sz="2000" dirty="0"/>
              <a:t>语法分析（语法分析、</a:t>
            </a:r>
            <a:r>
              <a:rPr lang="en-US" altLang="zh-CN" sz="2000" dirty="0"/>
              <a:t> AI</a:t>
            </a:r>
            <a:r>
              <a:rPr lang="zh-CN" altLang="en-US" sz="2000" dirty="0"/>
              <a:t>交互记录）</a:t>
            </a:r>
            <a:endParaRPr lang="en-US" altLang="zh-CN" sz="2000" dirty="0"/>
          </a:p>
          <a:p>
            <a:pPr marL="342900" indent="-342900">
              <a:lnSpc>
                <a:spcPct val="150000"/>
              </a:lnSpc>
              <a:buFontTx/>
              <a:buAutoNum type="arabicPeriod"/>
            </a:pPr>
            <a:r>
              <a:rPr lang="en-US" altLang="zh-CN" sz="2000" dirty="0"/>
              <a:t>2026</a:t>
            </a:r>
            <a:r>
              <a:rPr lang="zh-CN" altLang="en-US" sz="2000" dirty="0"/>
              <a:t>语义分析（语义分析、</a:t>
            </a:r>
            <a:r>
              <a:rPr lang="en-US" altLang="zh-CN" sz="2000" dirty="0"/>
              <a:t> AI</a:t>
            </a:r>
            <a:r>
              <a:rPr lang="zh-CN" altLang="en-US" sz="2000" dirty="0"/>
              <a:t>交互记录）</a:t>
            </a:r>
            <a:endParaRPr lang="en-US" altLang="zh-CN" sz="2000" dirty="0"/>
          </a:p>
          <a:p>
            <a:pPr marL="342900" indent="-342900">
              <a:lnSpc>
                <a:spcPct val="150000"/>
              </a:lnSpc>
              <a:buAutoNum type="arabicPeriod"/>
            </a:pPr>
            <a:r>
              <a:rPr lang="en-US" altLang="zh-CN" sz="2000" dirty="0"/>
              <a:t>2026</a:t>
            </a:r>
            <a:r>
              <a:rPr lang="zh-CN" altLang="en-US" sz="2000" dirty="0"/>
              <a:t>代码生成一（代码生成一、</a:t>
            </a:r>
            <a:r>
              <a:rPr lang="en-US" altLang="zh-CN" sz="2000" dirty="0"/>
              <a:t>AI</a:t>
            </a:r>
            <a:r>
              <a:rPr lang="zh-CN" altLang="en-US" sz="2000" dirty="0"/>
              <a:t>交互记录）</a:t>
            </a:r>
            <a:endParaRPr lang="en-US" altLang="zh-CN" sz="2000" dirty="0"/>
          </a:p>
          <a:p>
            <a:pPr marL="342900" indent="-342900">
              <a:lnSpc>
                <a:spcPct val="150000"/>
              </a:lnSpc>
              <a:buFontTx/>
              <a:buAutoNum type="arabicPeriod"/>
            </a:pPr>
            <a:r>
              <a:rPr lang="en-US" altLang="zh-CN" sz="2000" dirty="0"/>
              <a:t>2026</a:t>
            </a:r>
            <a:r>
              <a:rPr lang="zh-CN" altLang="en-US" sz="2000" dirty="0"/>
              <a:t>代码生成二（代码生成二、</a:t>
            </a:r>
            <a:r>
              <a:rPr lang="en-US" altLang="zh-CN" sz="2000" dirty="0"/>
              <a:t>AI</a:t>
            </a:r>
            <a:r>
              <a:rPr lang="zh-CN" altLang="en-US" sz="2000" dirty="0"/>
              <a:t>交互记录）</a:t>
            </a:r>
            <a:endParaRPr lang="en-US" altLang="zh-CN" sz="2000" dirty="0"/>
          </a:p>
          <a:p>
            <a:pPr marL="342900" indent="-342900">
              <a:lnSpc>
                <a:spcPct val="150000"/>
              </a:lnSpc>
              <a:buAutoNum type="arabicPeriod"/>
            </a:pPr>
            <a:r>
              <a:rPr lang="en-US" altLang="zh-CN" sz="2000" dirty="0"/>
              <a:t>2026</a:t>
            </a:r>
            <a:r>
              <a:rPr lang="zh-CN" altLang="en-US" sz="2000" dirty="0"/>
              <a:t>竞速排序（竞速排序、优化文章、优化前后中间代码目标代码、</a:t>
            </a:r>
            <a:r>
              <a:rPr lang="en-US" altLang="zh-CN" sz="2000" dirty="0"/>
              <a:t>AI</a:t>
            </a:r>
            <a:r>
              <a:rPr lang="zh-CN" altLang="en-US" sz="2000" dirty="0"/>
              <a:t>交互记录）</a:t>
            </a:r>
            <a:endParaRPr lang="en-US" altLang="zh-CN" sz="2000" dirty="0"/>
          </a:p>
          <a:p>
            <a:pPr marL="342900" indent="-342900">
              <a:lnSpc>
                <a:spcPct val="150000"/>
              </a:lnSpc>
              <a:buAutoNum type="arabicPeriod"/>
            </a:pPr>
            <a:r>
              <a:rPr lang="en-US" altLang="zh-CN" sz="2000" dirty="0"/>
              <a:t>2026</a:t>
            </a:r>
            <a:r>
              <a:rPr lang="zh-CN" altLang="en-US" sz="2000" dirty="0"/>
              <a:t>总结感想</a:t>
            </a:r>
          </a:p>
        </p:txBody>
      </p:sp>
    </p:spTree>
    <p:extLst>
      <p:ext uri="{BB962C8B-B14F-4D97-AF65-F5344CB8AC3E}">
        <p14:creationId xmlns:p14="http://schemas.microsoft.com/office/powerpoint/2010/main" val="356052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vert="horz" wrap="square" lIns="91440" tIns="45720" rIns="91440" bIns="45720" anchor="b" anchorCtr="0"/>
          <a:lstStyle/>
          <a:p>
            <a:r>
              <a:rPr lang="zh-CN" altLang="en-US" dirty="0"/>
              <a:t>上机安排</a:t>
            </a:r>
          </a:p>
        </p:txBody>
      </p:sp>
      <p:sp>
        <p:nvSpPr>
          <p:cNvPr id="44035" name="内容占位符 2"/>
          <p:cNvSpPr>
            <a:spLocks noGrp="1"/>
          </p:cNvSpPr>
          <p:nvPr>
            <p:ph idx="1"/>
          </p:nvPr>
        </p:nvSpPr>
        <p:spPr>
          <a:xfrm>
            <a:off x="1182688" y="2017712"/>
            <a:ext cx="7772400" cy="4435623"/>
          </a:xfrm>
        </p:spPr>
        <p:txBody>
          <a:bodyPr vert="horz" wrap="square" lIns="91440" tIns="45720" rIns="91440" bIns="45720" anchor="t" anchorCtr="0"/>
          <a:lstStyle/>
          <a:p>
            <a:r>
              <a:rPr lang="zh-CN" altLang="en-US" sz="2400" dirty="0"/>
              <a:t>第</a:t>
            </a:r>
            <a:r>
              <a:rPr lang="en-US" altLang="zh-CN" sz="2400" dirty="0"/>
              <a:t>2-17</a:t>
            </a:r>
            <a:r>
              <a:rPr lang="zh-CN" altLang="en-US" sz="2400" dirty="0"/>
              <a:t>周，新主楼</a:t>
            </a:r>
            <a:r>
              <a:rPr lang="en-US" altLang="zh-CN" sz="2400" dirty="0"/>
              <a:t>F327</a:t>
            </a:r>
            <a:r>
              <a:rPr lang="zh-CN" altLang="en-US" sz="2400" dirty="0"/>
              <a:t>、</a:t>
            </a:r>
            <a:r>
              <a:rPr lang="en-US" altLang="zh-CN" sz="2400" dirty="0"/>
              <a:t>F332</a:t>
            </a:r>
            <a:r>
              <a:rPr lang="zh-CN" altLang="en-US" sz="2400" dirty="0"/>
              <a:t>、</a:t>
            </a:r>
            <a:r>
              <a:rPr lang="en-US" altLang="zh-CN" sz="2400" dirty="0"/>
              <a:t>F333</a:t>
            </a:r>
            <a:r>
              <a:rPr lang="zh-CN" altLang="en-US" sz="2400" dirty="0"/>
              <a:t>、</a:t>
            </a:r>
            <a:r>
              <a:rPr lang="en-US" altLang="zh-CN" sz="2400" dirty="0"/>
              <a:t>F334</a:t>
            </a:r>
            <a:r>
              <a:rPr lang="zh-CN" altLang="en-US" sz="2400" dirty="0"/>
              <a:t>机房</a:t>
            </a:r>
            <a:endParaRPr lang="en-US" altLang="zh-CN" sz="2400" dirty="0"/>
          </a:p>
          <a:p>
            <a:r>
              <a:rPr lang="zh-CN" altLang="en-US" sz="2400" dirty="0"/>
              <a:t>上机时间</a:t>
            </a:r>
            <a:r>
              <a:rPr lang="zh-CN" altLang="en-US" sz="2400" dirty="0">
                <a:solidFill>
                  <a:srgbClr val="C00000"/>
                </a:solidFill>
              </a:rPr>
              <a:t>可以自带笔记电脑</a:t>
            </a:r>
            <a:r>
              <a:rPr lang="zh-CN" altLang="en-US" sz="2400" dirty="0"/>
              <a:t>到</a:t>
            </a:r>
            <a:r>
              <a:rPr lang="zh-CN" altLang="en-US" sz="2400" dirty="0">
                <a:solidFill>
                  <a:schemeClr val="tx1"/>
                </a:solidFill>
              </a:rPr>
              <a:t>机房做实验作业并答疑</a:t>
            </a:r>
            <a:endParaRPr lang="en-US" altLang="zh-CN" sz="2400" dirty="0"/>
          </a:p>
          <a:p>
            <a:r>
              <a:rPr lang="zh-CN" altLang="en-US" sz="2400" dirty="0"/>
              <a:t>期中考核前，在建议提交作业时间之前</a:t>
            </a:r>
            <a:r>
              <a:rPr lang="zh-CN" altLang="en-US" sz="2400" dirty="0">
                <a:sym typeface="+mn-ea"/>
              </a:rPr>
              <a:t>提交指定作业并达到</a:t>
            </a:r>
            <a:r>
              <a:rPr lang="en-US" altLang="zh-CN" sz="2400" dirty="0">
                <a:sym typeface="+mn-ea"/>
              </a:rPr>
              <a:t>100%</a:t>
            </a:r>
            <a:r>
              <a:rPr lang="zh-CN" altLang="en-US" sz="2400" dirty="0">
                <a:sym typeface="+mn-ea"/>
              </a:rPr>
              <a:t>正确率，可免去下一次建议提交作业之前的上机</a:t>
            </a:r>
            <a:endParaRPr lang="zh-CN" altLang="en-US" sz="2400" dirty="0"/>
          </a:p>
          <a:p>
            <a:r>
              <a:rPr lang="zh-CN" altLang="en-US" sz="2400" dirty="0"/>
              <a:t>期中考核后，若在指定时间之前提交指定作业并达到</a:t>
            </a:r>
            <a:r>
              <a:rPr lang="en-US" altLang="zh-CN" sz="2400" dirty="0"/>
              <a:t>100%</a:t>
            </a:r>
            <a:r>
              <a:rPr lang="zh-CN" altLang="en-US" sz="2400" dirty="0"/>
              <a:t>正确率，即可参加现场考核，考核后可免去下一次作业现场考核之前的上机</a:t>
            </a:r>
            <a:endParaRPr lang="en-US" altLang="zh-CN" sz="2400" dirty="0"/>
          </a:p>
          <a:p>
            <a:r>
              <a:rPr lang="zh-CN" altLang="en-US" sz="2400" dirty="0"/>
              <a:t>第</a:t>
            </a:r>
            <a:r>
              <a:rPr lang="en-US" altLang="zh-CN" sz="2400" dirty="0"/>
              <a:t>8</a:t>
            </a:r>
            <a:r>
              <a:rPr lang="zh-CN" altLang="en-US" sz="2400" dirty="0"/>
              <a:t>周和第</a:t>
            </a:r>
            <a:r>
              <a:rPr lang="en-US" altLang="zh-CN" sz="2400" dirty="0"/>
              <a:t>17</a:t>
            </a:r>
            <a:r>
              <a:rPr lang="zh-CN" altLang="en-US" sz="2400" dirty="0"/>
              <a:t>周分别进行期中考核和期末考核，届时需要同学们到机房上机考核，会提前安排用于熟悉环境的模拟考试，具体安排另行通知</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p:txBody>
          <a:bodyPr vert="horz" wrap="square" lIns="91440" tIns="45720" rIns="91440" bIns="45720" anchor="b" anchorCtr="0"/>
          <a:lstStyle/>
          <a:p>
            <a:pPr eaLnBrk="1" hangingPunct="1"/>
            <a:r>
              <a:rPr lang="zh-CN" altLang="en-US" dirty="0"/>
              <a:t>作业提交、课程信息获取</a:t>
            </a:r>
          </a:p>
        </p:txBody>
      </p:sp>
      <p:sp>
        <p:nvSpPr>
          <p:cNvPr id="45059" name="Rectangle 3"/>
          <p:cNvSpPr>
            <a:spLocks noGrp="1"/>
          </p:cNvSpPr>
          <p:nvPr>
            <p:ph idx="1"/>
          </p:nvPr>
        </p:nvSpPr>
        <p:spPr>
          <a:xfrm>
            <a:off x="1242023" y="1882651"/>
            <a:ext cx="7893644" cy="1007690"/>
          </a:xfrm>
        </p:spPr>
        <p:txBody>
          <a:bodyPr vert="horz" wrap="square" lIns="91440" tIns="45720" rIns="91440" bIns="45720" anchor="t" anchorCtr="0"/>
          <a:lstStyle/>
          <a:p>
            <a:pPr eaLnBrk="1" hangingPunct="1"/>
            <a:r>
              <a:rPr lang="en-US" altLang="zh-CN" sz="2400" dirty="0">
                <a:latin typeface="+mn-ea"/>
                <a:ea typeface="+mn-ea"/>
              </a:rPr>
              <a:t>https://judge.buaa.edu.cn/</a:t>
            </a:r>
          </a:p>
          <a:p>
            <a:pPr eaLnBrk="1" hangingPunct="1"/>
            <a:r>
              <a:rPr lang="zh-CN" altLang="en-US" sz="2400" dirty="0"/>
              <a:t>帐号为学号，以前的密码或统一认证登录</a:t>
            </a:r>
            <a:endParaRPr lang="en-US" altLang="zh-CN" sz="2400" dirty="0"/>
          </a:p>
        </p:txBody>
      </p:sp>
      <p:pic>
        <p:nvPicPr>
          <p:cNvPr id="2" name="图片 1"/>
          <p:cNvPicPr>
            <a:picLocks noChangeAspect="1"/>
          </p:cNvPicPr>
          <p:nvPr/>
        </p:nvPicPr>
        <p:blipFill>
          <a:blip r:embed="rId3"/>
          <a:stretch>
            <a:fillRect/>
          </a:stretch>
        </p:blipFill>
        <p:spPr>
          <a:xfrm>
            <a:off x="1043305" y="2924810"/>
            <a:ext cx="7519670" cy="38633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实验平台</a:t>
            </a:r>
          </a:p>
        </p:txBody>
      </p:sp>
      <p:sp>
        <p:nvSpPr>
          <p:cNvPr id="47107" name="内容占位符 2"/>
          <p:cNvSpPr>
            <a:spLocks noGrp="1"/>
          </p:cNvSpPr>
          <p:nvPr>
            <p:ph idx="1"/>
          </p:nvPr>
        </p:nvSpPr>
        <p:spPr>
          <a:xfrm>
            <a:off x="1182688" y="2017713"/>
            <a:ext cx="7853362" cy="4114800"/>
          </a:xfrm>
        </p:spPr>
        <p:txBody>
          <a:bodyPr vert="horz" wrap="square" lIns="91440" tIns="45720" rIns="91440" bIns="45720" anchor="t" anchorCtr="0"/>
          <a:lstStyle/>
          <a:p>
            <a:r>
              <a:rPr lang="zh-CN" altLang="en-US" sz="2400" dirty="0"/>
              <a:t>课程有关的材料均从实验平台中获取</a:t>
            </a:r>
            <a:endParaRPr lang="en-US" altLang="zh-CN" sz="2400" dirty="0"/>
          </a:p>
          <a:p>
            <a:r>
              <a:rPr lang="zh-CN" altLang="en-US" sz="2400" dirty="0"/>
              <a:t>所有实验作业都在实验平台发布、提交</a:t>
            </a:r>
            <a:endParaRPr lang="en-US" altLang="zh-CN" sz="2400" dirty="0"/>
          </a:p>
          <a:p>
            <a:r>
              <a:rPr lang="zh-CN" altLang="en-US" sz="2400" dirty="0"/>
              <a:t>课程公告会在实验平台发布</a:t>
            </a:r>
            <a:endParaRPr lang="en-US" altLang="zh-CN" sz="2400" dirty="0"/>
          </a:p>
          <a:p>
            <a:r>
              <a:rPr lang="zh-CN" altLang="en-US" sz="2400" dirty="0"/>
              <a:t>到实验平台答疑论坛提问或查找答案</a:t>
            </a:r>
            <a:endParaRPr lang="en-US" altLang="zh-CN" sz="2400" dirty="0"/>
          </a:p>
          <a:p>
            <a:endParaRPr lang="zh-CN"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课程资料</a:t>
            </a:r>
          </a:p>
        </p:txBody>
      </p:sp>
      <p:sp>
        <p:nvSpPr>
          <p:cNvPr id="47107" name="内容占位符 2"/>
          <p:cNvSpPr>
            <a:spLocks noGrp="1"/>
          </p:cNvSpPr>
          <p:nvPr>
            <p:ph idx="1"/>
          </p:nvPr>
        </p:nvSpPr>
        <p:spPr>
          <a:xfrm>
            <a:off x="1182688" y="2017712"/>
            <a:ext cx="7853362" cy="4625975"/>
          </a:xfrm>
        </p:spPr>
        <p:txBody>
          <a:bodyPr vert="horz" wrap="square" lIns="91440" tIns="45720" rIns="91440" bIns="45720" anchor="t" anchorCtr="0"/>
          <a:lstStyle/>
          <a:p>
            <a:r>
              <a:rPr lang="zh-CN" altLang="en-US" sz="2800" dirty="0"/>
              <a:t>课程信息</a:t>
            </a:r>
            <a:r>
              <a:rPr lang="en-US" altLang="zh-CN" sz="2800" dirty="0"/>
              <a:t>-</a:t>
            </a:r>
            <a:r>
              <a:rPr lang="zh-CN" altLang="en-US" sz="2800" dirty="0"/>
              <a:t>教学资料</a:t>
            </a:r>
            <a:endParaRPr lang="en-US" altLang="zh-CN" sz="2800" dirty="0"/>
          </a:p>
          <a:p>
            <a:pPr lvl="1"/>
            <a:r>
              <a:rPr lang="zh-CN" altLang="en-US" sz="2000" dirty="0"/>
              <a:t>文法定义及相关说明</a:t>
            </a:r>
            <a:endParaRPr lang="en-US" altLang="zh-CN" sz="2000" dirty="0"/>
          </a:p>
          <a:p>
            <a:pPr lvl="1"/>
            <a:r>
              <a:rPr lang="en-US" altLang="zh-CN" sz="2000" dirty="0"/>
              <a:t>MARS2026</a:t>
            </a:r>
          </a:p>
          <a:p>
            <a:pPr lvl="1"/>
            <a:r>
              <a:rPr lang="zh-CN" altLang="en-US" sz="2000" dirty="0"/>
              <a:t>编译器示例代码</a:t>
            </a:r>
            <a:endParaRPr lang="en-US" altLang="zh-CN" sz="2000" dirty="0"/>
          </a:p>
          <a:p>
            <a:pPr lvl="2"/>
            <a:r>
              <a:rPr lang="en-US" altLang="zh-CN" sz="1600" dirty="0"/>
              <a:t>PL/0</a:t>
            </a:r>
          </a:p>
          <a:p>
            <a:pPr lvl="2"/>
            <a:r>
              <a:rPr lang="en-US" altLang="zh-CN" sz="1600" dirty="0"/>
              <a:t>Pascal-s</a:t>
            </a:r>
          </a:p>
          <a:p>
            <a:pPr lvl="2"/>
            <a:r>
              <a:rPr lang="en-US" altLang="zh-CN" sz="1600" dirty="0" err="1"/>
              <a:t>SysY</a:t>
            </a:r>
            <a:r>
              <a:rPr lang="en-US" altLang="zh-CN" sz="1600" dirty="0"/>
              <a:t>-Java</a:t>
            </a:r>
            <a:r>
              <a:rPr lang="zh-CN" altLang="en-US" sz="1600" dirty="0"/>
              <a:t>版</a:t>
            </a:r>
            <a:endParaRPr lang="en-US" altLang="zh-CN" sz="1600" dirty="0"/>
          </a:p>
          <a:p>
            <a:pPr lvl="2"/>
            <a:r>
              <a:rPr lang="en-US" altLang="zh-CN" sz="1600" dirty="0" err="1"/>
              <a:t>SysY-Cpp</a:t>
            </a:r>
            <a:r>
              <a:rPr lang="zh-CN" altLang="en-US" sz="1600" dirty="0"/>
              <a:t>版</a:t>
            </a:r>
            <a:endParaRPr lang="en-US" altLang="zh-CN" sz="1600" dirty="0"/>
          </a:p>
          <a:p>
            <a:pPr lvl="1"/>
            <a:r>
              <a:rPr lang="zh-CN" altLang="en-US" sz="2000" dirty="0"/>
              <a:t>中间代码输出格式说明</a:t>
            </a:r>
          </a:p>
          <a:p>
            <a:pPr lvl="1"/>
            <a:r>
              <a:rPr lang="zh-CN" altLang="en-US" sz="2000" dirty="0"/>
              <a:t>竞速排序及</a:t>
            </a:r>
            <a:r>
              <a:rPr lang="en-US" altLang="zh-CN" sz="2000" dirty="0"/>
              <a:t>MARS</a:t>
            </a:r>
            <a:r>
              <a:rPr lang="zh-CN" altLang="en-US" sz="2000" dirty="0"/>
              <a:t>仿真器说明</a:t>
            </a:r>
          </a:p>
          <a:p>
            <a:pPr lvl="1"/>
            <a:r>
              <a:rPr lang="en-US" altLang="zh-CN" sz="2000" dirty="0"/>
              <a:t>WSL</a:t>
            </a:r>
            <a:r>
              <a:rPr lang="zh-CN" altLang="en-US" sz="2000" dirty="0"/>
              <a:t>使用指南</a:t>
            </a:r>
            <a:endParaRPr lang="en-US" altLang="zh-CN" sz="2000" dirty="0"/>
          </a:p>
          <a:p>
            <a:pPr lvl="1"/>
            <a:r>
              <a:rPr lang="zh-CN" altLang="en-US" sz="2000" dirty="0"/>
              <a:t>公共测试程序库（一周后发布）</a:t>
            </a:r>
            <a:endParaRPr lang="en-US" altLang="zh-CN" sz="2000" dirty="0"/>
          </a:p>
          <a:p>
            <a:pPr lvl="1"/>
            <a:r>
              <a:rPr lang="zh-CN" altLang="en-US" sz="2000" dirty="0"/>
              <a:t>专题报告</a:t>
            </a:r>
            <a:r>
              <a:rPr lang="en-US" altLang="zh-CN" sz="2000" dirty="0"/>
              <a:t>PPT</a:t>
            </a:r>
          </a:p>
          <a:p>
            <a:pPr lvl="1"/>
            <a:endParaRPr lang="en-US" altLang="zh-CN" sz="2000" dirty="0" err="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课程资料</a:t>
            </a:r>
          </a:p>
        </p:txBody>
      </p:sp>
      <p:sp>
        <p:nvSpPr>
          <p:cNvPr id="47107" name="内容占位符 2"/>
          <p:cNvSpPr>
            <a:spLocks noGrp="1"/>
          </p:cNvSpPr>
          <p:nvPr>
            <p:ph idx="1"/>
          </p:nvPr>
        </p:nvSpPr>
        <p:spPr>
          <a:xfrm>
            <a:off x="1182688" y="2017712"/>
            <a:ext cx="7853362" cy="4435623"/>
          </a:xfrm>
        </p:spPr>
        <p:txBody>
          <a:bodyPr vert="horz" wrap="square" lIns="91440" tIns="45720" rIns="91440" bIns="45720" anchor="t" anchorCtr="0"/>
          <a:lstStyle/>
          <a:p>
            <a:r>
              <a:rPr lang="zh-CN" altLang="en-US" sz="2800" dirty="0"/>
              <a:t>慕课</a:t>
            </a:r>
            <a:endParaRPr lang="en-US" altLang="zh-CN" sz="2800" dirty="0"/>
          </a:p>
          <a:p>
            <a:pPr lvl="1"/>
            <a:r>
              <a:rPr lang="zh-CN" altLang="en-US" sz="2000" dirty="0"/>
              <a:t>词法分析专题报告</a:t>
            </a:r>
            <a:endParaRPr lang="en-US" altLang="zh-CN" sz="2000" dirty="0"/>
          </a:p>
          <a:p>
            <a:pPr lvl="1"/>
            <a:r>
              <a:rPr lang="zh-CN" altLang="en-US" sz="2000" dirty="0"/>
              <a:t>语法分析</a:t>
            </a:r>
            <a:r>
              <a:rPr lang="zh-CN" altLang="en-US" sz="2000" dirty="0">
                <a:sym typeface="+mn-ea"/>
              </a:rPr>
              <a:t>专题报告</a:t>
            </a:r>
            <a:endParaRPr lang="en-US" altLang="zh-CN" sz="2000" dirty="0"/>
          </a:p>
          <a:p>
            <a:pPr lvl="1"/>
            <a:r>
              <a:rPr lang="zh-CN" altLang="en-US" sz="2000" dirty="0"/>
              <a:t>语义分析</a:t>
            </a:r>
            <a:r>
              <a:rPr lang="zh-CN" altLang="en-US" sz="2000" dirty="0">
                <a:sym typeface="+mn-ea"/>
              </a:rPr>
              <a:t>专题报告</a:t>
            </a:r>
            <a:endParaRPr lang="en-US" altLang="zh-CN" sz="2000" dirty="0"/>
          </a:p>
          <a:p>
            <a:pPr lvl="1"/>
            <a:r>
              <a:rPr lang="zh-CN" altLang="en-US" sz="2000" dirty="0"/>
              <a:t>代码生成</a:t>
            </a:r>
            <a:r>
              <a:rPr lang="zh-CN" altLang="en-US" sz="2000" dirty="0">
                <a:sym typeface="+mn-ea"/>
              </a:rPr>
              <a:t>专题报告</a:t>
            </a:r>
            <a:endParaRPr lang="en-US" altLang="zh-CN" sz="2000" dirty="0"/>
          </a:p>
          <a:p>
            <a:pPr lvl="1"/>
            <a:r>
              <a:rPr lang="zh-CN" altLang="en-US" sz="2000" dirty="0"/>
              <a:t>代码优化</a:t>
            </a:r>
            <a:r>
              <a:rPr lang="zh-CN" altLang="en-US" sz="2000" dirty="0">
                <a:sym typeface="+mn-ea"/>
              </a:rPr>
              <a:t>专题报告</a:t>
            </a:r>
            <a:endParaRPr lang="en-US" altLang="zh-CN" sz="2000" dirty="0"/>
          </a:p>
          <a:p>
            <a:r>
              <a:rPr lang="zh-CN" altLang="en-US" sz="2800" dirty="0"/>
              <a:t>在线教程</a:t>
            </a:r>
            <a:endParaRPr lang="en-US" altLang="zh-CN" sz="2800" dirty="0"/>
          </a:p>
          <a:p>
            <a:pPr lvl="1"/>
            <a:r>
              <a:rPr lang="zh-CN" altLang="en-US" sz="2000" dirty="0"/>
              <a:t>实验教程（</a:t>
            </a:r>
            <a:r>
              <a:rPr lang="en-US" altLang="zh-CN" sz="2000" dirty="0"/>
              <a:t>2026</a:t>
            </a:r>
            <a:r>
              <a:rPr lang="zh-CN" altLang="en-US" sz="2000" dirty="0"/>
              <a:t>）</a:t>
            </a:r>
            <a:endParaRPr lang="en-US" altLang="zh-CN" sz="2000" dirty="0"/>
          </a:p>
          <a:p>
            <a:pPr lvl="1"/>
            <a:r>
              <a:rPr lang="zh-CN" altLang="en-US" sz="2000" dirty="0">
                <a:solidFill>
                  <a:schemeClr val="bg2">
                    <a:lumMod val="25000"/>
                    <a:lumOff val="75000"/>
                  </a:schemeClr>
                </a:solidFill>
              </a:rPr>
              <a:t>实验教程（</a:t>
            </a:r>
            <a:r>
              <a:rPr lang="en-US" altLang="zh-CN" sz="2000" dirty="0">
                <a:solidFill>
                  <a:schemeClr val="bg2">
                    <a:lumMod val="25000"/>
                    <a:lumOff val="75000"/>
                  </a:schemeClr>
                </a:solidFill>
              </a:rPr>
              <a:t>Java</a:t>
            </a:r>
            <a:r>
              <a:rPr lang="zh-CN" altLang="en-US" sz="2000" dirty="0">
                <a:solidFill>
                  <a:schemeClr val="bg2">
                    <a:lumMod val="25000"/>
                    <a:lumOff val="75000"/>
                  </a:schemeClr>
                </a:solidFill>
              </a:rPr>
              <a:t>版）</a:t>
            </a:r>
            <a:endParaRPr lang="en-US" altLang="zh-CN" sz="2000" dirty="0">
              <a:solidFill>
                <a:schemeClr val="bg2">
                  <a:lumMod val="25000"/>
                  <a:lumOff val="75000"/>
                </a:schemeClr>
              </a:solidFill>
            </a:endParaRPr>
          </a:p>
          <a:p>
            <a:pPr lvl="1"/>
            <a:r>
              <a:rPr lang="zh-CN" altLang="en-US" sz="2000" dirty="0">
                <a:solidFill>
                  <a:schemeClr val="bg2">
                    <a:lumMod val="25000"/>
                    <a:lumOff val="75000"/>
                  </a:schemeClr>
                </a:solidFill>
              </a:rPr>
              <a:t>实验教程（</a:t>
            </a:r>
            <a:r>
              <a:rPr lang="en-US" altLang="zh-CN" sz="2000" dirty="0" err="1">
                <a:solidFill>
                  <a:schemeClr val="bg2">
                    <a:lumMod val="25000"/>
                    <a:lumOff val="75000"/>
                  </a:schemeClr>
                </a:solidFill>
              </a:rPr>
              <a:t>cpp</a:t>
            </a:r>
            <a:r>
              <a:rPr lang="zh-CN" altLang="en-US" sz="2000" dirty="0">
                <a:solidFill>
                  <a:schemeClr val="bg2">
                    <a:lumMod val="25000"/>
                    <a:lumOff val="75000"/>
                  </a:schemeClr>
                </a:solidFill>
              </a:rPr>
              <a:t>版）</a:t>
            </a:r>
            <a:endParaRPr lang="en-US" altLang="zh-CN" sz="2000" dirty="0">
              <a:solidFill>
                <a:schemeClr val="bg2">
                  <a:lumMod val="25000"/>
                  <a:lumOff val="75000"/>
                </a:schemeClr>
              </a:solidFill>
            </a:endParaRPr>
          </a:p>
          <a:p>
            <a:endParaRPr lang="en-US" altLang="zh-CN" sz="2400" dirty="0"/>
          </a:p>
          <a:p>
            <a:pPr marL="457200" lvl="1" indent="0">
              <a:buNone/>
            </a:pPr>
            <a:endParaRPr lang="zh-CN" alt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实验教程</a:t>
            </a:r>
          </a:p>
        </p:txBody>
      </p:sp>
      <p:sp>
        <p:nvSpPr>
          <p:cNvPr id="2" name="内容占位符 2"/>
          <p:cNvSpPr>
            <a:spLocks noGrp="1"/>
          </p:cNvSpPr>
          <p:nvPr>
            <p:ph idx="1"/>
            <p:custDataLst>
              <p:tags r:id="rId1"/>
            </p:custDataLst>
          </p:nvPr>
        </p:nvSpPr>
        <p:spPr>
          <a:xfrm>
            <a:off x="1183005" y="2018030"/>
            <a:ext cx="7853045" cy="4619625"/>
          </a:xfrm>
        </p:spPr>
        <p:txBody>
          <a:bodyPr vert="horz" wrap="square" lIns="91440" tIns="45720" rIns="91440" bIns="45720" anchor="t" anchorCtr="0"/>
          <a:lstStyle/>
          <a:p>
            <a:r>
              <a:rPr lang="zh-CN" altLang="en-US" sz="2400" dirty="0">
                <a:sym typeface="+mn-ea"/>
              </a:rPr>
              <a:t>介绍编译器开发完整流程</a:t>
            </a:r>
            <a:endParaRPr lang="zh-CN" altLang="en-US" sz="2400" dirty="0"/>
          </a:p>
          <a:p>
            <a:pPr lvl="1"/>
            <a:r>
              <a:rPr lang="zh-CN" altLang="en-US" sz="2400" dirty="0">
                <a:sym typeface="+mn-ea"/>
              </a:rPr>
              <a:t>前端部分：词法分析、语法分析、语义分析</a:t>
            </a:r>
            <a:endParaRPr lang="zh-CN" altLang="en-US" sz="2400" dirty="0"/>
          </a:p>
          <a:p>
            <a:pPr lvl="1"/>
            <a:r>
              <a:rPr lang="zh-CN" altLang="en-US" sz="2400" dirty="0">
                <a:sym typeface="+mn-ea"/>
              </a:rPr>
              <a:t>中间代码：</a:t>
            </a:r>
            <a:r>
              <a:rPr lang="en-US" altLang="zh-CN" sz="2400" dirty="0">
                <a:sym typeface="+mn-ea"/>
              </a:rPr>
              <a:t>LLVM</a:t>
            </a:r>
            <a:r>
              <a:rPr lang="zh-CN" altLang="en-US" sz="2400" dirty="0">
                <a:sym typeface="+mn-ea"/>
              </a:rPr>
              <a:t>、四元式、</a:t>
            </a:r>
            <a:r>
              <a:rPr lang="en-US" altLang="zh-CN" sz="2400" dirty="0">
                <a:sym typeface="+mn-ea"/>
              </a:rPr>
              <a:t>Pcode</a:t>
            </a:r>
            <a:endParaRPr lang="zh-CN" altLang="en-US" sz="2400" dirty="0"/>
          </a:p>
          <a:p>
            <a:pPr lvl="1"/>
            <a:r>
              <a:rPr lang="zh-CN" altLang="en-US" sz="2400" dirty="0">
                <a:sym typeface="+mn-ea"/>
              </a:rPr>
              <a:t>代码优化：寄存器分配、</a:t>
            </a:r>
            <a:r>
              <a:rPr lang="en-US" altLang="zh-CN" sz="2400" dirty="0">
                <a:sym typeface="+mn-ea"/>
              </a:rPr>
              <a:t>SSA……</a:t>
            </a:r>
            <a:endParaRPr lang="zh-CN" altLang="en-US" sz="2400" dirty="0"/>
          </a:p>
          <a:p>
            <a:pPr lvl="1"/>
            <a:r>
              <a:rPr lang="zh-CN" altLang="en-US" sz="2400" dirty="0">
                <a:sym typeface="+mn-ea"/>
              </a:rPr>
              <a:t>目标代码生成：</a:t>
            </a:r>
            <a:r>
              <a:rPr lang="en-US" altLang="zh-CN" sz="2400" dirty="0">
                <a:sym typeface="+mn-ea"/>
              </a:rPr>
              <a:t>MIPS</a:t>
            </a:r>
            <a:endParaRPr lang="en-US" altLang="zh-CN" sz="2400" dirty="0"/>
          </a:p>
          <a:p>
            <a:r>
              <a:rPr lang="zh-CN" altLang="en-US" sz="2400" dirty="0"/>
              <a:t>旨在为编译器的架构设计和实现提供参考</a:t>
            </a:r>
          </a:p>
          <a:p>
            <a:r>
              <a:rPr lang="zh-CN" altLang="en-US" sz="2400" dirty="0"/>
              <a:t>提供</a:t>
            </a:r>
            <a:r>
              <a:rPr lang="en-US" altLang="zh-CN" sz="2400" dirty="0" err="1"/>
              <a:t>cpp</a:t>
            </a:r>
            <a:r>
              <a:rPr lang="zh-CN" altLang="en-US" sz="2400" dirty="0"/>
              <a:t>版的示例编译器</a:t>
            </a:r>
            <a:r>
              <a:rPr lang="en-US" altLang="zh-CN" sz="2400" dirty="0"/>
              <a:t> </a:t>
            </a:r>
            <a:r>
              <a:rPr lang="en-US" altLang="zh-CN" sz="2400" dirty="0" err="1"/>
              <a:t>tolangc</a:t>
            </a:r>
            <a:endParaRPr lang="en-US" altLang="zh-CN" sz="2400" dirty="0"/>
          </a:p>
          <a:p>
            <a:pPr lvl="1"/>
            <a:r>
              <a:rPr lang="zh-CN" altLang="en-US" sz="2100" dirty="0"/>
              <a:t>项目地址：https://github.com/wokron/tolangc</a:t>
            </a:r>
          </a:p>
          <a:p>
            <a:pPr lvl="1"/>
            <a:endParaRPr lang="zh-CN" altLang="en-US" sz="2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能得到的帮助</a:t>
            </a:r>
          </a:p>
        </p:txBody>
      </p:sp>
      <p:sp>
        <p:nvSpPr>
          <p:cNvPr id="2" name="内容占位符 2"/>
          <p:cNvSpPr>
            <a:spLocks noGrp="1"/>
          </p:cNvSpPr>
          <p:nvPr>
            <p:ph idx="1"/>
            <p:custDataLst>
              <p:tags r:id="rId1"/>
            </p:custDataLst>
          </p:nvPr>
        </p:nvSpPr>
        <p:spPr>
          <a:xfrm>
            <a:off x="1183005" y="2018030"/>
            <a:ext cx="7853045" cy="3949065"/>
          </a:xfrm>
        </p:spPr>
        <p:txBody>
          <a:bodyPr vert="horz" wrap="square" lIns="91440" tIns="45720" rIns="91440" bIns="45720" anchor="t" anchorCtr="0"/>
          <a:lstStyle/>
          <a:p>
            <a:r>
              <a:rPr lang="zh-CN" altLang="en-US" sz="2800" dirty="0">
                <a:sym typeface="+mn-ea"/>
              </a:rPr>
              <a:t>理论课堂</a:t>
            </a:r>
            <a:endParaRPr lang="en-US" altLang="zh-CN" sz="2800" dirty="0">
              <a:sym typeface="+mn-ea"/>
            </a:endParaRPr>
          </a:p>
          <a:p>
            <a:r>
              <a:rPr lang="zh-CN" altLang="en-US" sz="2800" dirty="0">
                <a:sym typeface="+mn-ea"/>
              </a:rPr>
              <a:t>课程助教</a:t>
            </a:r>
            <a:endParaRPr lang="en-US" altLang="zh-CN" sz="2800" dirty="0">
              <a:sym typeface="+mn-ea"/>
            </a:endParaRPr>
          </a:p>
          <a:p>
            <a:r>
              <a:rPr lang="zh-CN" altLang="en-US" sz="2800" dirty="0">
                <a:sym typeface="+mn-ea"/>
              </a:rPr>
              <a:t>实验教程</a:t>
            </a:r>
            <a:endParaRPr lang="en-US" altLang="zh-CN" sz="2800" dirty="0">
              <a:sym typeface="+mn-ea"/>
            </a:endParaRPr>
          </a:p>
          <a:p>
            <a:r>
              <a:rPr lang="zh-CN" altLang="en-US" sz="2800" dirty="0">
                <a:sym typeface="+mn-ea"/>
              </a:rPr>
              <a:t>大模型</a:t>
            </a:r>
            <a:endParaRPr lang="zh-CN" altLang="en-US" sz="2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对大模型的使用要求</a:t>
            </a:r>
          </a:p>
        </p:txBody>
      </p:sp>
      <p:sp>
        <p:nvSpPr>
          <p:cNvPr id="2" name="内容占位符 1"/>
          <p:cNvSpPr>
            <a:spLocks noGrp="1"/>
          </p:cNvSpPr>
          <p:nvPr>
            <p:ph idx="1"/>
            <p:custDataLst>
              <p:tags r:id="rId1"/>
            </p:custDataLst>
          </p:nvPr>
        </p:nvSpPr>
        <p:spPr>
          <a:xfrm>
            <a:off x="896620" y="1978025"/>
            <a:ext cx="8247380" cy="4549775"/>
          </a:xfrm>
        </p:spPr>
        <p:txBody>
          <a:bodyPr/>
          <a:lstStyle/>
          <a:p>
            <a:pPr>
              <a:lnSpc>
                <a:spcPct val="140000"/>
              </a:lnSpc>
            </a:pPr>
            <a:r>
              <a:rPr lang="zh-CN" altLang="en-US" sz="2400" dirty="0">
                <a:solidFill>
                  <a:srgbClr val="C00000"/>
                </a:solidFill>
              </a:rPr>
              <a:t>可以</a:t>
            </a:r>
            <a:r>
              <a:rPr lang="zh-CN" altLang="en-US" sz="2400" dirty="0">
                <a:solidFill>
                  <a:schemeClr val="tx1"/>
                </a:solidFill>
              </a:rPr>
              <a:t>使用大模型辅助生成代码</a:t>
            </a:r>
          </a:p>
          <a:p>
            <a:pPr lvl="1">
              <a:lnSpc>
                <a:spcPct val="140000"/>
              </a:lnSpc>
            </a:pPr>
            <a:r>
              <a:rPr lang="zh-CN" altLang="en-US" sz="2100" dirty="0">
                <a:solidFill>
                  <a:schemeClr val="tx1"/>
                </a:solidFill>
              </a:rPr>
              <a:t>需提交与大模型的交互记录（有专门的题目）</a:t>
            </a:r>
          </a:p>
          <a:p>
            <a:pPr lvl="1">
              <a:lnSpc>
                <a:spcPct val="140000"/>
              </a:lnSpc>
            </a:pPr>
            <a:r>
              <a:rPr lang="zh-CN" altLang="en-US" sz="2100" dirty="0">
                <a:solidFill>
                  <a:srgbClr val="C00000"/>
                </a:solidFill>
              </a:rPr>
              <a:t>设计文档</a:t>
            </a:r>
            <a:r>
              <a:rPr lang="zh-CN" altLang="en-US" sz="2100" dirty="0">
                <a:solidFill>
                  <a:schemeClr val="tx1"/>
                </a:solidFill>
              </a:rPr>
              <a:t>里需写出对生成代码的</a:t>
            </a:r>
            <a:r>
              <a:rPr lang="zh-CN" altLang="en-US" sz="2100" dirty="0">
                <a:solidFill>
                  <a:srgbClr val="C00000"/>
                </a:solidFill>
              </a:rPr>
              <a:t>评价</a:t>
            </a:r>
            <a:r>
              <a:rPr lang="zh-CN" altLang="en-US" sz="2100" dirty="0">
                <a:solidFill>
                  <a:schemeClr val="tx1"/>
                </a:solidFill>
              </a:rPr>
              <a:t>和对代码的人工</a:t>
            </a:r>
            <a:r>
              <a:rPr lang="zh-CN" altLang="en-US" sz="2100" dirty="0">
                <a:solidFill>
                  <a:srgbClr val="C00000"/>
                </a:solidFill>
              </a:rPr>
              <a:t>修改</a:t>
            </a:r>
          </a:p>
          <a:p>
            <a:pPr>
              <a:lnSpc>
                <a:spcPct val="140000"/>
              </a:lnSpc>
            </a:pPr>
            <a:r>
              <a:rPr lang="zh-CN" altLang="en-US" sz="2400" dirty="0">
                <a:solidFill>
                  <a:srgbClr val="C00000"/>
                </a:solidFill>
                <a:sym typeface="+mn-ea"/>
              </a:rPr>
              <a:t>鼓励</a:t>
            </a:r>
            <a:r>
              <a:rPr lang="en-US" altLang="zh-CN" sz="2400" dirty="0">
                <a:solidFill>
                  <a:schemeClr val="tx1"/>
                </a:solidFill>
                <a:sym typeface="+mn-ea"/>
              </a:rPr>
              <a:t>“</a:t>
            </a:r>
            <a:r>
              <a:rPr lang="zh-CN" altLang="en-US" sz="2400" dirty="0">
                <a:solidFill>
                  <a:schemeClr val="tx1"/>
                </a:solidFill>
                <a:sym typeface="+mn-ea"/>
              </a:rPr>
              <a:t>手搓</a:t>
            </a:r>
            <a:r>
              <a:rPr lang="en-US" altLang="zh-CN" sz="2400" dirty="0">
                <a:solidFill>
                  <a:schemeClr val="tx1"/>
                </a:solidFill>
                <a:sym typeface="+mn-ea"/>
              </a:rPr>
              <a:t>”</a:t>
            </a:r>
            <a:r>
              <a:rPr lang="zh-CN" altLang="en-US" sz="2400" dirty="0">
                <a:solidFill>
                  <a:schemeClr val="tx1"/>
                </a:solidFill>
                <a:sym typeface="+mn-ea"/>
              </a:rPr>
              <a:t>代码</a:t>
            </a:r>
            <a:endParaRPr lang="zh-CN" altLang="en-US" sz="2400" dirty="0">
              <a:solidFill>
                <a:schemeClr val="tx1"/>
              </a:solidFill>
            </a:endParaRPr>
          </a:p>
          <a:p>
            <a:pPr>
              <a:lnSpc>
                <a:spcPct val="140000"/>
              </a:lnSpc>
            </a:pPr>
            <a:r>
              <a:rPr lang="zh-CN" altLang="en-US" sz="2400" dirty="0">
                <a:solidFill>
                  <a:srgbClr val="C00000"/>
                </a:solidFill>
              </a:rPr>
              <a:t>设计文档</a:t>
            </a:r>
            <a:r>
              <a:rPr lang="zh-CN" altLang="en-US" sz="2400" dirty="0">
                <a:solidFill>
                  <a:schemeClr val="tx1"/>
                </a:solidFill>
              </a:rPr>
              <a:t>、</a:t>
            </a:r>
            <a:r>
              <a:rPr lang="zh-CN" altLang="en-US" sz="2400" dirty="0">
                <a:solidFill>
                  <a:srgbClr val="C00000"/>
                </a:solidFill>
              </a:rPr>
              <a:t>申优文章</a:t>
            </a:r>
            <a:r>
              <a:rPr lang="zh-CN" altLang="en-US" sz="2400" dirty="0">
                <a:solidFill>
                  <a:schemeClr val="tx1"/>
                </a:solidFill>
              </a:rPr>
              <a:t>和</a:t>
            </a:r>
            <a:r>
              <a:rPr lang="zh-CN" altLang="en-US" sz="2400" dirty="0">
                <a:solidFill>
                  <a:srgbClr val="C00000"/>
                </a:solidFill>
              </a:rPr>
              <a:t>总结感想不能</a:t>
            </a:r>
            <a:r>
              <a:rPr lang="zh-CN" altLang="en-US" sz="2400" dirty="0">
                <a:solidFill>
                  <a:schemeClr val="tx1"/>
                </a:solidFill>
              </a:rPr>
              <a:t>用大模型生成，若发现会影响实验成绩</a:t>
            </a:r>
          </a:p>
          <a:p>
            <a:pPr>
              <a:lnSpc>
                <a:spcPct val="140000"/>
              </a:lnSpc>
            </a:pPr>
            <a:r>
              <a:rPr lang="zh-CN" altLang="en-US" sz="2400" dirty="0">
                <a:solidFill>
                  <a:schemeClr val="tx1"/>
                </a:solidFill>
              </a:rPr>
              <a:t>上机考核期间</a:t>
            </a:r>
            <a:r>
              <a:rPr lang="zh-CN" altLang="en-US" sz="2400" dirty="0">
                <a:solidFill>
                  <a:srgbClr val="C00000"/>
                </a:solidFill>
              </a:rPr>
              <a:t>不允许</a:t>
            </a:r>
            <a:r>
              <a:rPr lang="zh-CN" altLang="en-US" sz="2400" dirty="0">
                <a:solidFill>
                  <a:schemeClr val="tx1"/>
                </a:solidFill>
              </a:rPr>
              <a:t>使用大模型</a:t>
            </a:r>
          </a:p>
          <a:p>
            <a:pPr>
              <a:lnSpc>
                <a:spcPct val="140000"/>
              </a:lnSpc>
            </a:pPr>
            <a:r>
              <a:rPr lang="zh-CN" altLang="en-US" sz="2400" dirty="0">
                <a:solidFill>
                  <a:schemeClr val="tx1"/>
                </a:solidFill>
              </a:rPr>
              <a:t>现场答辩期间</a:t>
            </a:r>
            <a:r>
              <a:rPr lang="zh-CN" altLang="en-US" sz="2400" dirty="0">
                <a:solidFill>
                  <a:srgbClr val="C00000"/>
                </a:solidFill>
              </a:rPr>
              <a:t>不允许</a:t>
            </a:r>
            <a:r>
              <a:rPr lang="zh-CN" altLang="en-US" sz="2400" dirty="0">
                <a:solidFill>
                  <a:schemeClr val="tx1"/>
                </a:solidFill>
              </a:rPr>
              <a:t>使用大模型</a:t>
            </a:r>
            <a:endParaRPr lang="en-US" altLang="zh-CN" sz="2740" dirty="0">
              <a:solidFill>
                <a:schemeClr val="tx1"/>
              </a:solidFill>
            </a:endParaRPr>
          </a:p>
          <a:p>
            <a:pPr>
              <a:lnSpc>
                <a:spcPct val="140000"/>
              </a:lnSpc>
            </a:pPr>
            <a:endParaRPr lang="en-US" altLang="zh-CN" sz="2740" dirty="0">
              <a:solidFill>
                <a:schemeClr val="tx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对大模型的使用要求</a:t>
            </a:r>
          </a:p>
        </p:txBody>
      </p:sp>
      <p:sp>
        <p:nvSpPr>
          <p:cNvPr id="2" name="内容占位符 1"/>
          <p:cNvSpPr>
            <a:spLocks noGrp="1"/>
          </p:cNvSpPr>
          <p:nvPr>
            <p:ph idx="1"/>
            <p:custDataLst>
              <p:tags r:id="rId1"/>
            </p:custDataLst>
          </p:nvPr>
        </p:nvSpPr>
        <p:spPr>
          <a:xfrm>
            <a:off x="896620" y="1978025"/>
            <a:ext cx="8247380" cy="4280535"/>
          </a:xfrm>
        </p:spPr>
        <p:txBody>
          <a:bodyPr/>
          <a:lstStyle/>
          <a:p>
            <a:r>
              <a:rPr lang="zh-CN" altLang="en-US" sz="2400" dirty="0">
                <a:solidFill>
                  <a:srgbClr val="C00000"/>
                </a:solidFill>
              </a:rPr>
              <a:t>将大模型作为辅助工具使用</a:t>
            </a:r>
          </a:p>
          <a:p>
            <a:pPr lvl="1"/>
            <a:r>
              <a:rPr lang="zh-CN" altLang="en-US" sz="2100" dirty="0">
                <a:solidFill>
                  <a:srgbClr val="C00000"/>
                </a:solidFill>
              </a:rPr>
              <a:t>辅助</a:t>
            </a:r>
            <a:r>
              <a:rPr lang="zh-CN" altLang="en-US" sz="2100" dirty="0"/>
              <a:t>学习和理解理论知识，</a:t>
            </a:r>
            <a:r>
              <a:rPr lang="zh-CN" altLang="en-US" sz="2100" dirty="0">
                <a:solidFill>
                  <a:srgbClr val="C00000"/>
                </a:solidFill>
              </a:rPr>
              <a:t>辅助</a:t>
            </a:r>
            <a:r>
              <a:rPr lang="zh-CN" altLang="en-US" sz="2100" dirty="0"/>
              <a:t>解决课程作业的难疑点，增强对理论知识的掌握</a:t>
            </a:r>
          </a:p>
          <a:p>
            <a:pPr lvl="1"/>
            <a:r>
              <a:rPr lang="zh-CN" altLang="en-US" sz="2100" dirty="0">
                <a:solidFill>
                  <a:srgbClr val="C00000"/>
                </a:solidFill>
              </a:rPr>
              <a:t>辅助</a:t>
            </a:r>
            <a:r>
              <a:rPr lang="zh-CN" altLang="en-US" sz="2100" dirty="0"/>
              <a:t>编程和编译器开发，设计更好的编译器架构，学习编译优化方法</a:t>
            </a:r>
          </a:p>
          <a:p>
            <a:r>
              <a:rPr lang="zh-CN" altLang="en-US" sz="2400" dirty="0"/>
              <a:t>保持自己的</a:t>
            </a:r>
            <a:r>
              <a:rPr lang="zh-CN" altLang="en-US" sz="2400" dirty="0">
                <a:solidFill>
                  <a:srgbClr val="C00000"/>
                </a:solidFill>
              </a:rPr>
              <a:t>思考习惯</a:t>
            </a:r>
          </a:p>
          <a:p>
            <a:pPr lvl="1" algn="l"/>
            <a:r>
              <a:rPr lang="zh-CN" altLang="en-US" sz="2100" dirty="0">
                <a:solidFill>
                  <a:schemeClr val="tx1"/>
                </a:solidFill>
                <a:cs typeface="+mn-ea"/>
              </a:rPr>
              <a:t>能判断大模型输出结果的好坏、正误</a:t>
            </a:r>
            <a:endParaRPr lang="zh-CN" altLang="en-US" sz="2100" dirty="0">
              <a:solidFill>
                <a:srgbClr val="C00000"/>
              </a:solidFill>
              <a:cs typeface="+mn-ea"/>
            </a:endParaRPr>
          </a:p>
          <a:p>
            <a:pPr lvl="1" algn="l"/>
            <a:r>
              <a:rPr lang="zh-CN" altLang="en-US" sz="2100" dirty="0">
                <a:solidFill>
                  <a:schemeClr val="tx1"/>
                </a:solidFill>
                <a:cs typeface="+mn-ea"/>
              </a:rPr>
              <a:t>能读懂、解释大模型生成的代码</a:t>
            </a:r>
            <a:endParaRPr lang="zh-CN" altLang="en-US" sz="2100" dirty="0">
              <a:solidFill>
                <a:srgbClr val="C00000"/>
              </a:solidFill>
              <a:cs typeface="+mn-ea"/>
            </a:endParaRPr>
          </a:p>
          <a:p>
            <a:pPr lvl="0" algn="l"/>
            <a:r>
              <a:rPr lang="zh-CN" altLang="en-US" sz="2400" dirty="0"/>
              <a:t>保持自己的</a:t>
            </a:r>
            <a:r>
              <a:rPr lang="zh-CN" altLang="en-US" sz="2400" dirty="0">
                <a:solidFill>
                  <a:srgbClr val="C00000"/>
                </a:solidFill>
              </a:rPr>
              <a:t>编程能力</a:t>
            </a:r>
          </a:p>
          <a:p>
            <a:pPr lvl="1" algn="l"/>
            <a:r>
              <a:rPr lang="zh-CN" altLang="en-US" sz="2100" dirty="0">
                <a:solidFill>
                  <a:schemeClr val="tx1"/>
                </a:solidFill>
                <a:cs typeface="+mn-ea"/>
                <a:sym typeface="+mn-ea"/>
              </a:rPr>
              <a:t>能识别出代码中的问题，并对有问题的地方进行修改</a:t>
            </a:r>
          </a:p>
          <a:p>
            <a:pPr lvl="1" algn="l"/>
            <a:r>
              <a:rPr lang="zh-CN" altLang="en-US" sz="2100" dirty="0">
                <a:solidFill>
                  <a:schemeClr val="tx1"/>
                </a:solidFill>
                <a:sym typeface="+mn-ea"/>
              </a:rPr>
              <a:t>能根据新需求修改代码</a:t>
            </a:r>
            <a:endParaRPr lang="en-US" altLang="zh-CN"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查重及作弊有关</a:t>
            </a:r>
          </a:p>
        </p:txBody>
      </p:sp>
      <p:sp>
        <p:nvSpPr>
          <p:cNvPr id="2" name="内容占位符 1"/>
          <p:cNvSpPr>
            <a:spLocks noGrp="1"/>
          </p:cNvSpPr>
          <p:nvPr>
            <p:ph idx="1"/>
            <p:custDataLst>
              <p:tags r:id="rId1"/>
            </p:custDataLst>
          </p:nvPr>
        </p:nvSpPr>
        <p:spPr>
          <a:xfrm>
            <a:off x="823913" y="2017713"/>
            <a:ext cx="7772400" cy="4625974"/>
          </a:xfrm>
        </p:spPr>
        <p:txBody>
          <a:bodyPr>
            <a:noAutofit/>
          </a:bodyPr>
          <a:lstStyle/>
          <a:p>
            <a:r>
              <a:rPr lang="zh-CN" altLang="en-US" sz="2300" dirty="0"/>
              <a:t>出现项目代码整体相似度过高，或其他高度相似的情况的，视为代码相似。</a:t>
            </a:r>
            <a:endParaRPr lang="en-US" altLang="zh-CN" sz="2300" dirty="0"/>
          </a:p>
          <a:p>
            <a:pPr lvl="1"/>
            <a:r>
              <a:rPr lang="zh-CN" altLang="en-US" sz="2300" dirty="0"/>
              <a:t>抄袭者与被抄袭者同等处理</a:t>
            </a:r>
          </a:p>
          <a:p>
            <a:pPr lvl="1"/>
            <a:r>
              <a:rPr lang="zh-CN" altLang="en-US" sz="2300" dirty="0"/>
              <a:t>被查出代码相似的学生有权提出申诉</a:t>
            </a:r>
            <a:endParaRPr lang="en-US" altLang="zh-CN" sz="2300" dirty="0"/>
          </a:p>
          <a:p>
            <a:r>
              <a:rPr lang="zh-CN" altLang="en-US" sz="2300" dirty="0"/>
              <a:t>以任何非正当方式获取测试用例、直接输出结果的，均视为作弊行为。</a:t>
            </a:r>
          </a:p>
          <a:p>
            <a:r>
              <a:rPr lang="zh-CN" altLang="en-US" sz="2300" dirty="0"/>
              <a:t>编译技术课程组保留关于作弊行为的解释、调查和处置的权力。</a:t>
            </a:r>
            <a:endParaRPr lang="en-US" altLang="zh-CN" sz="2300" dirty="0"/>
          </a:p>
          <a:p>
            <a:r>
              <a:rPr lang="zh-CN" altLang="en-US" sz="2300" dirty="0"/>
              <a:t>提醒注意：</a:t>
            </a:r>
            <a:endParaRPr lang="en-US" altLang="zh-CN" sz="2300" dirty="0"/>
          </a:p>
          <a:p>
            <a:pPr lvl="1"/>
            <a:r>
              <a:rPr lang="zh-CN" altLang="en-US" sz="1900" dirty="0"/>
              <a:t>不得直接照搬公开代码库</a:t>
            </a:r>
          </a:p>
          <a:p>
            <a:pPr lvl="1"/>
            <a:r>
              <a:rPr lang="zh-CN" altLang="en-US" sz="1900" dirty="0"/>
              <a:t>妥善保管代码，避免泄露</a:t>
            </a:r>
          </a:p>
          <a:p>
            <a:pPr lvl="1"/>
            <a:r>
              <a:rPr lang="zh-CN" altLang="en-US" sz="1900" dirty="0"/>
              <a:t>建议使用 </a:t>
            </a:r>
            <a:r>
              <a:rPr lang="en-US" altLang="zh-CN" sz="1900" dirty="0"/>
              <a:t>Git </a:t>
            </a:r>
            <a:r>
              <a:rPr lang="zh-CN" altLang="en-US" sz="1900" dirty="0"/>
              <a:t>等工具记录开发过程</a:t>
            </a:r>
            <a:endParaRPr lang="en-US" altLang="zh-CN" sz="1900" dirty="0"/>
          </a:p>
          <a:p>
            <a:pPr marL="0" indent="0">
              <a:buNone/>
            </a:pPr>
            <a:endParaRPr lang="zh-CN" altLang="en-US" sz="2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b" anchorCtr="0"/>
          <a:lstStyle/>
          <a:p>
            <a:pPr eaLnBrk="1" hangingPunct="1"/>
            <a:r>
              <a:rPr lang="zh-CN" altLang="en-US" dirty="0"/>
              <a:t>交流与沟通</a:t>
            </a:r>
          </a:p>
        </p:txBody>
      </p:sp>
      <p:sp>
        <p:nvSpPr>
          <p:cNvPr id="48131" name="Rectangle 3"/>
          <p:cNvSpPr>
            <a:spLocks noGrp="1"/>
          </p:cNvSpPr>
          <p:nvPr>
            <p:ph idx="1"/>
          </p:nvPr>
        </p:nvSpPr>
        <p:spPr>
          <a:xfrm>
            <a:off x="1182688" y="2017713"/>
            <a:ext cx="7772400" cy="4364037"/>
          </a:xfrm>
        </p:spPr>
        <p:txBody>
          <a:bodyPr vert="horz" wrap="square" lIns="91440" tIns="45720" rIns="91440" bIns="45720" anchor="t" anchorCtr="0"/>
          <a:lstStyle/>
          <a:p>
            <a:pPr eaLnBrk="1" hangingPunct="1">
              <a:lnSpc>
                <a:spcPct val="90000"/>
              </a:lnSpc>
            </a:pPr>
            <a:r>
              <a:rPr lang="zh-CN" altLang="en-US" sz="2400" dirty="0"/>
              <a:t>现场答疑</a:t>
            </a:r>
            <a:endParaRPr lang="en-US" altLang="zh-CN" sz="2400" dirty="0"/>
          </a:p>
          <a:p>
            <a:pPr lvl="1" eaLnBrk="1" hangingPunct="1">
              <a:lnSpc>
                <a:spcPct val="90000"/>
              </a:lnSpc>
            </a:pPr>
            <a:r>
              <a:rPr lang="zh-CN" altLang="en-US" sz="2000" dirty="0"/>
              <a:t>每次上机时间</a:t>
            </a:r>
            <a:endParaRPr lang="en-US" altLang="zh-CN" sz="2000" dirty="0"/>
          </a:p>
          <a:p>
            <a:pPr eaLnBrk="1" hangingPunct="1">
              <a:lnSpc>
                <a:spcPct val="90000"/>
              </a:lnSpc>
            </a:pPr>
            <a:r>
              <a:rPr lang="zh-CN" altLang="en-US" sz="2400" dirty="0"/>
              <a:t>交流</a:t>
            </a:r>
            <a:endParaRPr lang="en-US" altLang="zh-CN" sz="2400" dirty="0"/>
          </a:p>
          <a:p>
            <a:pPr lvl="1" eaLnBrk="1" hangingPunct="1">
              <a:lnSpc>
                <a:spcPct val="90000"/>
              </a:lnSpc>
            </a:pPr>
            <a:r>
              <a:rPr lang="zh-CN" altLang="en-US" sz="2000" dirty="0"/>
              <a:t>组织专题分享、讨论</a:t>
            </a:r>
            <a:endParaRPr lang="en-US" altLang="zh-CN" sz="2000" dirty="0"/>
          </a:p>
          <a:p>
            <a:pPr lvl="1" eaLnBrk="1" hangingPunct="1">
              <a:lnSpc>
                <a:spcPct val="90000"/>
              </a:lnSpc>
            </a:pPr>
            <a:r>
              <a:rPr lang="zh-CN" altLang="en-US" sz="2000" dirty="0"/>
              <a:t>在论坛上发起话题在线讨论，</a:t>
            </a:r>
            <a:r>
              <a:rPr lang="zh-CN" altLang="en-US" sz="2000" dirty="0">
                <a:solidFill>
                  <a:srgbClr val="C00000"/>
                </a:solidFill>
              </a:rPr>
              <a:t>提问前先确认</a:t>
            </a:r>
            <a:r>
              <a:rPr lang="zh-CN" altLang="en-US" sz="2000" dirty="0"/>
              <a:t>是否有同样的问题已解决</a:t>
            </a:r>
            <a:endParaRPr lang="en-US" altLang="zh-CN" sz="2000" dirty="0"/>
          </a:p>
          <a:p>
            <a:pPr lvl="1" eaLnBrk="1" hangingPunct="1">
              <a:lnSpc>
                <a:spcPct val="90000"/>
              </a:lnSpc>
            </a:pPr>
            <a:r>
              <a:rPr lang="zh-CN" altLang="en-US" sz="2000" dirty="0"/>
              <a:t>汇总常见问题发布在论坛</a:t>
            </a:r>
          </a:p>
          <a:p>
            <a:pPr lvl="1" eaLnBrk="1" hangingPunct="1">
              <a:lnSpc>
                <a:spcPct val="90000"/>
              </a:lnSpc>
            </a:pPr>
            <a:r>
              <a:rPr lang="zh-CN" altLang="en-US" sz="2000" dirty="0"/>
              <a:t>请助教帮助解决代码问题前，</a:t>
            </a:r>
            <a:r>
              <a:rPr lang="zh-CN" altLang="en-US" sz="2000" dirty="0">
                <a:solidFill>
                  <a:srgbClr val="C00000"/>
                </a:solidFill>
              </a:rPr>
              <a:t>先用公共测试程序库进行调试</a:t>
            </a:r>
            <a:endParaRPr lang="en-US" altLang="zh-CN" sz="2000" dirty="0">
              <a:solidFill>
                <a:srgbClr val="C00000"/>
              </a:solidFill>
            </a:endParaRPr>
          </a:p>
          <a:p>
            <a:pPr eaLnBrk="1" hangingPunct="1">
              <a:lnSpc>
                <a:spcPct val="90000"/>
              </a:lnSpc>
            </a:pPr>
            <a:r>
              <a:rPr lang="zh-CN" altLang="en-US" sz="2400" dirty="0"/>
              <a:t>联系方式</a:t>
            </a:r>
          </a:p>
          <a:p>
            <a:pPr eaLnBrk="1" hangingPunct="1">
              <a:lnSpc>
                <a:spcPct val="90000"/>
              </a:lnSpc>
              <a:buNone/>
            </a:pPr>
            <a:r>
              <a:rPr lang="zh-CN" altLang="en-US" sz="2800" dirty="0"/>
              <a:t>	</a:t>
            </a:r>
            <a:r>
              <a:rPr lang="en-US" altLang="zh-CN" sz="2800" dirty="0"/>
              <a:t> </a:t>
            </a:r>
            <a:r>
              <a:rPr lang="zh-CN" altLang="en-US" sz="2000" dirty="0"/>
              <a:t>杨海燕：</a:t>
            </a:r>
            <a:r>
              <a:rPr lang="en-US" altLang="zh-CN" sz="2000" dirty="0">
                <a:hlinkClick r:id="rId3"/>
              </a:rPr>
              <a:t>compiler_buaa@126.com</a:t>
            </a:r>
            <a:endParaRPr lang="en-US" altLang="zh-CN" sz="2000" dirty="0"/>
          </a:p>
          <a:p>
            <a:pPr eaLnBrk="1" hangingPunct="1">
              <a:lnSpc>
                <a:spcPct val="90000"/>
              </a:lnSpc>
              <a:buNone/>
            </a:pPr>
            <a:r>
              <a:rPr lang="en-US" altLang="zh-CN" sz="2000" dirty="0"/>
              <a:t>                  82317624 G908</a:t>
            </a:r>
          </a:p>
          <a:p>
            <a:pPr eaLnBrk="1" hangingPunct="1">
              <a:lnSpc>
                <a:spcPct val="90000"/>
              </a:lnSpc>
              <a:buNone/>
            </a:pPr>
            <a:r>
              <a:rPr lang="en-US" altLang="zh-CN" sz="2000" dirty="0"/>
              <a:t>      </a:t>
            </a:r>
            <a:r>
              <a:rPr lang="zh-CN" altLang="en-US" sz="2000" dirty="0"/>
              <a:t>史晓华：</a:t>
            </a:r>
            <a:r>
              <a:rPr lang="en-US" altLang="zh-CN" sz="2000" dirty="0"/>
              <a:t>xhshi@buaa.edu.cn </a:t>
            </a:r>
          </a:p>
          <a:p>
            <a:pPr eaLnBrk="1" hangingPunct="1">
              <a:lnSpc>
                <a:spcPct val="90000"/>
              </a:lnSpc>
              <a:buNone/>
            </a:pPr>
            <a:r>
              <a:rPr lang="en-US" altLang="zh-CN" sz="2800" dirty="0"/>
              <a:t>	</a:t>
            </a:r>
          </a:p>
          <a:p>
            <a:pPr eaLnBrk="1" hangingPunct="1">
              <a:lnSpc>
                <a:spcPct val="90000"/>
              </a:lnSpc>
              <a:buNone/>
            </a:pPr>
            <a:r>
              <a:rPr lang="en-US" altLang="zh-CN" sz="2800" dirty="0"/>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vert="horz" wrap="square" lIns="91440" tIns="45720" rIns="91440" bIns="45720" anchor="b" anchorCtr="0"/>
          <a:lstStyle/>
          <a:p>
            <a:r>
              <a:rPr lang="zh-CN" altLang="en-US" dirty="0"/>
              <a:t>为什么会觉得难</a:t>
            </a:r>
          </a:p>
        </p:txBody>
      </p:sp>
      <p:sp>
        <p:nvSpPr>
          <p:cNvPr id="26627" name="内容占位符 2"/>
          <p:cNvSpPr>
            <a:spLocks noGrp="1"/>
          </p:cNvSpPr>
          <p:nvPr>
            <p:ph idx="1"/>
          </p:nvPr>
        </p:nvSpPr>
        <p:spPr>
          <a:xfrm>
            <a:off x="1182688" y="2017713"/>
            <a:ext cx="7772400" cy="3859559"/>
          </a:xfrm>
        </p:spPr>
        <p:txBody>
          <a:bodyPr vert="horz" wrap="square" lIns="91440" tIns="45720" rIns="91440" bIns="45720" anchor="t" anchorCtr="0"/>
          <a:lstStyle/>
          <a:p>
            <a:r>
              <a:rPr lang="zh-CN" altLang="en-US" sz="2400" dirty="0"/>
              <a:t>编译原理本身没弄清</a:t>
            </a:r>
            <a:endParaRPr lang="en-US" altLang="zh-CN" sz="2400" dirty="0"/>
          </a:p>
          <a:p>
            <a:r>
              <a:rPr lang="zh-CN" altLang="en-US" sz="2400" dirty="0"/>
              <a:t>需要综合运用多门课知识</a:t>
            </a:r>
            <a:endParaRPr lang="en-US" altLang="zh-CN" sz="2400" dirty="0"/>
          </a:p>
          <a:p>
            <a:pPr lvl="1"/>
            <a:r>
              <a:rPr lang="en-US" altLang="zh-CN" sz="2400" dirty="0"/>
              <a:t>C/C++/JAVA</a:t>
            </a:r>
            <a:r>
              <a:rPr lang="zh-CN" altLang="en-US" sz="2400" dirty="0"/>
              <a:t>语言、数据结构、算法、汇编</a:t>
            </a:r>
            <a:endParaRPr lang="en-US" altLang="zh-CN" sz="2400" dirty="0"/>
          </a:p>
          <a:p>
            <a:r>
              <a:rPr lang="zh-CN" altLang="en-US" sz="2400" dirty="0"/>
              <a:t>编程经验不足</a:t>
            </a:r>
            <a:endParaRPr lang="en-US" altLang="zh-CN" sz="2400" dirty="0"/>
          </a:p>
          <a:p>
            <a:pPr lvl="1"/>
            <a:r>
              <a:rPr lang="zh-CN" altLang="en-US" sz="2400" dirty="0"/>
              <a:t>从头开始做</a:t>
            </a:r>
            <a:endParaRPr lang="en-US" altLang="zh-CN" sz="2400" dirty="0"/>
          </a:p>
          <a:p>
            <a:pPr lvl="1"/>
            <a:r>
              <a:rPr lang="zh-CN" altLang="en-US" sz="2400" dirty="0"/>
              <a:t>规模相对较大</a:t>
            </a:r>
            <a:endParaRPr lang="en-US" altLang="zh-CN" sz="2400" dirty="0"/>
          </a:p>
          <a:p>
            <a:pPr lvl="1"/>
            <a:r>
              <a:rPr lang="zh-CN" altLang="en-US" sz="2400" dirty="0"/>
              <a:t>调试困难</a:t>
            </a:r>
            <a:endParaRPr lang="en-US" altLang="zh-CN" sz="2400" dirty="0"/>
          </a:p>
          <a:p>
            <a:r>
              <a:rPr lang="zh-CN" altLang="en-US" sz="2400" dirty="0"/>
              <a:t>需要自己独立完成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fade">
                                      <p:cBhvr>
                                        <p:cTn id="7" dur="20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fade">
                                      <p:cBhvr>
                                        <p:cTn id="12" dur="2000"/>
                                        <p:tgtEl>
                                          <p:spTgt spid="2662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animEffect transition="in" filter="fade">
                                      <p:cBhvr>
                                        <p:cTn id="15" dur="2000"/>
                                        <p:tgtEl>
                                          <p:spTgt spid="2662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627">
                                            <p:txEl>
                                              <p:pRg st="3" end="3"/>
                                            </p:txEl>
                                          </p:spTgt>
                                        </p:tgtEl>
                                        <p:attrNameLst>
                                          <p:attrName>style.visibility</p:attrName>
                                        </p:attrNameLst>
                                      </p:cBhvr>
                                      <p:to>
                                        <p:strVal val="visible"/>
                                      </p:to>
                                    </p:set>
                                    <p:animEffect transition="in" filter="fade">
                                      <p:cBhvr>
                                        <p:cTn id="20" dur="2000"/>
                                        <p:tgtEl>
                                          <p:spTgt spid="2662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627">
                                            <p:txEl>
                                              <p:pRg st="4" end="4"/>
                                            </p:txEl>
                                          </p:spTgt>
                                        </p:tgtEl>
                                        <p:attrNameLst>
                                          <p:attrName>style.visibility</p:attrName>
                                        </p:attrNameLst>
                                      </p:cBhvr>
                                      <p:to>
                                        <p:strVal val="visible"/>
                                      </p:to>
                                    </p:set>
                                    <p:animEffect transition="in" filter="fade">
                                      <p:cBhvr>
                                        <p:cTn id="23" dur="2000"/>
                                        <p:tgtEl>
                                          <p:spTgt spid="26627">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627">
                                            <p:txEl>
                                              <p:pRg st="5" end="5"/>
                                            </p:txEl>
                                          </p:spTgt>
                                        </p:tgtEl>
                                        <p:attrNameLst>
                                          <p:attrName>style.visibility</p:attrName>
                                        </p:attrNameLst>
                                      </p:cBhvr>
                                      <p:to>
                                        <p:strVal val="visible"/>
                                      </p:to>
                                    </p:set>
                                    <p:animEffect transition="in" filter="fade">
                                      <p:cBhvr>
                                        <p:cTn id="26" dur="2000"/>
                                        <p:tgtEl>
                                          <p:spTgt spid="2662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627">
                                            <p:txEl>
                                              <p:pRg st="6" end="6"/>
                                            </p:txEl>
                                          </p:spTgt>
                                        </p:tgtEl>
                                        <p:attrNameLst>
                                          <p:attrName>style.visibility</p:attrName>
                                        </p:attrNameLst>
                                      </p:cBhvr>
                                      <p:to>
                                        <p:strVal val="visible"/>
                                      </p:to>
                                    </p:set>
                                    <p:animEffect transition="in" filter="fade">
                                      <p:cBhvr>
                                        <p:cTn id="29" dur="2000"/>
                                        <p:tgtEl>
                                          <p:spTgt spid="26627">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6627">
                                            <p:txEl>
                                              <p:pRg st="7" end="7"/>
                                            </p:txEl>
                                          </p:spTgt>
                                        </p:tgtEl>
                                        <p:attrNameLst>
                                          <p:attrName>style.visibility</p:attrName>
                                        </p:attrNameLst>
                                      </p:cBhvr>
                                      <p:to>
                                        <p:strVal val="visible"/>
                                      </p:to>
                                    </p:set>
                                    <p:animEffect transition="in" filter="fade">
                                      <p:cBhvr>
                                        <p:cTn id="34" dur="2000"/>
                                        <p:tgtEl>
                                          <p:spTgt spid="26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vert="horz" wrap="square" lIns="91440" tIns="45720" rIns="91440" bIns="45720" anchor="b" anchorCtr="0"/>
          <a:lstStyle/>
          <a:p>
            <a:r>
              <a:rPr lang="zh-CN" altLang="en-US" dirty="0"/>
              <a:t>你该怎么做</a:t>
            </a:r>
          </a:p>
        </p:txBody>
      </p:sp>
      <p:sp>
        <p:nvSpPr>
          <p:cNvPr id="27651" name="内容占位符 2"/>
          <p:cNvSpPr>
            <a:spLocks noGrp="1"/>
          </p:cNvSpPr>
          <p:nvPr>
            <p:ph idx="1"/>
          </p:nvPr>
        </p:nvSpPr>
        <p:spPr>
          <a:xfrm>
            <a:off x="1182688" y="2017713"/>
            <a:ext cx="7772400" cy="2707431"/>
          </a:xfrm>
        </p:spPr>
        <p:txBody>
          <a:bodyPr vert="horz" wrap="square" lIns="91440" tIns="45720" rIns="91440" bIns="45720" anchor="t" anchorCtr="0"/>
          <a:lstStyle/>
          <a:p>
            <a:r>
              <a:rPr lang="en-US" altLang="zh-CN" sz="2400" dirty="0"/>
              <a:t>1. </a:t>
            </a:r>
            <a:r>
              <a:rPr lang="zh-CN" altLang="en-US" sz="2400" dirty="0"/>
              <a:t>学习、复习有关知识</a:t>
            </a:r>
            <a:endParaRPr lang="en-US" altLang="zh-CN" sz="2400" dirty="0"/>
          </a:p>
          <a:p>
            <a:r>
              <a:rPr lang="en-US" altLang="zh-CN" sz="2400" dirty="0"/>
              <a:t>2. </a:t>
            </a:r>
            <a:r>
              <a:rPr lang="zh-CN" altLang="en-US" sz="2400" dirty="0"/>
              <a:t>确定适合自己的难度</a:t>
            </a:r>
            <a:endParaRPr lang="en-US" altLang="zh-CN" sz="2400" dirty="0"/>
          </a:p>
          <a:p>
            <a:r>
              <a:rPr lang="en-US" altLang="zh-CN" sz="2400" dirty="0"/>
              <a:t>3. </a:t>
            </a:r>
            <a:r>
              <a:rPr lang="zh-CN" altLang="en-US" sz="2400" dirty="0"/>
              <a:t>跟上各阶段步骤，按时完成阶段作业</a:t>
            </a:r>
            <a:endParaRPr lang="en-US" altLang="zh-CN" sz="2400" dirty="0"/>
          </a:p>
          <a:p>
            <a:r>
              <a:rPr lang="en-US" altLang="zh-CN" sz="2400" dirty="0"/>
              <a:t>4. </a:t>
            </a:r>
            <a:r>
              <a:rPr lang="zh-CN" altLang="en-US" sz="2400" dirty="0"/>
              <a:t>及时做，自己做、坚持做</a:t>
            </a:r>
            <a:r>
              <a:rPr lang="en-US" altLang="zh-CN" sz="2400" dirty="0"/>
              <a:t> </a:t>
            </a:r>
          </a:p>
          <a:p>
            <a:r>
              <a:rPr lang="en-US" altLang="zh-CN" sz="2400" dirty="0"/>
              <a:t>5. </a:t>
            </a:r>
            <a:r>
              <a:rPr lang="zh-CN" altLang="en-US" sz="2400" dirty="0"/>
              <a:t>积极交流、沟通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20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fade">
                                      <p:cBhvr>
                                        <p:cTn id="12" dur="20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fade">
                                      <p:cBhvr>
                                        <p:cTn id="17" dur="2000"/>
                                        <p:tgtEl>
                                          <p:spTgt spid="27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fade">
                                      <p:cBhvr>
                                        <p:cTn id="22" dur="2000"/>
                                        <p:tgtEl>
                                          <p:spTgt spid="276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Effect transition="in" filter="fade">
                                      <p:cBhvr>
                                        <p:cTn id="27" dur="2000"/>
                                        <p:tgtEl>
                                          <p:spTgt spid="276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vert="horz" wrap="square" lIns="91440" tIns="45720" rIns="91440" bIns="45720" anchor="b" anchorCtr="0"/>
          <a:lstStyle/>
          <a:p>
            <a:r>
              <a:rPr lang="zh-CN" altLang="en-US" dirty="0"/>
              <a:t>你能得到什么</a:t>
            </a:r>
          </a:p>
        </p:txBody>
      </p:sp>
      <p:sp>
        <p:nvSpPr>
          <p:cNvPr id="28675" name="矩形 3"/>
          <p:cNvSpPr/>
          <p:nvPr/>
        </p:nvSpPr>
        <p:spPr>
          <a:xfrm>
            <a:off x="684213" y="2133600"/>
            <a:ext cx="23749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编译原理本身没弄清</a:t>
            </a:r>
            <a:endParaRPr lang="en-US" altLang="zh-CN" sz="1800" dirty="0"/>
          </a:p>
        </p:txBody>
      </p:sp>
      <p:sp>
        <p:nvSpPr>
          <p:cNvPr id="28676" name="右箭头 4"/>
          <p:cNvSpPr/>
          <p:nvPr/>
        </p:nvSpPr>
        <p:spPr>
          <a:xfrm>
            <a:off x="3492500" y="1989138"/>
            <a:ext cx="792163" cy="3168650"/>
          </a:xfrm>
          <a:prstGeom prst="rightArrow">
            <a:avLst>
              <a:gd name="adj1" fmla="val 66796"/>
              <a:gd name="adj2" fmla="val 50000"/>
            </a:avLst>
          </a:prstGeom>
          <a:solidFill>
            <a:srgbClr val="99CCFF"/>
          </a:solid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endParaRPr lang="en-US" altLang="zh-CN" sz="1800" dirty="0"/>
          </a:p>
          <a:p>
            <a:pPr marL="0" lvl="0" indent="0" algn="ctr" eaLnBrk="1" hangingPunct="1">
              <a:spcBef>
                <a:spcPct val="0"/>
              </a:spcBef>
              <a:buClrTx/>
              <a:buSzTx/>
              <a:buFontTx/>
              <a:buNone/>
            </a:pPr>
            <a:r>
              <a:rPr lang="zh-CN" altLang="en-US" sz="1800" dirty="0"/>
              <a:t>耐力</a:t>
            </a:r>
            <a:endParaRPr lang="en-US" altLang="zh-CN" sz="1800" dirty="0"/>
          </a:p>
          <a:p>
            <a:pPr marL="0" lvl="0" indent="0" algn="ctr" eaLnBrk="1" hangingPunct="1">
              <a:spcBef>
                <a:spcPct val="0"/>
              </a:spcBef>
              <a:buClrTx/>
              <a:buSzTx/>
              <a:buFontTx/>
              <a:buNone/>
            </a:pPr>
            <a:endParaRPr lang="en-US" altLang="zh-CN" sz="1800" dirty="0"/>
          </a:p>
          <a:p>
            <a:pPr marL="0" lvl="0" indent="0" algn="ctr" eaLnBrk="1" hangingPunct="1">
              <a:spcBef>
                <a:spcPct val="0"/>
              </a:spcBef>
              <a:buClrTx/>
              <a:buSzTx/>
              <a:buFontTx/>
              <a:buNone/>
            </a:pPr>
            <a:r>
              <a:rPr lang="zh-CN" altLang="en-US" sz="1800" dirty="0"/>
              <a:t>毅力</a:t>
            </a:r>
            <a:endParaRPr lang="en-US" altLang="zh-CN" sz="1800" dirty="0"/>
          </a:p>
          <a:p>
            <a:pPr marL="0" lvl="0" indent="0" algn="ctr" eaLnBrk="1" hangingPunct="1">
              <a:spcBef>
                <a:spcPct val="0"/>
              </a:spcBef>
              <a:buClrTx/>
              <a:buSzTx/>
              <a:buFontTx/>
              <a:buNone/>
            </a:pPr>
            <a:endParaRPr lang="en-US" altLang="zh-CN" sz="1800" dirty="0"/>
          </a:p>
          <a:p>
            <a:pPr marL="0" lvl="0" indent="0" algn="ctr" eaLnBrk="1" hangingPunct="1">
              <a:spcBef>
                <a:spcPct val="0"/>
              </a:spcBef>
              <a:buClrTx/>
              <a:buSzTx/>
              <a:buFontTx/>
              <a:buNone/>
            </a:pPr>
            <a:r>
              <a:rPr lang="zh-CN" altLang="en-US" sz="1800" dirty="0"/>
              <a:t>体力</a:t>
            </a:r>
            <a:endParaRPr lang="en-US" altLang="zh-CN" sz="1800" dirty="0"/>
          </a:p>
          <a:p>
            <a:pPr marL="0" lvl="0" indent="0" algn="ctr" eaLnBrk="1" hangingPunct="1">
              <a:spcBef>
                <a:spcPct val="0"/>
              </a:spcBef>
              <a:buClrTx/>
              <a:buSzTx/>
              <a:buFontTx/>
              <a:buNone/>
            </a:pPr>
            <a:endParaRPr lang="zh-CN" altLang="en-US" sz="1800" dirty="0"/>
          </a:p>
        </p:txBody>
      </p:sp>
      <p:sp>
        <p:nvSpPr>
          <p:cNvPr id="28677" name="TextBox 5"/>
          <p:cNvSpPr txBox="1"/>
          <p:nvPr/>
        </p:nvSpPr>
        <p:spPr>
          <a:xfrm>
            <a:off x="4500563" y="2060575"/>
            <a:ext cx="2954337"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巩固了编译原理各个知识点</a:t>
            </a:r>
            <a:endParaRPr lang="en-US" altLang="zh-CN" sz="1800" dirty="0"/>
          </a:p>
          <a:p>
            <a:pPr marL="0" lvl="0" indent="0" eaLnBrk="1" hangingPunct="1">
              <a:spcBef>
                <a:spcPct val="0"/>
              </a:spcBef>
              <a:buClrTx/>
              <a:buSzTx/>
              <a:buFontTx/>
              <a:buNone/>
            </a:pPr>
            <a:r>
              <a:rPr lang="zh-CN" altLang="en-US" sz="1800" dirty="0"/>
              <a:t>能够构造完整的编译器</a:t>
            </a:r>
          </a:p>
        </p:txBody>
      </p:sp>
      <p:sp>
        <p:nvSpPr>
          <p:cNvPr id="28678" name="矩形 6"/>
          <p:cNvSpPr/>
          <p:nvPr/>
        </p:nvSpPr>
        <p:spPr>
          <a:xfrm>
            <a:off x="684213" y="2924175"/>
            <a:ext cx="2808287"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需要综合运用多门课知识</a:t>
            </a:r>
            <a:endParaRPr lang="en-US" altLang="zh-CN" sz="1800" dirty="0"/>
          </a:p>
        </p:txBody>
      </p:sp>
      <p:sp>
        <p:nvSpPr>
          <p:cNvPr id="28679" name="TextBox 7"/>
          <p:cNvSpPr txBox="1"/>
          <p:nvPr/>
        </p:nvSpPr>
        <p:spPr>
          <a:xfrm>
            <a:off x="4500563" y="2852738"/>
            <a:ext cx="4570412"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复习了多门课知识</a:t>
            </a:r>
            <a:endParaRPr lang="en-US" altLang="zh-CN" sz="1800" dirty="0"/>
          </a:p>
          <a:p>
            <a:pPr marL="0" lvl="0" indent="0" eaLnBrk="1" hangingPunct="1">
              <a:spcBef>
                <a:spcPct val="0"/>
              </a:spcBef>
              <a:buClrTx/>
              <a:buSzTx/>
              <a:buFontTx/>
              <a:buNone/>
            </a:pPr>
            <a:r>
              <a:rPr lang="zh-CN" altLang="en-US" sz="1800" dirty="0"/>
              <a:t>学会了知识点在编译器及其构造中如何应用</a:t>
            </a:r>
          </a:p>
        </p:txBody>
      </p:sp>
      <p:sp>
        <p:nvSpPr>
          <p:cNvPr id="28680" name="TextBox 8"/>
          <p:cNvSpPr txBox="1"/>
          <p:nvPr/>
        </p:nvSpPr>
        <p:spPr>
          <a:xfrm>
            <a:off x="4500563" y="3716338"/>
            <a:ext cx="3878262"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积累了一定的编程经验</a:t>
            </a:r>
            <a:endParaRPr lang="en-US" altLang="zh-CN" sz="1800" dirty="0"/>
          </a:p>
          <a:p>
            <a:pPr marL="0" lvl="0" indent="0" eaLnBrk="1" hangingPunct="1">
              <a:spcBef>
                <a:spcPct val="0"/>
              </a:spcBef>
              <a:buClrTx/>
              <a:buSzTx/>
              <a:buFontTx/>
              <a:buNone/>
            </a:pPr>
            <a:r>
              <a:rPr lang="zh-CN" altLang="en-US" sz="1800" dirty="0"/>
              <a:t>开发了一个具有一定规模的完整系统</a:t>
            </a:r>
          </a:p>
        </p:txBody>
      </p:sp>
      <p:sp>
        <p:nvSpPr>
          <p:cNvPr id="28681" name="TextBox 9"/>
          <p:cNvSpPr txBox="1"/>
          <p:nvPr/>
        </p:nvSpPr>
        <p:spPr>
          <a:xfrm>
            <a:off x="4500563" y="4581525"/>
            <a:ext cx="4800600"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提高了独立解决问题的能力</a:t>
            </a:r>
            <a:endParaRPr lang="en-US" altLang="zh-CN" sz="1800" dirty="0"/>
          </a:p>
          <a:p>
            <a:pPr marL="0" lvl="0" indent="0" eaLnBrk="1" hangingPunct="1">
              <a:spcBef>
                <a:spcPct val="0"/>
              </a:spcBef>
              <a:buClrTx/>
              <a:buSzTx/>
              <a:buFontTx/>
              <a:buNone/>
            </a:pPr>
            <a:r>
              <a:rPr lang="zh-CN" altLang="en-US" sz="1800" dirty="0"/>
              <a:t>遇到问题能设法解决，激发创造性、探索能力</a:t>
            </a:r>
          </a:p>
        </p:txBody>
      </p:sp>
      <p:sp>
        <p:nvSpPr>
          <p:cNvPr id="28682" name="矩形 10"/>
          <p:cNvSpPr/>
          <p:nvPr/>
        </p:nvSpPr>
        <p:spPr>
          <a:xfrm>
            <a:off x="684213" y="3789363"/>
            <a:ext cx="23749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编程经验不足</a:t>
            </a:r>
            <a:endParaRPr lang="en-US" altLang="zh-CN" sz="1800" dirty="0"/>
          </a:p>
        </p:txBody>
      </p:sp>
      <p:sp>
        <p:nvSpPr>
          <p:cNvPr id="28683" name="矩形 11"/>
          <p:cNvSpPr/>
          <p:nvPr/>
        </p:nvSpPr>
        <p:spPr>
          <a:xfrm>
            <a:off x="684213" y="4508500"/>
            <a:ext cx="2030412"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需要自己独立完成</a:t>
            </a:r>
          </a:p>
        </p:txBody>
      </p:sp>
      <p:sp>
        <p:nvSpPr>
          <p:cNvPr id="28684" name="TextBox 12"/>
          <p:cNvSpPr txBox="1"/>
          <p:nvPr/>
        </p:nvSpPr>
        <p:spPr>
          <a:xfrm>
            <a:off x="4543425" y="5445125"/>
            <a:ext cx="1108075"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zh-CN" altLang="en-US" sz="1800" dirty="0"/>
              <a:t>时间管理</a:t>
            </a:r>
          </a:p>
        </p:txBody>
      </p:sp>
      <p:sp>
        <p:nvSpPr>
          <p:cNvPr id="28685" name="TextBox 13"/>
          <p:cNvSpPr txBox="1"/>
          <p:nvPr/>
        </p:nvSpPr>
        <p:spPr>
          <a:xfrm>
            <a:off x="4656138" y="6021388"/>
            <a:ext cx="563562"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eaLnBrk="1" hangingPunct="1">
              <a:spcBef>
                <a:spcPct val="0"/>
              </a:spcBef>
              <a:buClrTx/>
              <a:buSzTx/>
              <a:buFontTx/>
              <a:buNone/>
            </a:pPr>
            <a:r>
              <a:rPr lang="en-US" altLang="zh-CN" sz="1800" dirty="0"/>
              <a:t>……</a:t>
            </a:r>
            <a:endParaRPr lang="zh-CN" altLang="en-US" sz="1800" dirty="0"/>
          </a:p>
        </p:txBody>
      </p:sp>
      <p:sp>
        <p:nvSpPr>
          <p:cNvPr id="3" name="爆炸形: 8 pt  2"/>
          <p:cNvSpPr/>
          <p:nvPr/>
        </p:nvSpPr>
        <p:spPr>
          <a:xfrm>
            <a:off x="4498975" y="366713"/>
            <a:ext cx="4665663" cy="1584325"/>
          </a:xfrm>
          <a:prstGeom prst="irregularSeal1">
            <a:avLst/>
          </a:prstGeom>
          <a:solidFill>
            <a:srgbClr val="99CCFF"/>
          </a:solid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endParaRPr lang="en-US" altLang="zh-CN" sz="1800" dirty="0"/>
          </a:p>
          <a:p>
            <a:pPr marL="0" lvl="0" indent="0" algn="ctr" eaLnBrk="1" hangingPunct="1">
              <a:spcBef>
                <a:spcPct val="0"/>
              </a:spcBef>
              <a:buClrTx/>
              <a:buSzTx/>
              <a:buFontTx/>
              <a:buNone/>
            </a:pPr>
            <a:r>
              <a:rPr lang="zh-CN" altLang="en-US" sz="1800" dirty="0"/>
              <a:t>自己动手做了才会有收获</a:t>
            </a:r>
            <a:endParaRPr lang="en-US" altLang="zh-CN" sz="1800" dirty="0"/>
          </a:p>
          <a:p>
            <a:pPr marL="0" lvl="0" indent="0" algn="ctr" eaLnBrk="1" hangingPunct="1">
              <a:spcBef>
                <a:spcPct val="0"/>
              </a:spcBef>
              <a:buClrTx/>
              <a:buSzTx/>
              <a:buFontTx/>
              <a:buNone/>
            </a:pPr>
            <a:r>
              <a:rPr lang="zh-CN" altLang="en-US" sz="1800" dirty="0"/>
              <a:t>自己动手做了一定有收获</a:t>
            </a:r>
            <a:endParaRPr lang="en-US" altLang="zh-CN" sz="1800" dirty="0"/>
          </a:p>
          <a:p>
            <a:pPr marL="0" lvl="0" indent="0" algn="ctr" eaLnBrk="1" hangingPunct="1">
              <a:spcBef>
                <a:spcPct val="0"/>
              </a:spcBef>
              <a:buClrTx/>
              <a:buSzTx/>
              <a:buFontTx/>
              <a:buNone/>
            </a:pPr>
            <a:endParaRPr lang="zh-CN" altLang="en-US" sz="1800" dirty="0"/>
          </a:p>
        </p:txBody>
      </p:sp>
      <p:sp>
        <p:nvSpPr>
          <p:cNvPr id="4" name="爆炸形: 8 pt  2"/>
          <p:cNvSpPr/>
          <p:nvPr/>
        </p:nvSpPr>
        <p:spPr>
          <a:xfrm>
            <a:off x="35560" y="5156518"/>
            <a:ext cx="4665663" cy="1584325"/>
          </a:xfrm>
          <a:prstGeom prst="irregularSeal1">
            <a:avLst/>
          </a:prstGeom>
          <a:solidFill>
            <a:srgbClr val="99CCFF"/>
          </a:solidFill>
          <a:ln w="9525" cap="flat" cmpd="sng">
            <a:solidFill>
              <a:schemeClr val="tx1"/>
            </a:solidFill>
            <a:prstDash val="solid"/>
            <a:roun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stStyle>
          <a:p>
            <a:pPr marL="0" lvl="0" indent="0" algn="ctr" eaLnBrk="1" hangingPunct="1">
              <a:spcBef>
                <a:spcPct val="0"/>
              </a:spcBef>
              <a:buClrTx/>
              <a:buSzTx/>
              <a:buFontTx/>
              <a:buNone/>
            </a:pPr>
            <a:endParaRPr lang="en-US" altLang="zh-CN" sz="1800" dirty="0"/>
          </a:p>
          <a:p>
            <a:pPr marL="0" lvl="0" indent="0" algn="ctr" eaLnBrk="1" hangingPunct="1">
              <a:spcBef>
                <a:spcPct val="0"/>
              </a:spcBef>
              <a:buClrTx/>
              <a:buSzTx/>
              <a:buFontTx/>
              <a:buNone/>
            </a:pPr>
            <a:r>
              <a:rPr lang="zh-CN" sz="1800" b="1">
                <a:solidFill>
                  <a:srgbClr val="333333"/>
                </a:solidFill>
                <a:ea typeface="等线" panose="02010600030101010101" pitchFamily="2" charset="-122"/>
                <a:sym typeface="+mn-ea"/>
              </a:rPr>
              <a:t>想，都是问题，做，才是答案</a:t>
            </a:r>
            <a:endParaRPr lang="en-US" altLang="zh-CN" sz="1800" dirty="0"/>
          </a:p>
          <a:p>
            <a:pPr marL="0" lvl="0" indent="0" algn="ctr" eaLnBrk="1" hangingPunct="1">
              <a:spcBef>
                <a:spcPct val="0"/>
              </a:spcBef>
              <a:buClrTx/>
              <a:buSzTx/>
              <a:buFontTx/>
              <a:buNone/>
            </a:pP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bg/>
                                          </p:spTgt>
                                        </p:tgtEl>
                                        <p:attrNameLst>
                                          <p:attrName>style.visibility</p:attrName>
                                        </p:attrNameLst>
                                      </p:cBhvr>
                                      <p:to>
                                        <p:strVal val="visible"/>
                                      </p:to>
                                    </p:set>
                                    <p:animEffect transition="in" filter="wipe(left)">
                                      <p:cBhvr>
                                        <p:cTn id="7" dur="500"/>
                                        <p:tgtEl>
                                          <p:spTgt spid="28676">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676">
                                            <p:txEl>
                                              <p:pRg st="1" end="1"/>
                                            </p:txEl>
                                          </p:spTgt>
                                        </p:tgtEl>
                                        <p:attrNameLst>
                                          <p:attrName>style.visibility</p:attrName>
                                        </p:attrNameLst>
                                      </p:cBhvr>
                                      <p:to>
                                        <p:strVal val="visible"/>
                                      </p:to>
                                    </p:set>
                                    <p:animEffect transition="in" filter="wipe(left)">
                                      <p:cBhvr>
                                        <p:cTn id="10" dur="500"/>
                                        <p:tgtEl>
                                          <p:spTgt spid="28676">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8676">
                                            <p:txEl>
                                              <p:pRg st="3" end="3"/>
                                            </p:txEl>
                                          </p:spTgt>
                                        </p:tgtEl>
                                        <p:attrNameLst>
                                          <p:attrName>style.visibility</p:attrName>
                                        </p:attrNameLst>
                                      </p:cBhvr>
                                      <p:to>
                                        <p:strVal val="visible"/>
                                      </p:to>
                                    </p:set>
                                    <p:animEffect transition="in" filter="wipe(left)">
                                      <p:cBhvr>
                                        <p:cTn id="13" dur="500"/>
                                        <p:tgtEl>
                                          <p:spTgt spid="28676">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8676">
                                            <p:txEl>
                                              <p:pRg st="5" end="5"/>
                                            </p:txEl>
                                          </p:spTgt>
                                        </p:tgtEl>
                                        <p:attrNameLst>
                                          <p:attrName>style.visibility</p:attrName>
                                        </p:attrNameLst>
                                      </p:cBhvr>
                                      <p:to>
                                        <p:strVal val="visible"/>
                                      </p:to>
                                    </p:set>
                                    <p:animEffect transition="in" filter="wipe(left)">
                                      <p:cBhvr>
                                        <p:cTn id="16" dur="500"/>
                                        <p:tgtEl>
                                          <p:spTgt spid="28676">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8675">
                                            <p:txEl>
                                              <p:pRg st="0" end="0"/>
                                            </p:txEl>
                                          </p:spTgt>
                                        </p:tgtEl>
                                        <p:attrNameLst>
                                          <p:attrName>style.visibility</p:attrName>
                                        </p:attrNameLst>
                                      </p:cBhvr>
                                      <p:to>
                                        <p:strVal val="visible"/>
                                      </p:to>
                                    </p:set>
                                    <p:animEffect transition="in" filter="wipe(left)">
                                      <p:cBhvr>
                                        <p:cTn id="21" dur="500"/>
                                        <p:tgtEl>
                                          <p:spTgt spid="2867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677"/>
                                        </p:tgtEl>
                                        <p:attrNameLst>
                                          <p:attrName>style.visibility</p:attrName>
                                        </p:attrNameLst>
                                      </p:cBhvr>
                                      <p:to>
                                        <p:strVal val="visible"/>
                                      </p:to>
                                    </p:set>
                                    <p:animEffect transition="in" filter="wipe(left)">
                                      <p:cBhvr>
                                        <p:cTn id="26" dur="500"/>
                                        <p:tgtEl>
                                          <p:spTgt spid="2867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678"/>
                                        </p:tgtEl>
                                        <p:attrNameLst>
                                          <p:attrName>style.visibility</p:attrName>
                                        </p:attrNameLst>
                                      </p:cBhvr>
                                      <p:to>
                                        <p:strVal val="visible"/>
                                      </p:to>
                                    </p:set>
                                    <p:animEffect transition="in" filter="wipe(left)">
                                      <p:cBhvr>
                                        <p:cTn id="31" dur="500"/>
                                        <p:tgtEl>
                                          <p:spTgt spid="2867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9"/>
                                        </p:tgtEl>
                                        <p:attrNameLst>
                                          <p:attrName>style.visibility</p:attrName>
                                        </p:attrNameLst>
                                      </p:cBhvr>
                                      <p:to>
                                        <p:strVal val="visible"/>
                                      </p:to>
                                    </p:set>
                                    <p:animEffect transition="in" filter="wipe(left)">
                                      <p:cBhvr>
                                        <p:cTn id="36" dur="500"/>
                                        <p:tgtEl>
                                          <p:spTgt spid="2867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8682"/>
                                        </p:tgtEl>
                                        <p:attrNameLst>
                                          <p:attrName>style.visibility</p:attrName>
                                        </p:attrNameLst>
                                      </p:cBhvr>
                                      <p:to>
                                        <p:strVal val="visible"/>
                                      </p:to>
                                    </p:set>
                                    <p:animEffect transition="in" filter="wipe(left)">
                                      <p:cBhvr>
                                        <p:cTn id="41" dur="500"/>
                                        <p:tgtEl>
                                          <p:spTgt spid="2868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8680"/>
                                        </p:tgtEl>
                                        <p:attrNameLst>
                                          <p:attrName>style.visibility</p:attrName>
                                        </p:attrNameLst>
                                      </p:cBhvr>
                                      <p:to>
                                        <p:strVal val="visible"/>
                                      </p:to>
                                    </p:set>
                                    <p:animEffect transition="in" filter="wipe(left)">
                                      <p:cBhvr>
                                        <p:cTn id="46" dur="500"/>
                                        <p:tgtEl>
                                          <p:spTgt spid="2868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8683"/>
                                        </p:tgtEl>
                                        <p:attrNameLst>
                                          <p:attrName>style.visibility</p:attrName>
                                        </p:attrNameLst>
                                      </p:cBhvr>
                                      <p:to>
                                        <p:strVal val="visible"/>
                                      </p:to>
                                    </p:set>
                                    <p:animEffect transition="in" filter="wipe(down)">
                                      <p:cBhvr>
                                        <p:cTn id="51" dur="500"/>
                                        <p:tgtEl>
                                          <p:spTgt spid="2868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8681"/>
                                        </p:tgtEl>
                                        <p:attrNameLst>
                                          <p:attrName>style.visibility</p:attrName>
                                        </p:attrNameLst>
                                      </p:cBhvr>
                                      <p:to>
                                        <p:strVal val="visible"/>
                                      </p:to>
                                    </p:set>
                                    <p:animEffect transition="in" filter="wipe(left)">
                                      <p:cBhvr>
                                        <p:cTn id="56" dur="500"/>
                                        <p:tgtEl>
                                          <p:spTgt spid="2868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8684"/>
                                        </p:tgtEl>
                                        <p:attrNameLst>
                                          <p:attrName>style.visibility</p:attrName>
                                        </p:attrNameLst>
                                      </p:cBhvr>
                                      <p:to>
                                        <p:strVal val="visible"/>
                                      </p:to>
                                    </p:set>
                                    <p:animEffect transition="in" filter="wipe(left)">
                                      <p:cBhvr>
                                        <p:cTn id="61" dur="500"/>
                                        <p:tgtEl>
                                          <p:spTgt spid="2868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8685"/>
                                        </p:tgtEl>
                                        <p:attrNameLst>
                                          <p:attrName>style.visibility</p:attrName>
                                        </p:attrNameLst>
                                      </p:cBhvr>
                                      <p:to>
                                        <p:strVal val="visible"/>
                                      </p:to>
                                    </p:set>
                                    <p:animEffect transition="in" filter="wipe(left)">
                                      <p:cBhvr>
                                        <p:cTn id="66" dur="500"/>
                                        <p:tgtEl>
                                          <p:spTgt spid="28685"/>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anim calcmode="lin" valueType="num">
                                      <p:cBhvr additive="base">
                                        <p:cTn id="71" dur="500" fill="hold"/>
                                        <p:tgtEl>
                                          <p:spTgt spid="3"/>
                                        </p:tgtEl>
                                        <p:attrNameLst>
                                          <p:attrName>ppt_x</p:attrName>
                                        </p:attrNameLst>
                                      </p:cBhvr>
                                      <p:tavLst>
                                        <p:tav tm="0">
                                          <p:val>
                                            <p:strVal val="#ppt_x"/>
                                          </p:val>
                                        </p:tav>
                                        <p:tav tm="100000">
                                          <p:val>
                                            <p:strVal val="#ppt_x"/>
                                          </p:val>
                                        </p:tav>
                                      </p:tavLst>
                                    </p:anim>
                                    <p:anim calcmode="lin" valueType="num">
                                      <p:cBhvr additive="base">
                                        <p:cTn id="7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 calcmode="lin" valueType="num">
                                      <p:cBhvr additive="base">
                                        <p:cTn id="77" dur="500" fill="hold"/>
                                        <p:tgtEl>
                                          <p:spTgt spid="4"/>
                                        </p:tgtEl>
                                        <p:attrNameLst>
                                          <p:attrName>ppt_x</p:attrName>
                                        </p:attrNameLst>
                                      </p:cBhvr>
                                      <p:tavLst>
                                        <p:tav tm="0">
                                          <p:val>
                                            <p:strVal val="#ppt_x"/>
                                          </p:val>
                                        </p:tav>
                                        <p:tav tm="100000">
                                          <p:val>
                                            <p:strVal val="#ppt_x"/>
                                          </p:val>
                                        </p:tav>
                                      </p:tavLst>
                                    </p:anim>
                                    <p:anim calcmode="lin" valueType="num">
                                      <p:cBhvr additive="base">
                                        <p:cTn id="7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allAtOnce"/>
      <p:bldP spid="28676" grpId="0" build="allAtOnce" animBg="1"/>
      <p:bldP spid="28677" grpId="0"/>
      <p:bldP spid="28678" grpId="0"/>
      <p:bldP spid="28679" grpId="0"/>
      <p:bldP spid="28680" grpId="0"/>
      <p:bldP spid="28681" grpId="0"/>
      <p:bldP spid="28682" grpId="0"/>
      <p:bldP spid="28683" grpId="0"/>
      <p:bldP spid="28684" grpId="0"/>
      <p:bldP spid="28685" grpId="0"/>
      <p:bldP spid="3" grpId="0" animBg="1"/>
      <p:bldP spid="4"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特别帮助</a:t>
            </a:r>
          </a:p>
        </p:txBody>
      </p:sp>
      <p:sp>
        <p:nvSpPr>
          <p:cNvPr id="4" name="Title 3"/>
          <p:cNvSpPr>
            <a:spLocks noGrp="1"/>
          </p:cNvSpPr>
          <p:nvPr>
            <p:custDataLst>
              <p:tags r:id="rId1"/>
            </p:custDataLst>
          </p:nvPr>
        </p:nvSpPr>
        <p:spPr>
          <a:xfrm>
            <a:off x="201114" y="1608454"/>
            <a:ext cx="9029065" cy="1624330"/>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000" dirty="0"/>
              <a:t>     尽管大家在之前的课程中积累了许多编程经验，但是独立设计一个编译器仍可能是不小的挑战，最终的代码量可能有上万行，因此非常考验大家的编程能力和项目管理能力。</a:t>
            </a:r>
            <a:endParaRPr lang="en-US" sz="2000" dirty="0"/>
          </a:p>
        </p:txBody>
      </p:sp>
      <p:sp>
        <p:nvSpPr>
          <p:cNvPr id="5" name="Text Placeholder 4"/>
          <p:cNvSpPr>
            <a:spLocks noGrp="1"/>
          </p:cNvSpPr>
          <p:nvPr>
            <p:ph type="body" idx="1"/>
            <p:custDataLst>
              <p:tags r:id="rId2"/>
            </p:custDataLst>
          </p:nvPr>
        </p:nvSpPr>
        <p:spPr>
          <a:xfrm>
            <a:off x="251460" y="3162935"/>
            <a:ext cx="4003040" cy="680085"/>
          </a:xfrm>
        </p:spPr>
        <p:txBody>
          <a:bodyPr>
            <a:normAutofit/>
          </a:bodyPr>
          <a:lstStyle/>
          <a:p>
            <a:pPr marL="0" indent="0">
              <a:lnSpc>
                <a:spcPct val="150000"/>
              </a:lnSpc>
              <a:buNone/>
            </a:pPr>
            <a:r>
              <a:rPr lang="zh-CN" altLang="en-US" sz="2400" b="1" dirty="0"/>
              <a:t>需要帮助？</a:t>
            </a:r>
            <a:endParaRPr lang="en-US" sz="2400" b="1" dirty="0"/>
          </a:p>
        </p:txBody>
      </p:sp>
      <p:sp>
        <p:nvSpPr>
          <p:cNvPr id="6" name="Content Placeholder 5"/>
          <p:cNvSpPr>
            <a:spLocks noGrp="1"/>
          </p:cNvSpPr>
          <p:nvPr>
            <p:custDataLst>
              <p:tags r:id="rId3"/>
            </p:custDataLst>
          </p:nvPr>
        </p:nvSpPr>
        <p:spPr>
          <a:xfrm>
            <a:off x="251460" y="3789045"/>
            <a:ext cx="4208145" cy="12973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000" dirty="0"/>
              <a:t>觉得自己独立完成编译器有困难？</a:t>
            </a:r>
            <a:endParaRPr lang="en-US" altLang="zh-CN" sz="2000" dirty="0"/>
          </a:p>
          <a:p>
            <a:pPr>
              <a:lnSpc>
                <a:spcPct val="100000"/>
              </a:lnSpc>
            </a:pPr>
            <a:r>
              <a:rPr lang="zh-CN" altLang="en-US" sz="2000" dirty="0"/>
              <a:t>没有思路，无从下手？</a:t>
            </a:r>
            <a:endParaRPr lang="en-US" altLang="zh-CN" sz="2000" dirty="0"/>
          </a:p>
          <a:p>
            <a:pPr>
              <a:lnSpc>
                <a:spcPct val="100000"/>
              </a:lnSpc>
            </a:pPr>
            <a:r>
              <a:rPr lang="zh-CN" altLang="en-US" sz="2000" dirty="0"/>
              <a:t>很难通过评测题目？</a:t>
            </a:r>
            <a:endParaRPr lang="en-US" altLang="zh-CN" sz="2000" dirty="0"/>
          </a:p>
          <a:p>
            <a:pPr>
              <a:lnSpc>
                <a:spcPct val="100000"/>
              </a:lnSpc>
            </a:pPr>
            <a:endParaRPr lang="en-US" sz="2000" dirty="0"/>
          </a:p>
        </p:txBody>
      </p:sp>
      <p:sp>
        <p:nvSpPr>
          <p:cNvPr id="7" name="Text Placeholder 6"/>
          <p:cNvSpPr>
            <a:spLocks noGrp="1"/>
          </p:cNvSpPr>
          <p:nvPr>
            <p:custDataLst>
              <p:tags r:id="rId4"/>
            </p:custDataLst>
          </p:nvPr>
        </p:nvSpPr>
        <p:spPr>
          <a:xfrm>
            <a:off x="4624265" y="3119754"/>
            <a:ext cx="2497455" cy="66675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50000"/>
              </a:lnSpc>
            </a:pPr>
            <a:r>
              <a:rPr lang="zh-CN" altLang="en-US" dirty="0"/>
              <a:t>帮助别人！</a:t>
            </a:r>
            <a:endParaRPr lang="en-US" dirty="0"/>
          </a:p>
        </p:txBody>
      </p:sp>
      <p:sp>
        <p:nvSpPr>
          <p:cNvPr id="8" name="Content Placeholder 7"/>
          <p:cNvSpPr>
            <a:spLocks noGrp="1"/>
          </p:cNvSpPr>
          <p:nvPr>
            <p:custDataLst>
              <p:tags r:id="rId5"/>
            </p:custDataLst>
          </p:nvPr>
        </p:nvSpPr>
        <p:spPr>
          <a:xfrm>
            <a:off x="4507230" y="3786505"/>
            <a:ext cx="4363720" cy="144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000" dirty="0"/>
              <a:t>学有余力，对完成编译器很有信心</a:t>
            </a:r>
            <a:endParaRPr lang="en-US" altLang="zh-CN" sz="2000" dirty="0"/>
          </a:p>
          <a:p>
            <a:pPr>
              <a:lnSpc>
                <a:spcPct val="100000"/>
              </a:lnSpc>
            </a:pPr>
            <a:r>
              <a:rPr lang="zh-CN" altLang="en-US" sz="2000" dirty="0"/>
              <a:t>乐于分享自己的学习经验</a:t>
            </a:r>
            <a:endParaRPr lang="en-US" altLang="zh-CN" sz="2000" dirty="0"/>
          </a:p>
          <a:p>
            <a:pPr>
              <a:lnSpc>
                <a:spcPct val="100000"/>
              </a:lnSpc>
            </a:pPr>
            <a:r>
              <a:rPr lang="zh-CN" altLang="en-US" sz="2000" dirty="0"/>
              <a:t>愿意抽出时间帮助其他同学</a:t>
            </a:r>
            <a:endParaRPr lang="en-US" sz="2000" dirty="0"/>
          </a:p>
        </p:txBody>
      </p:sp>
      <p:sp>
        <p:nvSpPr>
          <p:cNvPr id="17" name="Title 3"/>
          <p:cNvSpPr txBox="1"/>
          <p:nvPr>
            <p:custDataLst>
              <p:tags r:id="rId6"/>
            </p:custDataLst>
          </p:nvPr>
        </p:nvSpPr>
        <p:spPr>
          <a:xfrm>
            <a:off x="249555" y="5086350"/>
            <a:ext cx="8785860" cy="1567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400" b="1" dirty="0"/>
              <a:t>联系我们</a:t>
            </a:r>
            <a:endParaRPr lang="en-US" altLang="zh-CN" sz="2400" b="1" dirty="0"/>
          </a:p>
          <a:p>
            <a:pPr>
              <a:lnSpc>
                <a:spcPct val="150000"/>
              </a:lnSpc>
            </a:pPr>
            <a:r>
              <a:rPr lang="zh-CN" altLang="en-US" sz="2000" dirty="0"/>
              <a:t>    不论你需要帮助，还是想加入我们帮助其他同学，随时联系自己班级的助教，我们会尽可能地提供全面的帮助！</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vert="horz" wrap="square" lIns="91440" tIns="45720" rIns="91440" bIns="45720" anchor="b" anchorCtr="0"/>
          <a:lstStyle/>
          <a:p>
            <a:r>
              <a:rPr lang="zh-CN" altLang="en-US" dirty="0"/>
              <a:t>特别提醒</a:t>
            </a:r>
          </a:p>
        </p:txBody>
      </p:sp>
      <p:sp>
        <p:nvSpPr>
          <p:cNvPr id="53251" name="内容占位符 2"/>
          <p:cNvSpPr>
            <a:spLocks noGrp="1"/>
          </p:cNvSpPr>
          <p:nvPr>
            <p:ph idx="1"/>
          </p:nvPr>
        </p:nvSpPr>
        <p:spPr>
          <a:xfrm>
            <a:off x="982662" y="1844824"/>
            <a:ext cx="8161337" cy="4579938"/>
          </a:xfrm>
        </p:spPr>
        <p:txBody>
          <a:bodyPr vert="horz" wrap="square" lIns="91440" tIns="45720" rIns="91440" bIns="45720" anchor="t" anchorCtr="0"/>
          <a:lstStyle/>
          <a:p>
            <a:r>
              <a:rPr lang="en-US" altLang="zh-CN" sz="2400" dirty="0"/>
              <a:t>1. </a:t>
            </a:r>
            <a:r>
              <a:rPr lang="zh-CN" altLang="en-US" sz="2400" dirty="0"/>
              <a:t>选定题目，</a:t>
            </a:r>
            <a:r>
              <a:rPr lang="zh-CN" altLang="en-US" sz="2400" dirty="0">
                <a:solidFill>
                  <a:srgbClr val="C00000"/>
                </a:solidFill>
              </a:rPr>
              <a:t>坚持</a:t>
            </a:r>
            <a:r>
              <a:rPr lang="zh-CN" altLang="en-US" sz="2400" dirty="0"/>
              <a:t>到底，慎重换题</a:t>
            </a:r>
            <a:endParaRPr lang="en-US" altLang="zh-CN" sz="2400" dirty="0"/>
          </a:p>
          <a:p>
            <a:r>
              <a:rPr lang="en-US" altLang="zh-CN" sz="2400" dirty="0"/>
              <a:t>2. </a:t>
            </a:r>
            <a:r>
              <a:rPr lang="zh-CN" altLang="en-US" sz="2400" dirty="0"/>
              <a:t>了解各项要求，</a:t>
            </a:r>
            <a:r>
              <a:rPr lang="zh-CN" altLang="en-US" sz="2400" dirty="0">
                <a:solidFill>
                  <a:srgbClr val="C00000"/>
                </a:solidFill>
              </a:rPr>
              <a:t>紧跟</a:t>
            </a:r>
            <a:r>
              <a:rPr lang="zh-CN" altLang="en-US" sz="2400" dirty="0"/>
              <a:t>阶段步骤</a:t>
            </a:r>
            <a:endParaRPr lang="en-US" altLang="zh-CN" sz="2400" dirty="0"/>
          </a:p>
          <a:p>
            <a:r>
              <a:rPr lang="en-US" altLang="zh-CN" sz="2400" dirty="0"/>
              <a:t>3. </a:t>
            </a:r>
            <a:r>
              <a:rPr lang="zh-CN" altLang="en-US" sz="2400" dirty="0"/>
              <a:t>有疑问，</a:t>
            </a:r>
            <a:r>
              <a:rPr lang="zh-CN" altLang="en-US" sz="2400" dirty="0">
                <a:solidFill>
                  <a:srgbClr val="C00000"/>
                </a:solidFill>
              </a:rPr>
              <a:t>及时</a:t>
            </a:r>
            <a:r>
              <a:rPr lang="zh-CN" altLang="en-US" sz="2400" dirty="0"/>
              <a:t>沟通，设法</a:t>
            </a:r>
            <a:r>
              <a:rPr lang="zh-CN" altLang="en-US" sz="2400" dirty="0">
                <a:solidFill>
                  <a:srgbClr val="C00000"/>
                </a:solidFill>
              </a:rPr>
              <a:t>解决</a:t>
            </a:r>
            <a:endParaRPr lang="en-US" altLang="zh-CN" sz="2400" dirty="0">
              <a:solidFill>
                <a:srgbClr val="C00000"/>
              </a:solidFill>
            </a:endParaRPr>
          </a:p>
          <a:p>
            <a:r>
              <a:rPr lang="en-US" altLang="zh-CN" sz="2400" dirty="0"/>
              <a:t>4. </a:t>
            </a:r>
            <a:r>
              <a:rPr lang="zh-CN" altLang="en-US" sz="2400" dirty="0">
                <a:solidFill>
                  <a:srgbClr val="C00000"/>
                </a:solidFill>
              </a:rPr>
              <a:t>相信</a:t>
            </a:r>
            <a:r>
              <a:rPr lang="zh-CN" altLang="en-US" sz="2400" dirty="0"/>
              <a:t>自己，展示</a:t>
            </a:r>
            <a:r>
              <a:rPr lang="zh-CN" altLang="en-US" sz="2400" dirty="0">
                <a:solidFill>
                  <a:srgbClr val="C00000"/>
                </a:solidFill>
              </a:rPr>
              <a:t>实力</a:t>
            </a:r>
            <a:endParaRPr lang="en-US" altLang="zh-CN" sz="2400" dirty="0">
              <a:solidFill>
                <a:srgbClr val="C00000"/>
              </a:solidFill>
            </a:endParaRPr>
          </a:p>
          <a:p>
            <a:r>
              <a:rPr lang="en-US" altLang="zh-CN" sz="2400" dirty="0"/>
              <a:t>5. </a:t>
            </a:r>
            <a:r>
              <a:rPr lang="zh-CN" altLang="en-US" sz="2400" dirty="0"/>
              <a:t>立足于自己</a:t>
            </a:r>
            <a:r>
              <a:rPr lang="zh-CN" altLang="en-US" sz="2400" dirty="0">
                <a:solidFill>
                  <a:srgbClr val="C00000"/>
                </a:solidFill>
              </a:rPr>
              <a:t>思考</a:t>
            </a:r>
            <a:r>
              <a:rPr lang="zh-CN" altLang="en-US" sz="2400" dirty="0"/>
              <a:t>，</a:t>
            </a:r>
            <a:r>
              <a:rPr lang="zh-CN" altLang="en-US" sz="2400" dirty="0">
                <a:solidFill>
                  <a:srgbClr val="C00000"/>
                </a:solidFill>
              </a:rPr>
              <a:t>不要过度依赖</a:t>
            </a:r>
            <a:r>
              <a:rPr lang="zh-CN" altLang="en-US" sz="2400" dirty="0"/>
              <a:t>参考文档和</a:t>
            </a:r>
            <a:r>
              <a:rPr lang="en-US" altLang="zh-CN" sz="2400" dirty="0"/>
              <a:t>LLM</a:t>
            </a:r>
          </a:p>
          <a:p>
            <a:r>
              <a:rPr lang="en-US" altLang="zh-CN" sz="2400" dirty="0"/>
              <a:t>6. </a:t>
            </a:r>
            <a:r>
              <a:rPr lang="zh-CN" altLang="en-US" sz="2400" dirty="0"/>
              <a:t>成绩公布前，务必自留作业</a:t>
            </a:r>
            <a:r>
              <a:rPr lang="zh-CN" altLang="en-US" sz="2400" dirty="0">
                <a:solidFill>
                  <a:srgbClr val="C00000"/>
                </a:solidFill>
              </a:rPr>
              <a:t>备份</a:t>
            </a:r>
            <a:endParaRPr lang="en-US" altLang="zh-CN" sz="2400" dirty="0">
              <a:solidFill>
                <a:srgbClr val="C00000"/>
              </a:solidFill>
            </a:endParaRPr>
          </a:p>
          <a:p>
            <a:r>
              <a:rPr lang="en-US" altLang="zh-CN" sz="2400" dirty="0"/>
              <a:t>7. </a:t>
            </a:r>
            <a:r>
              <a:rPr lang="zh-CN" altLang="en-US" sz="2400" dirty="0">
                <a:solidFill>
                  <a:srgbClr val="C00000"/>
                </a:solidFill>
              </a:rPr>
              <a:t>确认选课</a:t>
            </a:r>
            <a:r>
              <a:rPr lang="zh-CN" altLang="en-US" sz="2400" dirty="0"/>
              <a:t>（教务系统、教学平台）</a:t>
            </a:r>
            <a:endParaRPr lang="en-US" altLang="zh-CN" sz="2400" dirty="0"/>
          </a:p>
          <a:p>
            <a:r>
              <a:rPr lang="en-US" altLang="zh-CN" sz="2400" dirty="0"/>
              <a:t>8. </a:t>
            </a:r>
            <a:r>
              <a:rPr lang="zh-CN" altLang="en-US" sz="2400" dirty="0"/>
              <a:t>期中考试前需要用</a:t>
            </a:r>
            <a:r>
              <a:rPr lang="zh-CN" altLang="en-US" sz="2400" dirty="0">
                <a:solidFill>
                  <a:srgbClr val="C00000"/>
                </a:solidFill>
              </a:rPr>
              <a:t>机房的机器</a:t>
            </a:r>
            <a:r>
              <a:rPr lang="zh-CN" altLang="en-US" sz="2400" dirty="0"/>
              <a:t>至少上机一次，确保代码能在机房环境下运行、调试</a:t>
            </a:r>
            <a:endParaRPr lang="en-US" altLang="zh-CN" sz="2400" dirty="0"/>
          </a:p>
          <a:p>
            <a:endParaRPr lang="en-US" altLang="zh-CN" dirty="0"/>
          </a:p>
          <a:p>
            <a:pPr>
              <a:buNone/>
            </a:pP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b" anchorCtr="0"/>
          <a:lstStyle/>
          <a:p>
            <a:r>
              <a:rPr lang="zh-CN" altLang="en-US" dirty="0"/>
              <a:t>特别提醒</a:t>
            </a:r>
          </a:p>
        </p:txBody>
      </p:sp>
      <p:sp>
        <p:nvSpPr>
          <p:cNvPr id="45059" name="内容占位符 2"/>
          <p:cNvSpPr>
            <a:spLocks noGrp="1" noChangeArrowheads="1"/>
          </p:cNvSpPr>
          <p:nvPr>
            <p:ph idx="1"/>
          </p:nvPr>
        </p:nvSpPr>
        <p:spPr>
          <a:xfrm>
            <a:off x="1182688" y="1844675"/>
            <a:ext cx="7961313" cy="45799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cs typeface="+mn-cs"/>
              </a:rPr>
              <a:t>独立完成</a:t>
            </a:r>
            <a:r>
              <a:rPr kumimoji="0" lang="zh-CN" altLang="en-US"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a:t>
            </a:r>
            <a:endParaRPr kumimoji="0" lang="en-US" altLang="zh-CN"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测试程序</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代码</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rPr>
              <a:t>文档</a:t>
            </a: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endParaRPr>
          </a:p>
          <a:p>
            <a:pPr marL="514350" marR="0" lvl="0" indent="-4572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rgbClr val="C00000"/>
                </a:solidFill>
                <a:effectLst/>
                <a:uLnTx/>
                <a:uFillTx/>
                <a:latin typeface="Tahoma" panose="020B0604030504040204" pitchFamily="34" charset="0"/>
                <a:ea typeface="宋体" panose="02010600030101010101" pitchFamily="2" charset="-122"/>
                <a:cs typeface="+mn-cs"/>
              </a:rPr>
              <a:t>不能用提交作业代替全面测试</a:t>
            </a:r>
            <a:endParaRPr kumimoji="0" lang="en-US" altLang="zh-CN"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514350" marR="0" lvl="0" indent="-4572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误操作需自负后果</a:t>
            </a:r>
          </a:p>
          <a:p>
            <a:pPr marL="514350" marR="0" lvl="0" indent="-4572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作业具体要求、参考资料以教学平台发布的为准</a:t>
            </a:r>
            <a:endParaRPr kumimoji="0" lang="en-US" altLang="zh-CN"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20000"/>
              </a:spcBef>
              <a:spcAft>
                <a:spcPct val="0"/>
              </a:spcAft>
              <a:buClr>
                <a:schemeClr val="hlink"/>
              </a:buClr>
              <a:buSzPct val="55000"/>
              <a:buFont typeface="Wingdings" panose="05000000000000000000" pitchFamily="2" charset="2"/>
              <a:buNone/>
              <a:defRPr/>
            </a:pPr>
            <a:endParaRPr kumimoji="0" lang="en-US" altLang="zh-CN" sz="24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800" b="0" i="0" u="none" strike="noStrike" kern="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idx="4294967295"/>
          </p:nvPr>
        </p:nvSpPr>
        <p:spPr>
          <a:xfrm>
            <a:off x="1350963" y="214313"/>
            <a:ext cx="6605587" cy="1462087"/>
          </a:xfrm>
        </p:spPr>
        <p:txBody>
          <a:bodyPr vert="horz" wrap="square" lIns="91440" tIns="45720" rIns="91440" bIns="45720" anchor="b" anchorCtr="0"/>
          <a:lstStyle/>
          <a:p>
            <a:pPr eaLnBrk="1" hangingPunct="1"/>
            <a:r>
              <a:rPr lang="zh-CN" altLang="en-US" dirty="0"/>
              <a:t>参考资料</a:t>
            </a:r>
          </a:p>
        </p:txBody>
      </p:sp>
      <p:sp>
        <p:nvSpPr>
          <p:cNvPr id="56323" name="Rectangle 3"/>
          <p:cNvSpPr>
            <a:spLocks noGrp="1"/>
          </p:cNvSpPr>
          <p:nvPr>
            <p:ph type="body" idx="4294967295"/>
          </p:nvPr>
        </p:nvSpPr>
        <p:spPr>
          <a:xfrm>
            <a:off x="1071563" y="2017713"/>
            <a:ext cx="8072437" cy="4114800"/>
          </a:xfrm>
        </p:spPr>
        <p:txBody>
          <a:bodyPr vert="horz" wrap="square" lIns="91440" tIns="45720" rIns="91440" bIns="45720" anchor="t" anchorCtr="0"/>
          <a:lstStyle/>
          <a:p>
            <a:pPr eaLnBrk="1" hangingPunct="1">
              <a:lnSpc>
                <a:spcPct val="80000"/>
              </a:lnSpc>
            </a:pPr>
            <a:r>
              <a:rPr lang="en-US" altLang="zh-CN" sz="2800" dirty="0"/>
              <a:t>《</a:t>
            </a:r>
            <a:r>
              <a:rPr lang="zh-CN" altLang="en-US" sz="2800" dirty="0"/>
              <a:t>编译技术</a:t>
            </a:r>
            <a:r>
              <a:rPr lang="en-US" altLang="zh-CN" sz="2800" dirty="0"/>
              <a:t>》</a:t>
            </a:r>
            <a:r>
              <a:rPr lang="zh-CN" altLang="en-US" sz="2800" dirty="0"/>
              <a:t>第</a:t>
            </a:r>
            <a:r>
              <a:rPr lang="en-US" altLang="zh-CN" sz="2800" dirty="0"/>
              <a:t>17</a:t>
            </a:r>
            <a:r>
              <a:rPr lang="zh-CN" altLang="en-US" sz="2800" dirty="0"/>
              <a:t>章 第</a:t>
            </a:r>
            <a:r>
              <a:rPr lang="en-US" altLang="zh-CN" sz="2800" dirty="0"/>
              <a:t>18</a:t>
            </a:r>
            <a:r>
              <a:rPr lang="zh-CN" altLang="en-US" sz="2800" dirty="0"/>
              <a:t>章及</a:t>
            </a:r>
            <a:r>
              <a:rPr lang="en-US" altLang="zh-CN" sz="2800" dirty="0"/>
              <a:t>PL/0</a:t>
            </a:r>
            <a:r>
              <a:rPr lang="zh-CN" altLang="en-US" sz="2800" dirty="0"/>
              <a:t>、</a:t>
            </a:r>
            <a:r>
              <a:rPr lang="en-US" altLang="zh-CN" sz="2800" dirty="0"/>
              <a:t>Pascal-s</a:t>
            </a:r>
            <a:r>
              <a:rPr lang="zh-CN" altLang="en-US" sz="2800" dirty="0"/>
              <a:t>编译器源代码</a:t>
            </a:r>
            <a:r>
              <a:rPr lang="en-US" altLang="zh-CN" sz="2800" dirty="0"/>
              <a:t> </a:t>
            </a:r>
          </a:p>
          <a:p>
            <a:pPr eaLnBrk="1" hangingPunct="1">
              <a:lnSpc>
                <a:spcPct val="80000"/>
              </a:lnSpc>
            </a:pPr>
            <a:r>
              <a:rPr lang="zh-CN" altLang="en-US" sz="2800" dirty="0"/>
              <a:t>参考书</a:t>
            </a:r>
          </a:p>
          <a:p>
            <a:pPr lvl="1" eaLnBrk="1" hangingPunct="1">
              <a:lnSpc>
                <a:spcPct val="80000"/>
              </a:lnSpc>
            </a:pPr>
            <a:r>
              <a:rPr lang="en-US" altLang="zh-CN" sz="2200" dirty="0"/>
              <a:t>Compilers: Principles, Techniques, and Tools. By Alfred V. AHO, Ravi SETHI and Jeffrey D. ULLMAN</a:t>
            </a:r>
          </a:p>
          <a:p>
            <a:pPr lvl="1" eaLnBrk="1" hangingPunct="1">
              <a:lnSpc>
                <a:spcPct val="80000"/>
              </a:lnSpc>
            </a:pPr>
            <a:r>
              <a:rPr lang="zh-CN" altLang="en-US" sz="2200" dirty="0"/>
              <a:t>中文版：编译原理，李建中，姜守旭译，机械工业出版社</a:t>
            </a:r>
            <a:endParaRPr lang="en-US" altLang="zh-CN" sz="2200" dirty="0"/>
          </a:p>
          <a:p>
            <a:pPr lvl="1" eaLnBrk="1" hangingPunct="1">
              <a:lnSpc>
                <a:spcPct val="80000"/>
              </a:lnSpc>
              <a:buNone/>
            </a:pPr>
            <a:r>
              <a:rPr lang="en-US" altLang="zh-CN" sz="2200" dirty="0"/>
              <a:t>                 </a:t>
            </a:r>
            <a:r>
              <a:rPr lang="zh-CN" altLang="en-US" sz="2200" dirty="0"/>
              <a:t>编译原理，赵建华，郑滔，戴新宇译</a:t>
            </a:r>
          </a:p>
          <a:p>
            <a:pPr lvl="1" eaLnBrk="1" hangingPunct="1">
              <a:lnSpc>
                <a:spcPct val="80000"/>
              </a:lnSpc>
            </a:pPr>
            <a:r>
              <a:rPr lang="en-US" altLang="zh-CN" sz="2200" dirty="0"/>
              <a:t>Advanced Compiler Design and Implementation. By Steven S. Muchnick.</a:t>
            </a:r>
          </a:p>
          <a:p>
            <a:pPr lvl="1" eaLnBrk="1" hangingPunct="1">
              <a:lnSpc>
                <a:spcPct val="80000"/>
              </a:lnSpc>
            </a:pPr>
            <a:r>
              <a:rPr lang="zh-CN" altLang="en-US" sz="2200" dirty="0"/>
              <a:t>中文版：高级编译器设计与实现，赵克佳，沈志宇译，机械工业出版社</a:t>
            </a:r>
            <a:endParaRPr lang="zh-CN" altLang="en-US" sz="2400" dirty="0"/>
          </a:p>
          <a:p>
            <a:pPr eaLnBrk="1" hangingPunct="1">
              <a:lnSpc>
                <a:spcPct val="80000"/>
              </a:lnSpc>
            </a:pPr>
            <a:endParaRPr lang="en-US" altLang="zh-CN"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4615" y="2096135"/>
            <a:ext cx="8904605" cy="4333875"/>
          </a:xfrm>
          <a:prstGeom prst="rect">
            <a:avLst/>
          </a:prstGeom>
          <a:gradFill>
            <a:gsLst>
              <a:gs pos="0">
                <a:srgbClr val="DDE2F3"/>
              </a:gs>
              <a:gs pos="100000">
                <a:schemeClr val="bg1"/>
              </a:gs>
            </a:gsLst>
            <a:lin ang="14400000" scaled="0"/>
          </a:gradFill>
          <a:effectLst>
            <a:outerShdw blurRad="50800" dist="38100" dir="5400000" algn="t" rotWithShape="0">
              <a:prstClr val="black">
                <a:alpha val="40000"/>
              </a:prstClr>
            </a:outerShdw>
          </a:effectLst>
        </p:spPr>
        <p:txBody>
          <a:bodyPr wrap="square">
            <a:noAutofit/>
          </a:bodyPr>
          <a:lstStyle/>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这三个月写编译器，最大的感悟就是设计大于实现。</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我不记得重构了多少次：语法分析重构了至少两次，错误处理后重构了文件结构，写完</a:t>
            </a:r>
            <a:r>
              <a:rPr lang="en-US" altLang="zh-CN" sz="1600" kern="100" dirty="0">
                <a:effectLst/>
                <a:latin typeface="楷体_GB2312"/>
                <a:ea typeface="等线" panose="02010600030101010101" pitchFamily="2" charset="-122"/>
                <a:cs typeface="Times New Roman" panose="02020603050405020304" pitchFamily="18" charset="0"/>
              </a:rPr>
              <a:t>LLVM</a:t>
            </a:r>
            <a:r>
              <a:rPr lang="zh-CN" altLang="en-US" sz="1600" kern="100" dirty="0">
                <a:effectLst/>
                <a:latin typeface="楷体_GB2312"/>
                <a:ea typeface="等线" panose="02010600030101010101" pitchFamily="2" charset="-122"/>
                <a:cs typeface="Times New Roman" panose="02020603050405020304" pitchFamily="18" charset="0"/>
              </a:rPr>
              <a:t>又把整个</a:t>
            </a:r>
            <a:r>
              <a:rPr lang="en-US" altLang="zh-CN" sz="1600" kern="100" dirty="0">
                <a:effectLst/>
                <a:latin typeface="楷体_GB2312"/>
                <a:ea typeface="等线" panose="02010600030101010101" pitchFamily="2" charset="-122"/>
                <a:cs typeface="Times New Roman" panose="02020603050405020304" pitchFamily="18" charset="0"/>
              </a:rPr>
              <a:t>Value</a:t>
            </a:r>
            <a:r>
              <a:rPr lang="zh-CN" altLang="en-US" sz="1600" kern="100" dirty="0">
                <a:effectLst/>
                <a:latin typeface="楷体_GB2312"/>
                <a:ea typeface="等线" panose="02010600030101010101" pitchFamily="2" charset="-122"/>
                <a:cs typeface="Times New Roman" panose="02020603050405020304" pitchFamily="18" charset="0"/>
              </a:rPr>
              <a:t>体系重构了一遍。在此之前，代码里到处都是特判和乱飞的字符串，看着就头大。</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如果有机会再写一次编译器，我一定会：</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1. 一开始就设计好</a:t>
            </a:r>
            <a:r>
              <a:rPr lang="en-US" altLang="zh-CN" sz="1600" kern="100" dirty="0">
                <a:effectLst/>
                <a:latin typeface="楷体_GB2312"/>
                <a:ea typeface="等线" panose="02010600030101010101" pitchFamily="2" charset="-122"/>
                <a:cs typeface="Times New Roman" panose="02020603050405020304" pitchFamily="18" charset="0"/>
              </a:rPr>
              <a:t>Value</a:t>
            </a:r>
            <a:r>
              <a:rPr lang="zh-CN" altLang="en-US" sz="1600" kern="100" dirty="0">
                <a:effectLst/>
                <a:latin typeface="楷体_GB2312"/>
                <a:ea typeface="等线" panose="02010600030101010101" pitchFamily="2" charset="-122"/>
                <a:cs typeface="Times New Roman" panose="02020603050405020304" pitchFamily="18" charset="0"/>
              </a:rPr>
              <a:t>继承体系</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2. 先把</a:t>
            </a:r>
            <a:r>
              <a:rPr lang="en-US" altLang="zh-CN" sz="1600" kern="100" dirty="0">
                <a:effectLst/>
                <a:latin typeface="楷体_GB2312"/>
                <a:ea typeface="等线" panose="02010600030101010101" pitchFamily="2" charset="-122"/>
                <a:cs typeface="Times New Roman" panose="02020603050405020304" pitchFamily="18" charset="0"/>
              </a:rPr>
              <a:t>SSA/Mem2Reg</a:t>
            </a:r>
            <a:r>
              <a:rPr lang="zh-CN" altLang="en-US" sz="1600" kern="100" dirty="0">
                <a:effectLst/>
                <a:latin typeface="楷体_GB2312"/>
                <a:ea typeface="等线" panose="02010600030101010101" pitchFamily="2" charset="-122"/>
                <a:cs typeface="Times New Roman" panose="02020603050405020304" pitchFamily="18" charset="0"/>
              </a:rPr>
              <a:t>的原理搞清楚再动手</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3. 写更多的单元测试</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写编译器的日子里，不知道熬了多少个夜，感谢每一位答疑的助教，感谢课程组提供的测试工具。</a:t>
            </a:r>
          </a:p>
          <a:p>
            <a:pPr marL="0" marR="0" lvl="0" indent="266700" algn="just" defTabSz="914400" rtl="0" eaLnBrk="0" fontAlgn="base" latinLnBrk="0" hangingPunct="0">
              <a:lnSpc>
                <a:spcPct val="150000"/>
              </a:lnSpc>
              <a:spcBef>
                <a:spcPct val="0"/>
              </a:spcBef>
              <a:spcAft>
                <a:spcPts val="0"/>
              </a:spcAft>
              <a:buClrTx/>
              <a:buSzTx/>
              <a:buFontTx/>
              <a:buNone/>
              <a:defRPr/>
            </a:pPr>
            <a:r>
              <a:rPr lang="zh-CN" altLang="en-US" sz="1600" kern="100" dirty="0">
                <a:effectLst/>
                <a:latin typeface="楷体_GB2312"/>
                <a:ea typeface="等线" panose="02010600030101010101" pitchFamily="2" charset="-122"/>
                <a:cs typeface="Times New Roman" panose="02020603050405020304" pitchFamily="18" charset="0"/>
              </a:rPr>
              <a:t>总之，编译无疑是我这学期投入最多、也最有成就感的一门课。虽然最终的编译器还很稚嫩，优化也做得很保守，但从零开始写出一个能跑的编译器，这种感觉真的很棒。</a:t>
            </a:r>
          </a:p>
          <a:p>
            <a:pPr marL="0" marR="0" lvl="0" indent="266700" algn="just" defTabSz="914400" rtl="0" eaLnBrk="0" fontAlgn="base" latinLnBrk="0" hangingPunct="0">
              <a:lnSpc>
                <a:spcPct val="150000"/>
              </a:lnSpc>
              <a:spcBef>
                <a:spcPct val="0"/>
              </a:spcBef>
              <a:spcAft>
                <a:spcPts val="0"/>
              </a:spcAft>
              <a:buClrTx/>
              <a:buSzTx/>
              <a:buFontTx/>
              <a:buNone/>
              <a:defRPr/>
            </a:pPr>
            <a:endParaRPr lang="zh-CN" altLang="en-US" sz="1600" kern="100" dirty="0">
              <a:effectLst/>
              <a:latin typeface="楷体_GB2312"/>
              <a:ea typeface="等线" panose="02010600030101010101" pitchFamily="2" charset="-122"/>
              <a:cs typeface="Times New Roman" panose="02020603050405020304" pitchFamily="18" charset="0"/>
            </a:endParaRPr>
          </a:p>
        </p:txBody>
      </p:sp>
      <p:sp>
        <p:nvSpPr>
          <p:cNvPr id="3" name="Rectangle 2"/>
          <p:cNvSpPr txBox="1"/>
          <p:nvPr/>
        </p:nvSpPr>
        <p:spPr>
          <a:xfrm>
            <a:off x="1269206" y="260648"/>
            <a:ext cx="6605587" cy="1462087"/>
          </a:xfrm>
          <a:prstGeom prst="rect">
            <a:avLst/>
          </a:prstGeom>
          <a:noFill/>
          <a:ln w="9525">
            <a:noFill/>
          </a:ln>
        </p:spPr>
        <p:txBody>
          <a:bodyPr vert="horz" wrap="square" lIns="91440" tIns="45720" rIns="91440" bIns="45720" anchor="b" anchorCtr="0"/>
          <a:lstStyle>
            <a:lvl1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a:lstStyle>
          <a:p>
            <a:pPr eaLnBrk="1" hangingPunct="1"/>
            <a:r>
              <a:rPr lang="zh-CN" altLang="en-US" kern="0" dirty="0"/>
              <a:t>总结感想摘录</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3569" y="1844825"/>
            <a:ext cx="8136904" cy="4392488"/>
          </a:xfrm>
          <a:prstGeom prst="rect">
            <a:avLst/>
          </a:prstGeom>
          <a:gradFill>
            <a:gsLst>
              <a:gs pos="0">
                <a:srgbClr val="D9EDE9"/>
              </a:gs>
              <a:gs pos="100000">
                <a:schemeClr val="bg1"/>
              </a:gs>
            </a:gsLst>
            <a:lin ang="4200000" scaled="0"/>
          </a:gradFill>
          <a:ln>
            <a:noFill/>
          </a:ln>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经过一个学期的编译课程学习，我对编译器这一系统软件有了从模糊印象到整体理解、再到实际动手实现的完整认识。这门课带给我的收获，不仅是具体的技术知识，更重要的是一种看待复杂系统的思维方式。</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在学习这门课之前，我对编译器的理解更多停留在“把高级语言翻译成机器能执行的代码”这样一个抽象层面，对其中的具体过程几乎没有概念。本学期通过系统地学习词法分析、语法分析、语义分析、中间代码生成以及优化和目标代码生成等内容，我第一次真正理解了“程序是如何一步一步被理解、被约束、被转换”的。尤其是在自己动手实现 </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SysY </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编译器之后，很多原本在课堂上看似枯燥、抽象的概念，比如</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AST、</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符号表、作用域、控制流图、</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SSA </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形式等，都变成了具体而清晰的代码。</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对我来说，收获最大的一点是：编译器不是“魔法”，而是由一系列明确规则和工程取舍堆叠出来的系统。</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真正动手实现编译器之前还一直在怵头，这么庞大又复杂的项目我真的能独立做出来吗？好在课程组提供了一个编译器项目供参考，让我的开始变得不那么困难，可以看到一个编译器项目具体是怎么编排的对后面具体写起代码来非常有帮助。在实现过程中，我多次体会到“理论上很优雅，但实现时并不简单”的情况，比如错误恢复、短路求值、寄存器分配以及地址取用等问题。这些问题在 </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PPT </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上往往只是几页纸，但在实际代码中却需要反复调试、推翻重来，这让我真正理解了课程中很多设计决策背后的现实原因</a:t>
            </a:r>
            <a:r>
              <a:rPr lang="zh-CN" altLang="en-US" sz="1600" dirty="0">
                <a:latin typeface="楷体_GB2312"/>
                <a:ea typeface="+mn-ea"/>
                <a:cs typeface="Times New Roman" panose="02020603050405020304" pitchFamily="18" charset="0"/>
              </a:rPr>
              <a:t>。</a:t>
            </a:r>
            <a:endPar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39552" y="2204864"/>
            <a:ext cx="8294370" cy="4031873"/>
          </a:xfrm>
          <a:prstGeom prst="rect">
            <a:avLst/>
          </a:prstGeom>
          <a:gradFill>
            <a:gsLst>
              <a:gs pos="0">
                <a:srgbClr val="FFEDCB"/>
              </a:gs>
              <a:gs pos="100000">
                <a:srgbClr val="FFCC99"/>
              </a:gs>
            </a:gsLst>
            <a:lin ang="2400000" scaled="0"/>
          </a:gradFill>
        </p:spPr>
        <p:txBody>
          <a:bodyPr wrap="square">
            <a:spAutoFit/>
          </a:bodyPr>
          <a:lstStyle/>
          <a:p>
            <a:pPr algn="l"/>
            <a:r>
              <a:rPr lang="zh-CN" altLang="en-US" sz="1600" kern="0" dirty="0">
                <a:effectLst/>
                <a:latin typeface="楷体_GB2312"/>
                <a:cs typeface="宋体" panose="02010600030101010101" pitchFamily="2" charset="-122"/>
              </a:rPr>
              <a:t>    我觉得编译这门课一个最大的好处就是理论和实验关系非常紧密，我们实验课上实现编译器的脚步完全可以跟着理论课来，比如：我们在理论课上学到使用有穷自动机实现词法分析，课下我们可以立刻模仿理论课件中给出的伪代码完成实验课中词法分析一节，理论课上讲到的优化方法我们可以应用到自己的编译器上提升优化效果。理论的学习带来实验实现上的轻松，实验应用理论课的知识又加深了对理论课相关知识的理解。</a:t>
            </a:r>
          </a:p>
          <a:p>
            <a:pPr algn="l"/>
            <a:r>
              <a:rPr lang="zh-CN" altLang="en-US" sz="1600" kern="0" dirty="0">
                <a:effectLst/>
                <a:latin typeface="楷体_GB2312"/>
                <a:cs typeface="宋体" panose="02010600030101010101" pitchFamily="2" charset="-122"/>
              </a:rPr>
              <a:t>    其次，编译课教会了我提前规划，虽然是通过让我吃苦头来教会我的。实验部分简直就是“一头披着羊皮的狼”，前半学期的词法分析、语法分析、语义分析部分和后半学期的代码生成和优化简直不是一个难度的。前半学期的实验都能早早的完成，然后无所事事，后半学期直接开始上强度，代码量激增，完成一次作业所需时间大幅增加。现在来看，前期空出来的时间就应该抓紧写数据库大作业和学习理论课，这样就不会像我一样在12月份被编译理论考试、赶数据库大作业、编译实验课收尾三座大山压着了。我应该在实验开始之前就开始规划实验的进度，在规定的时间内完成相应的内容。</a:t>
            </a:r>
          </a:p>
          <a:p>
            <a:pPr algn="l"/>
            <a:r>
              <a:rPr lang="zh-CN" altLang="en-US" sz="1600" kern="0" dirty="0">
                <a:effectLst/>
                <a:latin typeface="楷体_GB2312"/>
                <a:cs typeface="宋体" panose="02010600030101010101" pitchFamily="2" charset="-122"/>
              </a:rPr>
              <a:t>    实验课还提高了我</a:t>
            </a:r>
            <a:r>
              <a:rPr lang="en-US" altLang="zh-CN" sz="1600" kern="0" dirty="0">
                <a:effectLst/>
                <a:latin typeface="楷体_GB2312"/>
                <a:cs typeface="宋体" panose="02010600030101010101" pitchFamily="2" charset="-122"/>
              </a:rPr>
              <a:t>debug</a:t>
            </a:r>
            <a:r>
              <a:rPr lang="zh-CN" altLang="en-US" sz="1600" kern="0" dirty="0">
                <a:effectLst/>
                <a:latin typeface="楷体_GB2312"/>
                <a:cs typeface="宋体" panose="02010600030101010101" pitchFamily="2" charset="-122"/>
              </a:rPr>
              <a:t>的能力，相比于</a:t>
            </a:r>
            <a:r>
              <a:rPr lang="en-US" altLang="zh-CN" sz="1600" kern="0" dirty="0">
                <a:effectLst/>
                <a:latin typeface="楷体_GB2312"/>
                <a:cs typeface="宋体" panose="02010600030101010101" pitchFamily="2" charset="-122"/>
              </a:rPr>
              <a:t>CO</a:t>
            </a:r>
            <a:r>
              <a:rPr lang="zh-CN" altLang="en-US" sz="1600" kern="0" dirty="0">
                <a:effectLst/>
                <a:latin typeface="楷体_GB2312"/>
                <a:cs typeface="宋体" panose="02010600030101010101" pitchFamily="2" charset="-122"/>
              </a:rPr>
              <a:t>和</a:t>
            </a:r>
            <a:r>
              <a:rPr lang="en-US" altLang="zh-CN" sz="1600" kern="0" dirty="0">
                <a:effectLst/>
                <a:latin typeface="楷体_GB2312"/>
                <a:cs typeface="宋体" panose="02010600030101010101" pitchFamily="2" charset="-122"/>
              </a:rPr>
              <a:t>OO，</a:t>
            </a:r>
            <a:r>
              <a:rPr lang="zh-CN" altLang="en-US" sz="1600" kern="0" dirty="0">
                <a:effectLst/>
                <a:latin typeface="楷体_GB2312"/>
                <a:cs typeface="宋体" panose="02010600030101010101" pitchFamily="2" charset="-122"/>
              </a:rPr>
              <a:t>编译实验课</a:t>
            </a:r>
            <a:r>
              <a:rPr lang="en-US" altLang="zh-CN" sz="1600" kern="0" dirty="0">
                <a:effectLst/>
                <a:latin typeface="楷体_GB2312"/>
                <a:cs typeface="宋体" panose="02010600030101010101" pitchFamily="2" charset="-122"/>
              </a:rPr>
              <a:t>debug</a:t>
            </a:r>
            <a:r>
              <a:rPr lang="zh-CN" altLang="en-US" sz="1600" kern="0" dirty="0">
                <a:effectLst/>
                <a:latin typeface="楷体_GB2312"/>
                <a:cs typeface="宋体" panose="02010600030101010101" pitchFamily="2" charset="-122"/>
              </a:rPr>
              <a:t>难度大幅增加，我们不只是要</a:t>
            </a:r>
            <a:r>
              <a:rPr lang="en-US" altLang="zh-CN" sz="1600" kern="0" dirty="0">
                <a:effectLst/>
                <a:latin typeface="楷体_GB2312"/>
                <a:cs typeface="宋体" panose="02010600030101010101" pitchFamily="2" charset="-122"/>
              </a:rPr>
              <a:t>de</a:t>
            </a:r>
            <a:r>
              <a:rPr lang="zh-CN" altLang="en-US" sz="1600" kern="0" dirty="0">
                <a:effectLst/>
                <a:latin typeface="楷体_GB2312"/>
                <a:cs typeface="宋体" panose="02010600030101010101" pitchFamily="2" charset="-122"/>
              </a:rPr>
              <a:t>自己代码的</a:t>
            </a:r>
            <a:r>
              <a:rPr lang="en-US" altLang="zh-CN" sz="1600" kern="0" dirty="0">
                <a:effectLst/>
                <a:latin typeface="楷体_GB2312"/>
                <a:cs typeface="宋体" panose="02010600030101010101" pitchFamily="2" charset="-122"/>
              </a:rPr>
              <a:t>bug，</a:t>
            </a:r>
            <a:r>
              <a:rPr lang="zh-CN" altLang="en-US" sz="1600" kern="0" dirty="0">
                <a:effectLst/>
                <a:latin typeface="楷体_GB2312"/>
                <a:cs typeface="宋体" panose="02010600030101010101" pitchFamily="2" charset="-122"/>
              </a:rPr>
              <a:t>还要</a:t>
            </a:r>
            <a:r>
              <a:rPr lang="en-US" altLang="zh-CN" sz="1600" kern="0" dirty="0">
                <a:effectLst/>
                <a:latin typeface="楷体_GB2312"/>
                <a:cs typeface="宋体" panose="02010600030101010101" pitchFamily="2" charset="-122"/>
              </a:rPr>
              <a:t>de</a:t>
            </a:r>
            <a:r>
              <a:rPr lang="zh-CN" altLang="en-US" sz="1600" kern="0" dirty="0">
                <a:effectLst/>
                <a:latin typeface="楷体_GB2312"/>
                <a:cs typeface="宋体" panose="02010600030101010101" pitchFamily="2" charset="-122"/>
              </a:rPr>
              <a:t>生成出来的代码的</a:t>
            </a:r>
            <a:r>
              <a:rPr lang="en-US" altLang="zh-CN" sz="1600" kern="0" dirty="0">
                <a:effectLst/>
                <a:latin typeface="楷体_GB2312"/>
                <a:cs typeface="宋体" panose="02010600030101010101" pitchFamily="2" charset="-122"/>
              </a:rPr>
              <a:t>bug，</a:t>
            </a:r>
            <a:r>
              <a:rPr lang="zh-CN" altLang="en-US" sz="1600" kern="0" dirty="0">
                <a:effectLst/>
                <a:latin typeface="楷体_GB2312"/>
                <a:cs typeface="宋体" panose="02010600030101010101" pitchFamily="2" charset="-122"/>
              </a:rPr>
              <a:t>最难的是做代码优化的时候，如果做完优化竞速排序出现了</a:t>
            </a:r>
            <a:r>
              <a:rPr lang="en-US" altLang="zh-CN" sz="1600" kern="0" dirty="0">
                <a:effectLst/>
                <a:latin typeface="楷体_GB2312"/>
                <a:cs typeface="宋体" panose="02010600030101010101" pitchFamily="2" charset="-122"/>
              </a:rPr>
              <a:t>bug，</a:t>
            </a:r>
            <a:r>
              <a:rPr lang="zh-CN" altLang="en-US" sz="1600" kern="0" dirty="0">
                <a:effectLst/>
                <a:latin typeface="楷体_GB2312"/>
                <a:cs typeface="宋体" panose="02010600030101010101" pitchFamily="2" charset="-122"/>
              </a:rPr>
              <a:t>我们要找</a:t>
            </a:r>
            <a:r>
              <a:rPr lang="en-US" altLang="zh-CN" sz="1600" kern="0" dirty="0">
                <a:effectLst/>
                <a:latin typeface="楷体_GB2312"/>
                <a:cs typeface="宋体" panose="02010600030101010101" pitchFamily="2" charset="-122"/>
              </a:rPr>
              <a:t>llvm</a:t>
            </a:r>
            <a:r>
              <a:rPr lang="zh-CN" altLang="en-US" sz="1600" kern="0" dirty="0">
                <a:effectLst/>
                <a:latin typeface="楷体_GB2312"/>
                <a:cs typeface="宋体" panose="02010600030101010101" pitchFamily="2" charset="-122"/>
              </a:rPr>
              <a:t>和</a:t>
            </a:r>
            <a:r>
              <a:rPr lang="en-US" altLang="zh-CN" sz="1600" kern="0" dirty="0">
                <a:effectLst/>
                <a:latin typeface="楷体_GB2312"/>
                <a:cs typeface="宋体" panose="02010600030101010101" pitchFamily="2" charset="-122"/>
              </a:rPr>
              <a:t>mips</a:t>
            </a:r>
            <a:r>
              <a:rPr lang="zh-CN" altLang="en-US" sz="1600" kern="0" dirty="0">
                <a:effectLst/>
                <a:latin typeface="楷体_GB2312"/>
                <a:cs typeface="宋体" panose="02010600030101010101" pitchFamily="2" charset="-122"/>
              </a:rPr>
              <a:t>两个方面的</a:t>
            </a:r>
            <a:r>
              <a:rPr lang="en-US" altLang="zh-CN" sz="1600" kern="0" dirty="0">
                <a:effectLst/>
                <a:latin typeface="楷体_GB2312"/>
                <a:cs typeface="宋体" panose="02010600030101010101" pitchFamily="2" charset="-122"/>
              </a:rPr>
              <a:t>bug。</a:t>
            </a:r>
            <a:r>
              <a:rPr lang="zh-CN" altLang="en-US" sz="1600" kern="0" dirty="0">
                <a:effectLst/>
                <a:latin typeface="楷体_GB2312"/>
                <a:cs typeface="宋体" panose="02010600030101010101" pitchFamily="2" charset="-122"/>
              </a:rPr>
              <a:t>不过，我也学会了使用</a:t>
            </a:r>
            <a:r>
              <a:rPr lang="en-US" altLang="zh-CN" sz="1600" kern="0" dirty="0">
                <a:effectLst/>
                <a:latin typeface="楷体_GB2312"/>
                <a:cs typeface="宋体" panose="02010600030101010101" pitchFamily="2" charset="-122"/>
              </a:rPr>
              <a:t>AI</a:t>
            </a:r>
            <a:r>
              <a:rPr lang="zh-CN" altLang="en-US" sz="1600" kern="0" dirty="0">
                <a:effectLst/>
                <a:latin typeface="楷体_GB2312"/>
                <a:cs typeface="宋体" panose="02010600030101010101" pitchFamily="2" charset="-122"/>
              </a:rPr>
              <a:t>大模型辅助找</a:t>
            </a:r>
            <a:r>
              <a:rPr lang="en-US" altLang="zh-CN" sz="1600" kern="0" dirty="0">
                <a:effectLst/>
                <a:latin typeface="楷体_GB2312"/>
                <a:cs typeface="宋体" panose="02010600030101010101" pitchFamily="2" charset="-122"/>
              </a:rPr>
              <a:t>bug，</a:t>
            </a:r>
            <a:r>
              <a:rPr lang="zh-CN" altLang="en-US" sz="1600" kern="0" dirty="0">
                <a:effectLst/>
                <a:latin typeface="楷体_GB2312"/>
                <a:cs typeface="宋体" panose="02010600030101010101" pitchFamily="2" charset="-122"/>
              </a:rPr>
              <a:t>然后让它给出测试样例，修</a:t>
            </a:r>
            <a:r>
              <a:rPr lang="en-US" altLang="zh-CN" sz="1600" kern="0" dirty="0">
                <a:effectLst/>
                <a:latin typeface="楷体_GB2312"/>
                <a:cs typeface="宋体" panose="02010600030101010101" pitchFamily="2" charset="-122"/>
              </a:rPr>
              <a:t>bug</a:t>
            </a:r>
            <a:r>
              <a:rPr lang="zh-CN" altLang="en-US" sz="1600" kern="0" dirty="0">
                <a:effectLst/>
                <a:latin typeface="楷体_GB2312"/>
                <a:cs typeface="宋体" panose="02010600030101010101" pitchFamily="2" charset="-122"/>
              </a:rPr>
              <a:t>的速度大大加快。</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1"/>
          <p:cNvSpPr>
            <a:spLocks noChangeArrowheads="1"/>
          </p:cNvSpPr>
          <p:nvPr/>
        </p:nvSpPr>
        <p:spPr bwMode="auto">
          <a:xfrm>
            <a:off x="683568" y="2060848"/>
            <a:ext cx="8270240" cy="3539430"/>
          </a:xfrm>
          <a:prstGeom prst="rect">
            <a:avLst/>
          </a:prstGeom>
          <a:gradFill>
            <a:gsLst>
              <a:gs pos="0">
                <a:srgbClr val="FFEDCB"/>
              </a:gs>
              <a:gs pos="100000">
                <a:srgbClr val="FFCC99"/>
              </a:gs>
            </a:gsLst>
            <a:lin ang="14400000" scaled="0"/>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lang="en-US" altLang="zh-CN" sz="1600" kern="100" dirty="0">
                <a:solidFill>
                  <a:schemeClr val="tx2"/>
                </a:solidFill>
                <a:effectLst/>
                <a:latin typeface="楷体_GB2312"/>
                <a:ea typeface="等线" panose="02010600030101010101" pitchFamily="2" charset="-122"/>
                <a:cs typeface="Times New Roman" panose="02020603050405020304" pitchFamily="18" charset="0"/>
              </a:rPr>
              <a:t>    </a:t>
            </a:r>
            <a:r>
              <a:rPr lang="zh-CN" altLang="en-US" sz="1600" kern="100" dirty="0">
                <a:solidFill>
                  <a:schemeClr val="tx2"/>
                </a:solidFill>
                <a:effectLst/>
                <a:latin typeface="楷体_GB2312"/>
                <a:ea typeface="等线" panose="02010600030101010101" pitchFamily="2" charset="-122"/>
                <a:cs typeface="Times New Roman" panose="02020603050405020304" pitchFamily="18" charset="0"/>
              </a:rPr>
              <a:t>编译课程从九月底快国庆的时候开始编写编译器的词法分析，到十二月初完成中间代码生成，不知不觉就写了这么多代码，感觉时间过得很快，每次都是在截止前的第二周开始编一个星期的代码，空一个星期又开始赶下个阶段代码，写着写着就写完了（留给我们的作业时间还是很宽松的）。经过这一过程，我对编译过程了解更深了。刚开始听到编译时上大一写 </a:t>
            </a:r>
            <a:r>
              <a:rPr lang="en-US" altLang="zh-CN" sz="1600" kern="100" dirty="0">
                <a:solidFill>
                  <a:schemeClr val="tx2"/>
                </a:solidFill>
                <a:effectLst/>
                <a:latin typeface="楷体_GB2312"/>
                <a:ea typeface="等线" panose="02010600030101010101" pitchFamily="2" charset="-122"/>
                <a:cs typeface="Times New Roman" panose="02020603050405020304" pitchFamily="18" charset="0"/>
              </a:rPr>
              <a:t>C </a:t>
            </a:r>
            <a:r>
              <a:rPr lang="zh-CN" altLang="en-US" sz="1600" kern="100" dirty="0">
                <a:solidFill>
                  <a:schemeClr val="tx2"/>
                </a:solidFill>
                <a:effectLst/>
                <a:latin typeface="楷体_GB2312"/>
                <a:ea typeface="等线" panose="02010600030101010101" pitchFamily="2" charset="-122"/>
                <a:cs typeface="Times New Roman" panose="02020603050405020304" pitchFamily="18" charset="0"/>
              </a:rPr>
              <a:t>语言，在大二的计组老师也用了一些时间讲编译的过程，总是似懂非懂，编译上机让我真正理解了编译。从 0 写到生成 </a:t>
            </a:r>
            <a:r>
              <a:rPr lang="en-US" altLang="zh-CN" sz="1600" kern="100" dirty="0">
                <a:solidFill>
                  <a:schemeClr val="tx2"/>
                </a:solidFill>
                <a:effectLst/>
                <a:latin typeface="楷体_GB2312"/>
                <a:ea typeface="等线" panose="02010600030101010101" pitchFamily="2" charset="-122"/>
                <a:cs typeface="Times New Roman" panose="02020603050405020304" pitchFamily="18" charset="0"/>
              </a:rPr>
              <a:t>LLVM </a:t>
            </a:r>
            <a:r>
              <a:rPr lang="zh-CN" altLang="en-US" sz="1600" kern="100" dirty="0">
                <a:solidFill>
                  <a:schemeClr val="tx2"/>
                </a:solidFill>
                <a:effectLst/>
                <a:latin typeface="楷体_GB2312"/>
                <a:ea typeface="等线" panose="02010600030101010101" pitchFamily="2" charset="-122"/>
                <a:cs typeface="Times New Roman" panose="02020603050405020304" pitchFamily="18" charset="0"/>
              </a:rPr>
              <a:t>给了我很大的成就感，让我用 </a:t>
            </a:r>
            <a:r>
              <a:rPr lang="en-US" altLang="zh-CN" sz="1600" kern="100" dirty="0">
                <a:solidFill>
                  <a:schemeClr val="tx2"/>
                </a:solidFill>
                <a:effectLst/>
                <a:latin typeface="楷体_GB2312"/>
                <a:ea typeface="等线" panose="02010600030101010101" pitchFamily="2" charset="-122"/>
                <a:cs typeface="Times New Roman" panose="02020603050405020304" pitchFamily="18" charset="0"/>
              </a:rPr>
              <a:t>java </a:t>
            </a:r>
            <a:r>
              <a:rPr lang="zh-CN" altLang="en-US" sz="1600" kern="100" dirty="0">
                <a:solidFill>
                  <a:schemeClr val="tx2"/>
                </a:solidFill>
                <a:effectLst/>
                <a:latin typeface="楷体_GB2312"/>
                <a:ea typeface="等线" panose="02010600030101010101" pitchFamily="2" charset="-122"/>
                <a:cs typeface="Times New Roman" panose="02020603050405020304" pitchFamily="18" charset="0"/>
              </a:rPr>
              <a:t>用的更熟练了。课程最后留了三条路供我们取舍，给我这种水平不高的选手留了很好的后路。另外，编译这门课的上机和课内知识联系的非常紧密，课上讲到如何实现，课下的代码就能如何实现。课程组给的指导手册也很好，给了我很多方向性的提示，对我帮助很大。课程组的测试库给我的帮助最大，让我充分感受到了调试的乐趣，完整的测试库给我一种只要代码能跑就能调试成功的感觉，虽然有时连续长时间调试好几天，但我还是很有干劲。编译课的刘老师讲的虽然很慢，但是讲的很细致，讲的非常非常清楚。总的来说，编译课是我经历的非常不错的一门课。</a:t>
            </a:r>
          </a:p>
          <a:p>
            <a:pPr marL="0" marR="0" lvl="0" indent="0" algn="l" defTabSz="914400" rtl="0" eaLnBrk="0" fontAlgn="base" latinLnBrk="0" hangingPunct="0">
              <a:lnSpc>
                <a:spcPct val="100000"/>
              </a:lnSpc>
              <a:spcBef>
                <a:spcPct val="0"/>
              </a:spcBef>
              <a:spcAft>
                <a:spcPct val="0"/>
              </a:spcAft>
              <a:buClrTx/>
              <a:buSzTx/>
              <a:buFontTx/>
              <a:buNone/>
              <a:defRPr/>
            </a:pPr>
            <a:endParaRPr lang="zh-CN" altLang="en-US" sz="1600" kern="100" dirty="0">
              <a:solidFill>
                <a:schemeClr val="tx2"/>
              </a:solidFill>
              <a:effectLst/>
              <a:latin typeface="楷体_GB2312"/>
              <a:ea typeface="等线" panose="02010600030101010101" pitchFamily="2" charset="-122"/>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1"/>
          <p:cNvSpPr>
            <a:spLocks noChangeArrowheads="1"/>
          </p:cNvSpPr>
          <p:nvPr/>
        </p:nvSpPr>
        <p:spPr bwMode="auto">
          <a:xfrm>
            <a:off x="323528" y="1988840"/>
            <a:ext cx="8688705" cy="3933384"/>
          </a:xfrm>
          <a:prstGeom prst="rect">
            <a:avLst/>
          </a:prstGeom>
          <a:gradFill>
            <a:gsLst>
              <a:gs pos="0">
                <a:schemeClr val="tx2">
                  <a:lumMod val="20000"/>
                  <a:lumOff val="80000"/>
                </a:schemeClr>
              </a:gs>
              <a:gs pos="100000">
                <a:schemeClr val="bg1">
                  <a:lumMod val="95000"/>
                </a:schemeClr>
              </a:gs>
            </a:gsLst>
            <a:lin ang="20400000" scaled="0"/>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    </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打开</a:t>
            </a: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LLVM</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教程，我才意识到要完成的⼯作有多复杂。如果以教程中的⽅式做，我要先花时间弄明⽩教程的逻辑，再构建项⽬、写代码。我先尝试理解教程的逻辑，但是因为对</a:t>
            </a: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LLVM</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完全不熟悉，教程的内容很难理解。我⼜去学习</a:t>
            </a: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LLVM</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的语法，这时候时间就所剩⽆⼏了，我只能⼀边看语法⼀边尝试写⼀些⽣成代码。我决定同样按语法类型区分⽅法，⼀种类型使⽤⼀种⽅法，这样能够更好的把握进度。对于其他语法类型的翻译都⽐较简单，条件语句短路求值和标签跳转理解逻辑之后⽣成跳转语句也不太困难，写到这⾥的时候已经到了代码⽣成⼀的最后⼀周了，所有代码⽣成⼀⼆的内容我没有分开写。这段过程的时间主要花在了定义和符号表上了，⼀直在⼩修⼩补，修改符号表的逻辑和定义的命名⽅式以及记录定义的命名，好在最后在代码⽣成⼀截⽌前完成了任务。</a:t>
            </a: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    </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这个时候其他课也有很多事要忙，花了很多时间完成代码⽣成之后，我⼜去忙其他课的事情，再加上中间代码⽣成结构的问题，我已经没有时间和精⼒把</a:t>
            </a: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LLVM</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翻译成</a:t>
            </a: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MIPS</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了，只能草草收场，以</a:t>
            </a: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LLVM</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作为最终代码。</a:t>
            </a: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    </a:t>
            </a:r>
            <a:r>
              <a:rPr kumimoji="0" lang="zh-CN" altLang="en-US" sz="1600"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rPr>
              <a:t>从⼀开始感觉时间宽松游刃有余，到后⾯⾃顾不暇⼿忙脚乱，有些遗憾也有些⽆奈。如果学期初能知道要⾯对什么，是否结果会不⼀样？</a:t>
            </a: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1600" b="1" i="0" u="none" strike="noStrike" kern="1200" cap="none" spc="0" normalizeH="0" baseline="0" noProof="0" dirty="0">
              <a:ln>
                <a:noFill/>
              </a:ln>
              <a:solidFill>
                <a:srgbClr val="34495E"/>
              </a:solidFill>
              <a:effectLst/>
              <a:uLnTx/>
              <a:uFillTx/>
              <a:latin typeface="MicrosoftYaHei" panose="020B0503020204020204" charset="-122"/>
              <a:ea typeface="等线" panose="02010600030101010101" pitchFamily="2"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1"/>
          <p:cNvSpPr>
            <a:spLocks noChangeArrowheads="1"/>
          </p:cNvSpPr>
          <p:nvPr/>
        </p:nvSpPr>
        <p:spPr bwMode="auto">
          <a:xfrm>
            <a:off x="417195" y="1099507"/>
            <a:ext cx="8309610" cy="2160591"/>
          </a:xfrm>
          <a:prstGeom prst="rect">
            <a:avLst/>
          </a:prstGeom>
          <a:gradFill>
            <a:gsLst>
              <a:gs pos="0">
                <a:schemeClr val="tx2">
                  <a:lumMod val="20000"/>
                  <a:lumOff val="80000"/>
                </a:schemeClr>
              </a:gs>
              <a:gs pos="100000">
                <a:schemeClr val="bg1">
                  <a:lumMod val="95000"/>
                </a:schemeClr>
              </a:gs>
            </a:gsLst>
            <a:lin ang="5400000" scaled="1"/>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buNone/>
            </a:pPr>
            <a:r>
              <a:rPr lang="zh-CN" altLang="en-US" sz="1600" kern="100" dirty="0">
                <a:effectLst/>
                <a:latin typeface="楷体_GB2312"/>
                <a:ea typeface="等线" panose="02010600030101010101" pitchFamily="2" charset="-122"/>
                <a:cs typeface="Times New Roman" panose="02020603050405020304" pitchFamily="18" charset="0"/>
              </a:rPr>
              <a:t>    编译实验做完了（好吧其实也没做完，代码生成二最后只通过了 76%），回头看看这一路，感触挺深的。</a:t>
            </a:r>
          </a:p>
          <a:p>
            <a:pPr algn="just">
              <a:buNone/>
            </a:pPr>
            <a:r>
              <a:rPr lang="zh-CN" altLang="en-US" sz="1600" kern="100" dirty="0">
                <a:effectLst/>
                <a:latin typeface="楷体_GB2312"/>
                <a:ea typeface="等线" panose="02010600030101010101" pitchFamily="2" charset="-122"/>
                <a:cs typeface="Times New Roman" panose="02020603050405020304" pitchFamily="18" charset="0"/>
              </a:rPr>
              <a:t>    开始的时候觉得没那么难，词法分析就是识别单词，语法分析建棵树，想着快点写完就行。代码写得挺随意，怎么方便怎么来。到了语义分析要填符号表的时候，问题就来了——前面图省事，现在数据结构不好用，接口也得改，结果花了好多时间在重构上，真成了“欠债式开发”。这时候才痛彻地明白，实验要求做的总体设计文档真不是摆设。好的设计不是给老师看的，是给自己后面省力的。没个清晰的蓝图，代码越多越是一团乱麻。</a:t>
            </a:r>
          </a:p>
          <a:p>
            <a:pPr algn="just">
              <a:buNone/>
            </a:pPr>
            <a:endParaRPr lang="zh-CN" altLang="en-US" sz="1600" kern="100" dirty="0">
              <a:effectLst/>
              <a:latin typeface="楷体_GB2312"/>
              <a:ea typeface="等线" panose="02010600030101010101" pitchFamily="2" charset="-122"/>
              <a:cs typeface="Times New Roman" panose="02020603050405020304" pitchFamily="18" charset="0"/>
            </a:endParaRPr>
          </a:p>
        </p:txBody>
      </p:sp>
      <p:sp>
        <p:nvSpPr>
          <p:cNvPr id="2" name="矩形 1"/>
          <p:cNvSpPr/>
          <p:nvPr/>
        </p:nvSpPr>
        <p:spPr bwMode="auto">
          <a:xfrm>
            <a:off x="467995" y="3573145"/>
            <a:ext cx="8350250" cy="2357568"/>
          </a:xfrm>
          <a:prstGeom prst="rect">
            <a:avLst/>
          </a:prstGeom>
          <a:gradFill>
            <a:gsLst>
              <a:gs pos="0">
                <a:schemeClr val="tx2">
                  <a:lumMod val="20000"/>
                  <a:lumOff val="80000"/>
                </a:schemeClr>
              </a:gs>
              <a:gs pos="100000">
                <a:schemeClr val="bg1">
                  <a:lumMod val="95000"/>
                </a:schemeClr>
              </a:gs>
            </a:gsLst>
            <a:lin ang="5400000" scaled="1"/>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algn="just">
              <a:buNone/>
            </a:pPr>
            <a:r>
              <a:rPr lang="zh-CN" altLang="en-US" sz="1600" kern="100" dirty="0">
                <a:effectLst/>
                <a:latin typeface="楷体_GB2312"/>
                <a:ea typeface="等线" panose="02010600030101010101" pitchFamily="2" charset="-122"/>
                <a:cs typeface="Times New Roman" panose="02020603050405020304" pitchFamily="18" charset="0"/>
                <a:sym typeface="+mn-ea"/>
              </a:rPr>
              <a:t>    现在回头看，这门课的收获远不止“实现了一个编译器”这么简单。它让我明白了，那些我们平时习以为常的编程语言特性，背后都有一套复杂而精妙的实现逻辑；也让我学会了面对复杂问题时，如何拆解成一个个小任务，逐个突破。更重要的是，它让我找回了面对难题时的耐心和韧性——从“卡壳到崩溃”到“冷静排查”，从“毫无头绪”到“主动查资料、问老师同学”，这个过程中的成长，是任何理论课都给不了的。</a:t>
            </a:r>
          </a:p>
          <a:p>
            <a:pPr lvl="0" algn="just">
              <a:buNone/>
            </a:pPr>
            <a:r>
              <a:rPr lang="zh-CN" altLang="en-US" sz="1600" kern="100" dirty="0">
                <a:effectLst/>
                <a:latin typeface="楷体_GB2312"/>
                <a:ea typeface="等线" panose="02010600030101010101" pitchFamily="2" charset="-122"/>
                <a:cs typeface="Times New Roman" panose="02020603050405020304" pitchFamily="18" charset="0"/>
                <a:sym typeface="+mn-ea"/>
              </a:rPr>
              <a:t>    虽然实验过程充满了煎熬和挫败，但当我把最后一个测试用例成功编译并运行时，所有的辛苦都变成了值得。这门编译实验课，不仅提升了我的技术能力，也让我对项目编程有了更深的敬畏和热爱。正是通过这样一次次挑战极限的实验，才能慢慢积累起来实力，这些是vibecoding给不了我们的。</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
          <p:cNvSpPr>
            <a:spLocks noChangeArrowheads="1"/>
          </p:cNvSpPr>
          <p:nvPr/>
        </p:nvSpPr>
        <p:spPr bwMode="auto">
          <a:xfrm>
            <a:off x="790220" y="476672"/>
            <a:ext cx="7742219" cy="2554545"/>
          </a:xfrm>
          <a:prstGeom prst="rect">
            <a:avLst/>
          </a:prstGeom>
          <a:gradFill>
            <a:gsLst>
              <a:gs pos="0">
                <a:schemeClr val="accent2">
                  <a:lumMod val="20000"/>
                  <a:lumOff val="80000"/>
                </a:schemeClr>
              </a:gs>
              <a:gs pos="100000">
                <a:schemeClr val="bg1"/>
              </a:gs>
            </a:gsLst>
            <a:lin ang="13200000" scaled="0"/>
          </a:gradFill>
          <a:ln>
            <a:gradFill>
              <a:gsLst>
                <a:gs pos="0">
                  <a:srgbClr val="0070C0"/>
                </a:gs>
                <a:gs pos="100000">
                  <a:schemeClr val="bg1"/>
                </a:gs>
              </a:gsLst>
              <a:lin ang="5400000" scaled="1"/>
            </a:grad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如果你问本鹅这⻔课难不难，本鹅会说：难，真的难。但也正因为难，完成之后的成就感才会那么强烈。</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编译器是⼀个把⾼层抽象翻译成底层实现的⼯具，⽽做编译器的过程，也是⼀个让⾃⼰从"⽤代码"变成"理解代码"的过程。当你知道⼀⾏简单的 </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a = b + c </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背后经历了词法分析、语法分析、语义检查、</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IR⽣</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成、优化、寄存器分配、指令⽣成这么多步骤时，你看代码的眼光会完全不同。</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这个项⽬本鹅写了⼏千⾏</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Java</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代码，踩了⽆数的坑，熬了⽆数的夜。但现在回头看，⼀切都值得。</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    希望这篇碎碎念能帮到同样在编译原理这条路上挣扎的你。记住：代码能跑是第⼀步，跑得对是第⼆步，跑得快是第三步。⼀步⼀步来，总会到达终点的。</a:t>
            </a:r>
          </a:p>
        </p:txBody>
      </p:sp>
      <p:sp>
        <p:nvSpPr>
          <p:cNvPr id="2" name="矩形 1"/>
          <p:cNvSpPr/>
          <p:nvPr/>
        </p:nvSpPr>
        <p:spPr bwMode="auto">
          <a:xfrm>
            <a:off x="712922" y="3452904"/>
            <a:ext cx="7819517" cy="2702278"/>
          </a:xfrm>
          <a:prstGeom prst="rect">
            <a:avLst/>
          </a:prstGeom>
          <a:gradFill>
            <a:gsLst>
              <a:gs pos="0">
                <a:schemeClr val="accent2">
                  <a:lumMod val="20000"/>
                  <a:lumOff val="80000"/>
                </a:schemeClr>
              </a:gs>
              <a:gs pos="100000">
                <a:schemeClr val="bg1"/>
              </a:gs>
            </a:gsLst>
            <a:lin ang="13200000" scaled="0"/>
          </a:gradFill>
          <a:ln>
            <a:gradFill>
              <a:gsLst>
                <a:gs pos="0">
                  <a:srgbClr val="0070C0"/>
                </a:gs>
                <a:gs pos="100000">
                  <a:schemeClr val="bg1"/>
                </a:gs>
              </a:gsLst>
              <a:lin ang="5400000" scaled="1"/>
            </a:grad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    上了本学期的编译课实验课程，我收获很大</a:t>
            </a:r>
          </a:p>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1.首先就是不要低估编译器开发的难度，课前我只以为这个编译器开发只是一组文本到文本的翻译游戏，遵循语法规则，但是实际开发过程中各种bug层出不穷，而且相比于之前的程序开发，编译器开发debug的时候还需要根据生成代码的bug反推，但是这种打破传统开发debug的经历让我反思debug本身，而不是无脑找bug，复现之后修改与预期错误的部分</a:t>
            </a:r>
          </a:p>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2.其次，我深刻体会到了测试工程的重要性，公开样例往往不足以帮助我改正代码，这时，测试工程的构建就变得尤为重要，我深刻研究了样例的构造，而这也在后续做完优化之后检查正确性上给了我很多帮助</a:t>
            </a:r>
          </a:p>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3.最后，我意识到了架构的重要性，好的架构在开发过程中有非常大的帮助</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
          <p:cNvSpPr>
            <a:spLocks noChangeArrowheads="1"/>
          </p:cNvSpPr>
          <p:nvPr/>
        </p:nvSpPr>
        <p:spPr bwMode="auto">
          <a:xfrm>
            <a:off x="899795" y="976565"/>
            <a:ext cx="7639685" cy="2592199"/>
          </a:xfrm>
          <a:prstGeom prst="rect">
            <a:avLst/>
          </a:prstGeom>
          <a:gradFill>
            <a:gsLst>
              <a:gs pos="0">
                <a:srgbClr val="DDE2F3"/>
              </a:gs>
              <a:gs pos="100000">
                <a:schemeClr val="bg1"/>
              </a:gs>
            </a:gsLst>
            <a:lin ang="5400000" scaled="1"/>
          </a:gradFill>
          <a:ln>
            <a:noFill/>
          </a:ln>
          <a:effectLst>
            <a:innerShdw blurRad="76200" dist="50800" dir="18900000">
              <a:prstClr val="black">
                <a:alpha val="32000"/>
              </a:prstClr>
            </a:innerShdw>
          </a:effectLst>
        </p:spPr>
        <p:txBody>
          <a:bodyPr wrap="square">
            <a:no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buNone/>
            </a:pPr>
            <a:r>
              <a:rPr lang="zh-CN" altLang="en-US" sz="1600" noProof="0" dirty="0">
                <a:ln>
                  <a:noFill/>
                </a:ln>
                <a:solidFill>
                  <a:srgbClr val="333333"/>
                </a:solidFill>
                <a:effectLst/>
                <a:uLnTx/>
                <a:uFillTx/>
                <a:latin typeface="楷体_GB2312"/>
                <a:ea typeface="+mn-ea"/>
                <a:cs typeface="Times New Roman" panose="02020603050405020304" pitchFamily="18" charset="0"/>
                <a:sym typeface="+mn-ea"/>
              </a:rPr>
              <a:t>    重新回看这学期自己的实验，最大的感想是：本人极为善于选择最困难的路。归根结底是，本人总是不善于需求帮助，有些闭门造车的意味，不懂得借鉴已有的想法，而总是想着自己从轮子造起；而且没有对于整个项目的长远眼光，没有进行到那一步的时候总想不清应该用哪一种方式处理当前阶段的数据，给出怎样的输出，只能短视地根据当前要求的输出设计模块，于是无可避免地在一次次迭代中重构了自己代码。最印象深刻的便是代码生成那部分，盲目地一头撞进四元式的设计里，最后一无所获。所幸，助教们不离不弃，鼓励着本人继续完成实验，并耐心地给出了相应的指引，最后本人用了一周左右的时间完成了 </a:t>
            </a:r>
            <a:r>
              <a:rPr lang="en-US" altLang="zh-CN" sz="1600" noProof="0" dirty="0">
                <a:ln>
                  <a:noFill/>
                </a:ln>
                <a:solidFill>
                  <a:srgbClr val="333333"/>
                </a:solidFill>
                <a:effectLst/>
                <a:uLnTx/>
                <a:uFillTx/>
                <a:latin typeface="楷体_GB2312"/>
                <a:ea typeface="+mn-ea"/>
                <a:cs typeface="Times New Roman" panose="02020603050405020304" pitchFamily="18" charset="0"/>
                <a:sym typeface="+mn-ea"/>
              </a:rPr>
              <a:t>LLVM-IR </a:t>
            </a:r>
            <a:r>
              <a:rPr lang="zh-CN" altLang="en-US" sz="1600" noProof="0" dirty="0">
                <a:ln>
                  <a:noFill/>
                </a:ln>
                <a:solidFill>
                  <a:srgbClr val="333333"/>
                </a:solidFill>
                <a:effectLst/>
                <a:uLnTx/>
                <a:uFillTx/>
                <a:latin typeface="楷体_GB2312"/>
                <a:ea typeface="+mn-ea"/>
                <a:cs typeface="Times New Roman" panose="02020603050405020304" pitchFamily="18" charset="0"/>
                <a:sym typeface="+mn-ea"/>
              </a:rPr>
              <a:t>的生成，悔不当初又如释重负。</a:t>
            </a:r>
            <a:endParaRPr lang="en-US" altLang="zh-CN" sz="1600" noProof="0" dirty="0">
              <a:ln>
                <a:noFill/>
              </a:ln>
              <a:solidFill>
                <a:srgbClr val="333333"/>
              </a:solidFill>
              <a:effectLst/>
              <a:uLnTx/>
              <a:uFillTx/>
              <a:latin typeface="楷体_GB2312"/>
              <a:ea typeface="+mn-ea"/>
              <a:cs typeface="Times New Roman" panose="02020603050405020304" pitchFamily="18" charset="0"/>
              <a:sym typeface="+mn-ea"/>
            </a:endParaRPr>
          </a:p>
        </p:txBody>
      </p:sp>
      <p:sp>
        <p:nvSpPr>
          <p:cNvPr id="2" name="矩形 1"/>
          <p:cNvSpPr/>
          <p:nvPr/>
        </p:nvSpPr>
        <p:spPr bwMode="auto">
          <a:xfrm>
            <a:off x="938530" y="3861436"/>
            <a:ext cx="7600950" cy="2303780"/>
          </a:xfrm>
          <a:prstGeom prst="rect">
            <a:avLst/>
          </a:prstGeom>
          <a:gradFill>
            <a:gsLst>
              <a:gs pos="0">
                <a:srgbClr val="DDE2F3"/>
              </a:gs>
              <a:gs pos="100000">
                <a:schemeClr val="bg1"/>
              </a:gs>
            </a:gsLst>
            <a:lin ang="5400000" scaled="1"/>
          </a:gradFill>
          <a:ln>
            <a:noFill/>
          </a:ln>
          <a:effectLst>
            <a:innerShdw blurRad="76200" dist="50800" dir="18900000">
              <a:prstClr val="black">
                <a:alpha val="32000"/>
              </a:prstClr>
            </a:innerShdw>
          </a:effectLst>
        </p:spPr>
        <p:txBody>
          <a:bodyPr wrap="square">
            <a:no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algn="just">
              <a:buNone/>
            </a:pPr>
            <a:r>
              <a:rPr lang="zh-CN" altLang="en-US" sz="1600" noProof="0" dirty="0">
                <a:ln>
                  <a:noFill/>
                </a:ln>
                <a:solidFill>
                  <a:srgbClr val="333333"/>
                </a:solidFill>
                <a:effectLst/>
                <a:uLnTx/>
                <a:uFillTx/>
                <a:latin typeface="楷体_GB2312"/>
                <a:ea typeface="+mn-ea"/>
                <a:cs typeface="Times New Roman" panose="02020603050405020304" pitchFamily="18" charset="0"/>
                <a:sym typeface="+mn-ea"/>
              </a:rPr>
              <a:t>    “在做实验作业的过程中遇到任何困难或问题请及时联系老师或助教，课程组将为同学们尽力提供帮助。如果因为各种原因导致作业进展比较慢，也请坚持做下去。”</a:t>
            </a:r>
          </a:p>
          <a:p>
            <a:pPr lvl="0" algn="just">
              <a:buNone/>
            </a:pPr>
            <a:r>
              <a:rPr lang="zh-CN" altLang="en-US" sz="1600" noProof="0" dirty="0">
                <a:ln>
                  <a:noFill/>
                </a:ln>
                <a:solidFill>
                  <a:srgbClr val="333333"/>
                </a:solidFill>
                <a:effectLst/>
                <a:uLnTx/>
                <a:uFillTx/>
                <a:latin typeface="楷体_GB2312"/>
                <a:ea typeface="+mn-ea"/>
                <a:cs typeface="Times New Roman" panose="02020603050405020304" pitchFamily="18" charset="0"/>
                <a:sym typeface="+mn-ea"/>
              </a:rPr>
              <a:t>    当时因为各种原因，懒惰也有、迷茫也有、各课程压力也有，总而言之实验任务迟迟没有完成，错过了代码生成1，眼看着代码生成2也要错过了，真的非常焦虑，濒于自暴自弃的边缘，看到课程组发的这段话时，真的觉得很暖心，又觉得可以再坚持坚持😭😭。虽然最后还是止步于代码生成2，但至少可以参加期末，也应该不会挂科了，真的很感谢助教们的帮助和鼓励！🌹🌹</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矩形 2"/>
          <p:cNvSpPr>
            <a:spLocks noChangeArrowheads="1"/>
          </p:cNvSpPr>
          <p:nvPr/>
        </p:nvSpPr>
        <p:spPr bwMode="auto">
          <a:xfrm>
            <a:off x="827584" y="1916832"/>
            <a:ext cx="7961630" cy="3933384"/>
          </a:xfrm>
          <a:prstGeom prst="rect">
            <a:avLst/>
          </a:prstGeom>
          <a:gradFill>
            <a:gsLst>
              <a:gs pos="0">
                <a:srgbClr val="DDE2F3"/>
              </a:gs>
              <a:gs pos="100000">
                <a:schemeClr val="bg1"/>
              </a:gs>
            </a:gsLst>
            <a:lin ang="5400000" scaled="1"/>
          </a:gradFill>
          <a:ln>
            <a:noFill/>
          </a:ln>
          <a:effectLst>
            <a:innerShdw blurRad="76200" dist="50800" dir="18900000">
              <a:prstClr val="black">
                <a:alpha val="32000"/>
              </a:prstClr>
            </a:innerShdw>
          </a:effec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    编译实验对我来说非常具有挑战，但同时也让我的工程能力和代码思维得到了极大的提升。从词法分析开始一步步构建，每一次增量开发我都需要兼顾已有部分，并考虑后续内容，思考如何设计和编写能够使得代码更易于维护，更不易出错。</a:t>
            </a:r>
          </a:p>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    随着代码量的逐步增加，我愈发感受到了压力，做到代码生成时，我曾因为一次又一次得到错误结果的提交而几近崩溃：代码量太大，存在细节问题的地方太多，构造的样例又无法测试出错误。这样的压力也迫使我一点点提高对一个代码工程的管理能力和掌控能力。在不懈的坚持和尝试下，我还是顺利完成了</a:t>
            </a:r>
            <a:r>
              <a:rPr lang="en-US" altLang="zh-CN" sz="1600" noProof="0" dirty="0">
                <a:ln>
                  <a:noFill/>
                </a:ln>
                <a:effectLst/>
                <a:uLnTx/>
                <a:uFillTx/>
                <a:latin typeface="楷体_GB2312"/>
                <a:ea typeface="+mn-ea"/>
                <a:cs typeface="Times New Roman" panose="02020603050405020304" pitchFamily="18" charset="0"/>
                <a:sym typeface="+mn-ea"/>
              </a:rPr>
              <a:t>mips</a:t>
            </a:r>
            <a:r>
              <a:rPr lang="zh-CN" altLang="en-US" sz="1600" noProof="0" dirty="0">
                <a:ln>
                  <a:noFill/>
                </a:ln>
                <a:effectLst/>
                <a:uLnTx/>
                <a:uFillTx/>
                <a:latin typeface="楷体_GB2312"/>
                <a:ea typeface="+mn-ea"/>
                <a:cs typeface="Times New Roman" panose="02020603050405020304" pitchFamily="18" charset="0"/>
                <a:sym typeface="+mn-ea"/>
              </a:rPr>
              <a:t>生成的编写。</a:t>
            </a:r>
          </a:p>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但在代码优化中还是遇到了不少困难。在较为复杂、改动较大的优化方法的实现中，我发现已有的代码结构并不能很好的适应新增的优化，导致工作量变大、</a:t>
            </a:r>
            <a:r>
              <a:rPr lang="en-US" altLang="zh-CN" sz="1600" noProof="0" dirty="0">
                <a:ln>
                  <a:noFill/>
                </a:ln>
                <a:effectLst/>
                <a:uLnTx/>
                <a:uFillTx/>
                <a:latin typeface="楷体_GB2312"/>
                <a:ea typeface="+mn-ea"/>
                <a:cs typeface="Times New Roman" panose="02020603050405020304" pitchFamily="18" charset="0"/>
                <a:sym typeface="+mn-ea"/>
              </a:rPr>
              <a:t>debug</a:t>
            </a:r>
            <a:r>
              <a:rPr lang="zh-CN" altLang="en-US" sz="1600" noProof="0" dirty="0">
                <a:ln>
                  <a:noFill/>
                </a:ln>
                <a:effectLst/>
                <a:uLnTx/>
                <a:uFillTx/>
                <a:latin typeface="楷体_GB2312"/>
                <a:ea typeface="+mn-ea"/>
                <a:cs typeface="Times New Roman" panose="02020603050405020304" pitchFamily="18" charset="0"/>
                <a:sym typeface="+mn-ea"/>
              </a:rPr>
              <a:t>难度增加。最终并没有很好地完成优化任务。</a:t>
            </a:r>
          </a:p>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    编译实验让我第一次自己完成了一个较大的代码项目，让我意识到在复杂工程中，良好的规范和规划起着关键性的作用。比如在进行语义分析前应当想好符号表如何组织，在写最后的</a:t>
            </a:r>
            <a:r>
              <a:rPr lang="en-US" altLang="zh-CN" sz="1600" noProof="0" dirty="0">
                <a:ln>
                  <a:noFill/>
                </a:ln>
                <a:effectLst/>
                <a:uLnTx/>
                <a:uFillTx/>
                <a:latin typeface="楷体_GB2312"/>
                <a:ea typeface="+mn-ea"/>
                <a:cs typeface="Times New Roman" panose="02020603050405020304" pitchFamily="18" charset="0"/>
                <a:sym typeface="+mn-ea"/>
              </a:rPr>
              <a:t>mips</a:t>
            </a:r>
            <a:r>
              <a:rPr lang="zh-CN" altLang="en-US" sz="1600" noProof="0" dirty="0">
                <a:ln>
                  <a:noFill/>
                </a:ln>
                <a:effectLst/>
                <a:uLnTx/>
                <a:uFillTx/>
                <a:latin typeface="楷体_GB2312"/>
                <a:ea typeface="+mn-ea"/>
                <a:cs typeface="Times New Roman" panose="02020603050405020304" pitchFamily="18" charset="0"/>
                <a:sym typeface="+mn-ea"/>
              </a:rPr>
              <a:t>代码生成前想好寄存器、内存管理的处理方式和文件结构。这些设计能让编写代码时思路更加清晰，避免写了大半发现一片混乱而不得不重构的情况，提高开发效率和质量。</a:t>
            </a:r>
          </a:p>
        </p:txBody>
      </p:sp>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560" y="1124744"/>
            <a:ext cx="8310880" cy="5016758"/>
          </a:xfrm>
          <a:prstGeom prst="rect">
            <a:avLst/>
          </a:prstGeom>
          <a:gradFill>
            <a:gsLst>
              <a:gs pos="0">
                <a:srgbClr val="D9EDE9"/>
              </a:gs>
              <a:gs pos="100000">
                <a:schemeClr val="bg1"/>
              </a:gs>
            </a:gsLst>
            <a:lin ang="4200000" scaled="0"/>
          </a:gradFill>
          <a:ln>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刚刚拿到实验要求时我⼀头雾⽔，根本读不懂</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SySY</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语⾔的定义以及复杂的语法规则。经过测试程序的编写、联系理论课程对语法规则进⾏解读，我才逐渐了解了要做的任务，这个过程锻炼了我理解需求的能⼒在设计架构时我的系统管理能⼒得到了提升。⾯对这样⼀个庞⼤的⼯程，我知道如果不进⾏系统的设计，那么最后⼀定会变成屎⼭代码。因此在具体实现代码之前我先看了课程组提供的参考实现与往届同学的实现，了解了编译器实现的基本架构，⽐如前中后端放在不同的包⾥、集中定义</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enum</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枚举类来提升代码可读性等，再参考他们的架构来实现，这让我更深⼊的体会到了⼀个合理架构的重要性编写具体实现提升了我对于⾯向对象编程的能⼒。虽然上个学期在</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OO</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课程中学习了⾯向对象程序设计，但我之前没⽤</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Java</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写过如此庞⼤的⼯程。在具体的实现过程中，我在很多地⽅也使⽤到了之前学到的⾯向对象的⽅法，例如对于所有错误创建⼀个单例模式来管理、使⽤⼯⼚模式管理1位/32位</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int、</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利⽤中间类（⽐如</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ScopeManager）</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来对作⽤域复杂的管理进⾏封装降低复杂度、创建分发器对于不同类型执⾏不同处理等，这为我⾯向过程语⾔开发积累了更多经验。</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对⽣成代码进⾏测试与</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Debug</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的过程提升了我的测试思维。⼀开始我习惯全部写完代码再整体测试，后来发现这会导致⼀开始⾯对全是错误/根本跑不起来的代码我从下⼿。后来我学会了写⼀个部分就对⼀个部分进⾏单独测试，这样⼤⼤减少了</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Debug</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压⼒。在⾯对整体的错误时，我也会尝试使⽤分段处理的原则对</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bug</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进⾏定位，例如去掉这个优化还报不报错，使⽤这个简单的实现替换这⼀部分代码还有没有问题等。</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我的测试思维在这个过程中得到了提升。</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通过对于编译器的编写，我⼜完成了⼀项复杂的代码⼯程，我的开发能⼒⼜上了⼀个台阶。</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矩形 2"/>
          <p:cNvSpPr>
            <a:spLocks noChangeArrowheads="1"/>
          </p:cNvSpPr>
          <p:nvPr/>
        </p:nvSpPr>
        <p:spPr bwMode="auto">
          <a:xfrm>
            <a:off x="683568" y="920621"/>
            <a:ext cx="8150225" cy="5016758"/>
          </a:xfrm>
          <a:prstGeom prst="rect">
            <a:avLst/>
          </a:prstGeom>
          <a:gradFill>
            <a:gsLst>
              <a:gs pos="0">
                <a:srgbClr val="D9EDE9"/>
              </a:gs>
              <a:gs pos="100000">
                <a:schemeClr val="bg1"/>
              </a:gs>
            </a:gsLst>
            <a:lin ang="14400000" scaled="0"/>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拖了好久的感想文档，回想起这学期的编译课程，确实像胡院长所说，是人生第一次完成这么大的项目，其实之前的软工项目，代码量也不小，能达到上万行，但那是在成熟的框架上的组装，而编译确实是从编写样例开始的纯手搓，依靠的就是每周的迭代。</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不愧是传说中本科阶段</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top1</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的课，难度来自对理论的深度理解，包括强硬的代码基本功，还有高压的期中、实验、竞速、期末的安排，个人感觉难度是大于</a:t>
            </a:r>
            <a:r>
              <a:rPr kumimoji="0" lang="en-US" altLang="zh-CN" sz="1600" b="0" i="0" u="none" strike="noStrike" kern="1200" cap="none" spc="0" normalizeH="0" baseline="0" noProof="0" dirty="0" err="1">
                <a:ln>
                  <a:noFill/>
                </a:ln>
                <a:effectLst/>
                <a:uLnTx/>
                <a:uFillTx/>
                <a:latin typeface="+mn-ea"/>
                <a:ea typeface="+mn-ea"/>
                <a:cs typeface="Times New Roman" panose="02020603050405020304" pitchFamily="18" charset="0"/>
              </a:rPr>
              <a:t>os</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的，</a:t>
            </a:r>
            <a:r>
              <a:rPr kumimoji="0" lang="en-US" altLang="zh-CN" sz="1600" b="0" i="0" u="none" strike="noStrike" kern="1200" cap="none" spc="0" normalizeH="0" baseline="0" noProof="0" dirty="0" err="1">
                <a:ln>
                  <a:noFill/>
                </a:ln>
                <a:effectLst/>
                <a:uLnTx/>
                <a:uFillTx/>
                <a:latin typeface="+mn-ea"/>
                <a:ea typeface="+mn-ea"/>
                <a:cs typeface="Times New Roman" panose="02020603050405020304" pitchFamily="18" charset="0"/>
              </a:rPr>
              <a:t>os</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改的代码量远远小于编译，只是上机考多了一些，本学期印象很深刻的就是在十月一出去玩晚上还在酒店写编译（）</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在竞速之前遇到的问题绝大多数都能在评论区找到答案，答疑区就像是瑰宝，还能看到十多年前学长们的帖子，像是一种穿越时空的对话。但是竞速的盲</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debug</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实在是痛苦，卡的最久最久的是</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tc6</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的</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WA 50%，</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评论区也没有找到问题，后面在</a:t>
            </a:r>
            <a:r>
              <a:rPr kumimoji="0" lang="en-US" altLang="zh-CN" sz="1600" b="0" i="0" u="none" strike="noStrike" kern="1200" cap="none" spc="0" normalizeH="0" baseline="0" noProof="0" dirty="0" err="1">
                <a:ln>
                  <a:noFill/>
                </a:ln>
                <a:effectLst/>
                <a:uLnTx/>
                <a:uFillTx/>
                <a:latin typeface="+mn-ea"/>
                <a:ea typeface="+mn-ea"/>
                <a:cs typeface="Times New Roman" panose="02020603050405020304" pitchFamily="18" charset="0"/>
              </a:rPr>
              <a:t>wfy</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助教的帮助下才解决问题，是形参与实参的混淆问题，多谢</a:t>
            </a:r>
            <a:r>
              <a:rPr kumimoji="0" lang="en-US" altLang="zh-CN" sz="1600" b="0" i="0" u="none" strike="noStrike" kern="1200" cap="none" spc="0" normalizeH="0" baseline="0" noProof="0" dirty="0" err="1">
                <a:ln>
                  <a:noFill/>
                </a:ln>
                <a:effectLst/>
                <a:uLnTx/>
                <a:uFillTx/>
                <a:latin typeface="+mn-ea"/>
                <a:ea typeface="+mn-ea"/>
                <a:cs typeface="Times New Roman" panose="02020603050405020304" pitchFamily="18" charset="0"/>
              </a:rPr>
              <a:t>wfy</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助教</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第一点是理论与实际的联系，编译这种“所学即所用”的感觉非常震撼，让我明白那些枯燥的算法是如何在工业界落地的。这是我大学以来第一次觉得理论课如此实用，对我的科研任务也有很大帮助。</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第二点是代码基本功的进步，面对庞大的 </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AST </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节点和复杂的 </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IR </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指令体系，如果继承关系和多态设计得不好，后期维护简直是灾难。我被迫学会了如何使用抽象类和接口来解耦。</a:t>
            </a: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    最后一点就是心态上的变化，竞速</a:t>
            </a:r>
            <a:r>
              <a:rPr kumimoji="0" lang="en-US" altLang="zh-CN" sz="1600" b="0" i="0" u="none" strike="noStrike" kern="1200" cap="none" spc="0" normalizeH="0" baseline="0" noProof="0" dirty="0">
                <a:ln>
                  <a:noFill/>
                </a:ln>
                <a:effectLst/>
                <a:uLnTx/>
                <a:uFillTx/>
                <a:latin typeface="+mn-ea"/>
                <a:ea typeface="+mn-ea"/>
                <a:cs typeface="Times New Roman" panose="02020603050405020304" pitchFamily="18" charset="0"/>
              </a:rPr>
              <a:t>tc6</a:t>
            </a:r>
            <a:r>
              <a:rPr kumimoji="0" lang="zh-CN" altLang="en-US" sz="1600" b="0" i="0" u="none" strike="noStrike" kern="1200" cap="none" spc="0" normalizeH="0" baseline="0" noProof="0" dirty="0">
                <a:ln>
                  <a:noFill/>
                </a:ln>
                <a:effectLst/>
                <a:uLnTx/>
                <a:uFillTx/>
                <a:latin typeface="+mn-ea"/>
                <a:ea typeface="+mn-ea"/>
                <a:cs typeface="Times New Roman" panose="02020603050405020304" pitchFamily="18" charset="0"/>
              </a:rPr>
              <a:t>改的想跳楼，实在实在是要崩溃了，再加上期末复习，真的绝望的一批，后来在助教的帮助下，再加上迅速调整心态，也算是客服了困难，这种经历在以后的道理上是帮助极大的</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矩形 2"/>
          <p:cNvSpPr>
            <a:spLocks noChangeArrowheads="1"/>
          </p:cNvSpPr>
          <p:nvPr>
            <p:custDataLst>
              <p:tags r:id="rId1"/>
            </p:custDataLst>
          </p:nvPr>
        </p:nvSpPr>
        <p:spPr bwMode="auto">
          <a:xfrm>
            <a:off x="642937" y="2060848"/>
            <a:ext cx="8221345" cy="1815882"/>
          </a:xfrm>
          <a:prstGeom prst="rect">
            <a:avLst/>
          </a:prstGeom>
          <a:gradFill>
            <a:gsLst>
              <a:gs pos="0">
                <a:srgbClr val="D9EDE9"/>
              </a:gs>
              <a:gs pos="100000">
                <a:schemeClr val="bg1"/>
              </a:gs>
            </a:gsLst>
            <a:lin ang="14400000" scaled="0"/>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最⼤的收获可能不是学会了多少算法或者设计模式，⽽是真正理解了⼀个完整的编译器乃⾄软件系统是怎么搭建起来的。以前写代码可能就是⼀个⽂件、⼏个函数，但这次是⼀个有明确阶段划分、模块之间要互相配合的⼯程。⽐如前端⽣成的 </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AST </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要交给中端去建符号表、查语义错误，中端⽣成的 </a:t>
            </a:r>
            <a:r>
              <a:rPr kumimoji="0" lang="en-US" altLang="zh-CN" sz="1600" b="0" i="0" u="none" strike="noStrike" kern="1200" cap="none" spc="0" normalizeH="0" baseline="0" noProof="0" dirty="0">
                <a:ln>
                  <a:noFill/>
                </a:ln>
                <a:effectLst/>
                <a:uLnTx/>
                <a:uFillTx/>
                <a:latin typeface="楷体_GB2312"/>
                <a:ea typeface="+mn-ea"/>
                <a:cs typeface="Times New Roman" panose="02020603050405020304" pitchFamily="18" charset="0"/>
              </a:rPr>
              <a:t>IR ⼜</a:t>
            </a:r>
            <a:r>
              <a:rPr kumimoji="0" lang="zh-CN" altLang="en-US" sz="1600" b="0" i="0" u="none" strike="noStrike" kern="1200" cap="none" spc="0" normalizeH="0" baseline="0" noProof="0" dirty="0">
                <a:ln>
                  <a:noFill/>
                </a:ln>
                <a:effectLst/>
                <a:uLnTx/>
                <a:uFillTx/>
                <a:latin typeface="楷体_GB2312"/>
                <a:ea typeface="+mn-ea"/>
                <a:cs typeface="Times New Roman" panose="02020603050405020304" pitchFamily="18" charset="0"/>
              </a:rPr>
              <a:t>要交给后端去翻译成汇编，这种“流⽔线”的感觉让我对软件架构有了更具体的认识。还有就是调试能⼒真的提升了太多，因为编译器⼀旦出错，往往不是⼀句报错就能定位的，经常要⼀步步看输出⽂件、对⽐中间结果，有时候甚⾄要⼿动模拟执⾏流程，这个过程虽然繁琐，但特别锻炼耐⼼和逻辑思维。</a:t>
            </a:r>
          </a:p>
        </p:txBody>
      </p:sp>
      <p:sp>
        <p:nvSpPr>
          <p:cNvPr id="2" name="矩形 1"/>
          <p:cNvSpPr/>
          <p:nvPr>
            <p:custDataLst>
              <p:tags r:id="rId2"/>
            </p:custDataLst>
          </p:nvPr>
        </p:nvSpPr>
        <p:spPr bwMode="auto">
          <a:xfrm>
            <a:off x="674370" y="4349333"/>
            <a:ext cx="8158480" cy="1815882"/>
          </a:xfrm>
          <a:prstGeom prst="rect">
            <a:avLst/>
          </a:prstGeom>
          <a:gradFill>
            <a:gsLst>
              <a:gs pos="0">
                <a:srgbClr val="D9EDE9"/>
              </a:gs>
              <a:gs pos="100000">
                <a:schemeClr val="bg1"/>
              </a:gs>
            </a:gsLst>
            <a:lin ang="14400000" scaled="0"/>
          </a:gradFill>
          <a:ln>
            <a:noFill/>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algn="l">
              <a:buClrTx/>
              <a:buSzTx/>
              <a:buFontTx/>
              <a:buNone/>
              <a:defRPr/>
            </a:pPr>
            <a:r>
              <a:rPr lang="zh-CN" altLang="en-US" sz="1600" noProof="0" dirty="0">
                <a:ln>
                  <a:noFill/>
                </a:ln>
                <a:effectLst/>
                <a:uLnTx/>
                <a:uFillTx/>
                <a:latin typeface="楷体_GB2312"/>
                <a:ea typeface="+mn-ea"/>
                <a:cs typeface="Times New Roman" panose="02020603050405020304" pitchFamily="18" charset="0"/>
                <a:sym typeface="+mn-ea"/>
              </a:rPr>
              <a:t>     值得一提的是，该课程“禁止AI生成文档”的规定，反倒成为整个项目中最具价值的环节。撰写文档时，我不得不系统梳理整个学期的项目代码——那些冗余的函数、被注释的失败尝试、AI生成后未删除的定义，以及我零散的思考与实践痕迹，都在逐字撰写的过程中逐渐清晰。若允许AI生成文档，我大概率无法静下心来复盘这一切，也难以真切表达对项目价值的质疑，最终只会产出一份千篇一律、缺乏思考深度的“格式化作业”。正是这份强制的“手写反思”，让我跳出“完成项目任务”的表面桎梏，真正开始思考：我们完成项目的核心意义，究竟是“产出成果”，还是“在过程中实现成长”？</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bwMode="auto">
          <a:xfrm>
            <a:off x="539750" y="260350"/>
            <a:ext cx="8134985" cy="6123940"/>
          </a:xfrm>
          <a:prstGeom prst="rect">
            <a:avLst/>
          </a:prstGeom>
          <a:gradFill>
            <a:gsLst>
              <a:gs pos="0">
                <a:srgbClr val="DDE2F3"/>
              </a:gs>
              <a:gs pos="100000">
                <a:schemeClr val="bg1"/>
              </a:gs>
            </a:gsLst>
            <a:lin ang="5400000" scaled="1"/>
          </a:gradFill>
          <a:ln>
            <a:noFill/>
          </a:ln>
          <a:effectLst>
            <a:innerShdw blurRad="76200" dist="50800" dir="18900000">
              <a:prstClr val="black">
                <a:alpha val="32000"/>
              </a:prstClr>
            </a:innerShdw>
          </a:effec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lvl="0" algn="l">
              <a:buClrTx/>
              <a:buSzTx/>
              <a:buFontTx/>
              <a:buNone/>
              <a:defRPr/>
            </a:pPr>
            <a:r>
              <a:rPr lang="zh-CN" altLang="en-US" sz="1400" noProof="0" dirty="0">
                <a:ln>
                  <a:noFill/>
                </a:ln>
                <a:effectLst/>
                <a:uLnTx/>
                <a:uFillTx/>
                <a:latin typeface="楷体_GB2312"/>
                <a:ea typeface="+mn-ea"/>
                <a:cs typeface="Times New Roman" panose="02020603050405020304" pitchFamily="18" charset="0"/>
                <a:sym typeface="+mn-ea"/>
              </a:rPr>
              <a:t>    在开启编译实验之旅前，我便早已听闻这⻔实验的 “恐怖传说”：动辄数千⾏甚⾄上万⾏的代码量、⽆休⽌的重构返⼯、临近期末时编译优化任务与其他课程⼤作业的集中轰炸，每⼀项都让⼈⼼⽣敬畏。因此，从实验伊始，我就不敢有丝毫懈怠，始终保持⾼度重视，作业⼀经发布，便第⼀时间投入知识点学习、思路构思与编码实践，⽣怕落后进度陷入被动。实验前半阶段的词法分析与语法分析，因任务⽬标相对明确、逻辑链路较为清晰，我完成得还算顺利。但也正是这份 “顺利”让我犯了急躁的⽑病，忽视了老师开篇就强调的整体架构设计要求，没有深入研读参考代码并规划编译器的全局结构，仅满⾜于完成当下的实验任务。比如设计词法分析的接⼝时，未考虑后续语法分析的调⽤需求；定义 AST 节点时，也未预留语义分析所需的属性字段。这种短视的做法，在进入语义分析、代码⽣成乃⾄优化阶段后，隐患集中爆发，频繁出现接⼝不兼容、数据结构适配性差的问题，我不得不反复回头重构前期代码，原本以为的 “捷径”反⽽变成了阻碍，耗费了⼤量本可避免的时间与精⼒。这也让我深刻领悟到，架构设计对复杂项⽬⽽⾔⾄关重要，好的全局规划能让编码事半功倍，⽽缺乏⻓远考量的仓促编码，只会为后续发展埋下⽆数陷阱。此次实验最⼤的收获，莫过于实现了理论与实践的深度融合。课堂上抽象的编译原理知识，诸如词法分析的状态机模型、语法分析的递归下降算法、语义分析的语法制导翻译等，都在实际编码中得到了充分落地。当亲⼿⽤代码实现状态机识别词法单元，⽤递归下降逻辑构建抽象语法树时，我对这些理论知识点的理解不再停留于书本层⾯，⽽是形成了具象且深刻的认知，真正打通了理论与实践的壁垒。同时，超过五千⾏的有效代码量，让我切实体会到⾯向对象思想与软件⼯程⽅法的核⼼价值。编译器的设计天然契合⾯向对象的特性，比如 LLVM 中间代码⽣成中，各类指令均可继承⾃统⼀的⽗类，这种 “继承”特性极⼤简化了代码实现；单例模式、⼯⼚模式等经典设计模式的应⽤，也让代码的管理与扩展更加有序。若不借助这些软件⼯程⽅法对代码进⾏规划，随着实验推进，代码量不断膨胀，整个编译器必然会变得杂乱⽆章，难以维护。此外，我也终于厘清了编译与运⾏的核⼼边界，明⽩了哪些⼯作需要在编译阶段完成，哪些则需留待程序运⾏时实现，对理论课上 “符号表在编译时建立、运⾏栈在运⾏时构建”的知识点有了透彻理解，对 “遍”的概念也从抽象认知转化为具象体验 —— ⼏乎每完成⼀个⼦任务，都需要对源程序或中间数据结构进⾏完整扫描，这种⽅式虽结构清晰，却也让我真切感受到了编译程序开发的⼯作量之巨。实验过程中，挑战与成⻓并⾏。我曾不⽌⼀次为了排查⼀个隐蔽的 bug 奋战到凌晨三四点，经历过代码提交后失败的郁闷，遭遇过明知有错却找不到问题根源的迷茫，也感受过熟读文法文档后发现疏漏并成功弥补的恍然⼤悟。每次想要放弃却⼜咬牙坚持，最终攻克难题时，那种畅快淋漓的感觉难以⾔喻。⽽当实验接近尾声，回头翻看⾃⼰写下的数千⾏代码，那种成就感如同赚到⼈⽣第⼀桶⾦般珍贵。</a:t>
            </a:r>
          </a:p>
        </p:txBody>
      </p:sp>
    </p:spTree>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M2OWI4ZGYyMzhmZjM2ZGE1MTUxYjQ1ZGZhMjFiNzcifQ=="/>
  <p:tag name="RESOURCE_RECORD_KEY" val="{&quot;29&quot;:[50053246,50000159]}"/>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1f57d021-6052-48a8-951a-0a101f4a5a38}"/>
  <p:tag name="TABLE_ENDDRAG_ORIGIN_RECT" val="602*101"/>
  <p:tag name="TABLE_ENDDRAG_RECT" val="53*197*602*101"/>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364*60"/>
  <p:tag name="TABLE_ENDDRAG_RECT" val="76*338*364*6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0.6,&quot;left&quot;:59.45,&quot;top&quot;:159.7,&quot;width&quot;:357.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0.6,&quot;left&quot;:59.45,&quot;top&quot;:159.7,&quot;width&quot;:357.3}"/>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364*60"/>
  <p:tag name="TABLE_ENDDRAG_RECT" val="76*338*364*6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0.6,&quot;left&quot;:59.45,&quot;top&quot;:159.7,&quot;width&quot;:357.3}"/>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ec349651-094b-45fe-84f3-62ff10a31cf0}"/>
  <p:tag name="TABLE_ENDDRAG_ORIGIN_RECT" val="413*443"/>
  <p:tag name="TABLE_ENDDRAG_RECT" val="269*26*413*443"/>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ad5670d0-dff3-46c1-ab5a-0ca143aa0d76}"/>
  <p:tag name="TABLE_ENDDRAG_ORIGIN_RECT" val="681*402"/>
  <p:tag name="TABLE_ENDDRAG_RECT" val="25*98*681*402"/>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310bd17d-9780-4883-be8e-fdf5f0f11fc9}"/>
  <p:tag name="TABLE_ENDDRAG_ORIGIN_RECT" val="635*363"/>
  <p:tag name="TABLE_ENDDRAG_RECT" val="76*128*635*363"/>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30.3,&quot;left&quot;:48.15,&quot;top&quot;:43.2,&quot;width&quot;:65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30.3,&quot;left&quot;:48.15,&quot;top&quot;:43.2,&quot;width&quot;:653}"/>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SimSun"/>
        <a:cs typeface=""/>
      </a:majorFont>
      <a:minorFont>
        <a:latin typeface="Tahoma"/>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a:solidFill>
          <a:srgbClr val="99CCFF"/>
        </a:solidFill>
        <a:ln w="9525" cap="flat" cmpd="sng" algn="ctr">
          <a:solidFill>
            <a:schemeClr val="tx1"/>
          </a:solidFill>
          <a:prstDash val="solid"/>
          <a:round/>
          <a:headEnd type="none" w="med" len="med"/>
          <a:tailEnd type="triangle"/>
        </a:ln>
      </a:spPr>
      <a:bodyPr/>
      <a:lstStyle/>
    </a:lnDef>
    <a:txDef>
      <a:spPr>
        <a:noFill/>
        <a:ln>
          <a:solidFill>
            <a:schemeClr val="accent2"/>
          </a:solidFill>
        </a:ln>
      </a:spPr>
      <a:bodyPr wrap="square" rtlCol="0">
        <a:spAutoFit/>
      </a:bodyPr>
      <a:lstStyle>
        <a:defPPr>
          <a:defRPr dirty="0" smtClean="0"/>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
      <a:dk1>
        <a:srgbClr val="000000"/>
      </a:dk1>
      <a:lt1>
        <a:srgbClr val="FEFFFF"/>
      </a:lt1>
      <a:dk2>
        <a:srgbClr val="000000"/>
      </a:dk2>
      <a:lt2>
        <a:srgbClr val="969696"/>
      </a:lt2>
      <a:accent1>
        <a:srgbClr val="00CC99"/>
      </a:accent1>
      <a:accent2>
        <a:srgbClr val="3333CC"/>
      </a:accent2>
      <a:accent3>
        <a:srgbClr val="FE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仿宋_GB2312"/>
        <a:cs typeface=""/>
      </a:majorFont>
      <a:minorFont>
        <a:latin typeface="Times New Roman"/>
        <a:ea typeface="仿宋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triangle" w="med" len="med"/>
        </a:ln>
      </a:spPr>
      <a:bodyPr vert="horz" wrap="none" lIns="91440" tIns="45720" rIns="91440" bIns="45720" numCol="1" anchor="ctr"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triangle" w="med" len="med"/>
        </a:ln>
      </a:spPr>
      <a:bodyPr vert="horz" wrap="none" lIns="91440" tIns="45720" rIns="91440" bIns="45720" numCol="1" anchor="ctr"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ppt/theme/themeOverride2.xml><?xml version="1.0" encoding="utf-8"?>
<a:themeOverride xmlns:a="http://schemas.openxmlformats.org/drawingml/2006/main">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otalTime>222</TotalTime>
  <Words>11567</Words>
  <Application>Microsoft Office PowerPoint</Application>
  <PresentationFormat>全屏显示(4:3)</PresentationFormat>
  <Paragraphs>954</Paragraphs>
  <Slides>66</Slides>
  <Notes>41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66</vt:i4>
      </vt:variant>
    </vt:vector>
  </HeadingPairs>
  <TitlesOfParts>
    <vt:vector size="85" baseType="lpstr">
      <vt:lpstr>Arial Unicode MS</vt:lpstr>
      <vt:lpstr>Helvetica Neue</vt:lpstr>
      <vt:lpstr>MicrosoftYaHei</vt:lpstr>
      <vt:lpstr>OpenSans-Regular</vt:lpstr>
      <vt:lpstr>黑体</vt:lpstr>
      <vt:lpstr>楷体</vt:lpstr>
      <vt:lpstr>楷体_GB2312</vt:lpstr>
      <vt:lpstr>SimSun</vt:lpstr>
      <vt:lpstr>SimSun</vt:lpstr>
      <vt:lpstr>微软雅黑</vt:lpstr>
      <vt:lpstr>Arial</vt:lpstr>
      <vt:lpstr>Cambria</vt:lpstr>
      <vt:lpstr>Open Sans</vt:lpstr>
      <vt:lpstr>Tahoma</vt:lpstr>
      <vt:lpstr>Times New Roman</vt:lpstr>
      <vt:lpstr>Wingdings</vt:lpstr>
      <vt:lpstr>Blends</vt:lpstr>
      <vt:lpstr>默认设计模板</vt:lpstr>
      <vt:lpstr>BMP 图象</vt:lpstr>
      <vt:lpstr>编译技术实验</vt:lpstr>
      <vt:lpstr>PowerPoint 演示文稿</vt:lpstr>
      <vt:lpstr>课程目标</vt:lpstr>
      <vt:lpstr>三次学习编译全过程</vt:lpstr>
      <vt:lpstr>理论课与实验作业概览</vt:lpstr>
      <vt:lpstr>实验题目</vt:lpstr>
      <vt:lpstr>文法</vt:lpstr>
      <vt:lpstr>中间代码</vt:lpstr>
      <vt:lpstr>目标代码（三选一）</vt:lpstr>
      <vt:lpstr>代码优化</vt:lpstr>
      <vt:lpstr>任务架构</vt:lpstr>
      <vt:lpstr>任务及考核步骤</vt:lpstr>
      <vt:lpstr>评分标准</vt:lpstr>
      <vt:lpstr>分数组成</vt:lpstr>
      <vt:lpstr>关于分数的注意事项</vt:lpstr>
      <vt:lpstr>文法解读</vt:lpstr>
      <vt:lpstr>文法解读</vt:lpstr>
      <vt:lpstr>文法解读</vt:lpstr>
      <vt:lpstr>词法分析</vt:lpstr>
      <vt:lpstr>词法分析</vt:lpstr>
      <vt:lpstr>词法分析</vt:lpstr>
      <vt:lpstr>语法分析</vt:lpstr>
      <vt:lpstr>语法分析</vt:lpstr>
      <vt:lpstr>语义分析</vt:lpstr>
      <vt:lpstr>语义分析</vt:lpstr>
      <vt:lpstr>错误类型及说明</vt:lpstr>
      <vt:lpstr>代码生成</vt:lpstr>
      <vt:lpstr>代码生成</vt:lpstr>
      <vt:lpstr>代码生成</vt:lpstr>
      <vt:lpstr>竞速排序</vt:lpstr>
      <vt:lpstr>竞速排序</vt:lpstr>
      <vt:lpstr>任务及考核说明</vt:lpstr>
      <vt:lpstr>评测及开发环境</vt:lpstr>
      <vt:lpstr>任务及考核日程</vt:lpstr>
      <vt:lpstr>作业列表</vt:lpstr>
      <vt:lpstr>上机安排</vt:lpstr>
      <vt:lpstr>作业提交、课程信息获取</vt:lpstr>
      <vt:lpstr>实验平台</vt:lpstr>
      <vt:lpstr>课程资料</vt:lpstr>
      <vt:lpstr>课程资料</vt:lpstr>
      <vt:lpstr>实验教程</vt:lpstr>
      <vt:lpstr>能得到的帮助</vt:lpstr>
      <vt:lpstr>对大模型的使用要求</vt:lpstr>
      <vt:lpstr>对大模型的使用要求</vt:lpstr>
      <vt:lpstr>查重及作弊有关</vt:lpstr>
      <vt:lpstr>交流与沟通</vt:lpstr>
      <vt:lpstr>为什么会觉得难</vt:lpstr>
      <vt:lpstr>你该怎么做</vt:lpstr>
      <vt:lpstr>你能得到什么</vt:lpstr>
      <vt:lpstr>特别帮助</vt:lpstr>
      <vt:lpstr>特别提醒</vt:lpstr>
      <vt:lpstr>特别提醒</vt:lpstr>
      <vt:lpstr>参考资料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sei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《编译技术》实践环节</dc:title>
  <dc:creator>yhy</dc:creator>
  <cp:lastModifiedBy>lxf</cp:lastModifiedBy>
  <cp:revision>1090</cp:revision>
  <cp:lastPrinted>2022-09-05T05:27:00Z</cp:lastPrinted>
  <dcterms:created xsi:type="dcterms:W3CDTF">2005-11-25T00:59:00Z</dcterms:created>
  <dcterms:modified xsi:type="dcterms:W3CDTF">2026-09-19T15:40:01Z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0FCE87253A9D4D4DB6331C823814DA08_13</vt:lpwstr>
  </property>
  <property fmtid="{D5CDD505-2E9C-101B-9397-08002B2CF9AE}" pid="3" name="KSOProductBuildVer">
    <vt:lpwstr>2052-12.1.0.28043</vt:lpwstr>
  </property>
</Properties>
</file>