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sldIdLst>
    <p:sldId id="435" r:id="rId5"/>
    <p:sldId id="305" r:id="rId6"/>
    <p:sldId id="413" r:id="rId7"/>
    <p:sldId id="415" r:id="rId8"/>
    <p:sldId id="418" r:id="rId9"/>
    <p:sldId id="419" r:id="rId10"/>
    <p:sldId id="421" r:id="rId11"/>
    <p:sldId id="422" r:id="rId12"/>
    <p:sldId id="423" r:id="rId13"/>
    <p:sldId id="425" r:id="rId14"/>
    <p:sldId id="432" r:id="rId15"/>
    <p:sldId id="433" r:id="rId16"/>
    <p:sldId id="434" r:id="rId17"/>
    <p:sldId id="417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D1ED"/>
    <a:srgbClr val="A3836E"/>
    <a:srgbClr val="434042"/>
    <a:srgbClr val="65B5C5"/>
    <a:srgbClr val="1BA7C3"/>
    <a:srgbClr val="1C94BE"/>
    <a:srgbClr val="02DAFC"/>
    <a:srgbClr val="02DDFF"/>
    <a:srgbClr val="03BEFE"/>
    <a:srgbClr val="EDCC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71990" autoAdjust="0"/>
  </p:normalViewPr>
  <p:slideViewPr>
    <p:cSldViewPr snapToGrid="0">
      <p:cViewPr varScale="1">
        <p:scale>
          <a:sx n="71" d="100"/>
          <a:sy n="71" d="100"/>
        </p:scale>
        <p:origin x="672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0EF64-3410-A8F6-65E8-E98853E3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B140D4-0E8D-F864-5ED0-848F8F956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DFD363-BC08-C43B-B9EA-98681129A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B2348A-3BEC-F42E-2E7D-7F14EE501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126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239AB-4BE4-2DBC-E9AB-43108A56C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A1B134-0550-1F98-1E43-594559471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F9E805-6BEB-1D5F-E81B-7A91747AF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27AF-3239-A47D-31ED-BBC15CECF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417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副标题 46"/>
          <p:cNvSpPr>
            <a:spLocks noGrp="1"/>
          </p:cNvSpPr>
          <p:nvPr userDrawn="1">
            <p:ph type="subTitle" idx="1"/>
          </p:nvPr>
        </p:nvSpPr>
        <p:spPr>
          <a:xfrm>
            <a:off x="980265" y="3237426"/>
            <a:ext cx="6786563" cy="1048678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8" name="标题 47"/>
          <p:cNvSpPr>
            <a:spLocks noGrp="1"/>
          </p:cNvSpPr>
          <p:nvPr userDrawn="1">
            <p:ph type="ctrTitle" hasCustomPrompt="1"/>
          </p:nvPr>
        </p:nvSpPr>
        <p:spPr>
          <a:xfrm>
            <a:off x="980265" y="1136650"/>
            <a:ext cx="6786563" cy="2360716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  <a:endParaRPr lang="zh-CN" altLang="en-US" dirty="0"/>
          </a:p>
        </p:txBody>
      </p:sp>
      <p:sp>
        <p:nvSpPr>
          <p:cNvPr id="49" name="文本占位符 4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80268" y="5094264"/>
            <a:ext cx="53570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50" name="文本占位符 4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80268" y="5419205"/>
            <a:ext cx="53570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1" y="49530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671512" y="812165"/>
            <a:ext cx="12192000" cy="6858000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5787426" y="3142015"/>
            <a:ext cx="5419185" cy="895350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5787426" y="4114358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2" y="1130303"/>
            <a:ext cx="5348287" cy="500697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half" idx="13"/>
          </p:nvPr>
        </p:nvSpPr>
        <p:spPr>
          <a:xfrm>
            <a:off x="669927" y="1130303"/>
            <a:ext cx="5348287" cy="500697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2026/7/10</a:t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1516" y="1685956"/>
            <a:ext cx="5326061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28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2026/7/10</a:t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5183190" y="1130303"/>
            <a:ext cx="6337300" cy="50069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/>
              <a:t>Picture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69925" y="1138238"/>
            <a:ext cx="4282323" cy="49990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2026/7/10</a:t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10599" y="1130300"/>
            <a:ext cx="2909888" cy="5006974"/>
          </a:xfrm>
        </p:spPr>
        <p:txBody>
          <a:bodyPr vert="eaVert">
            <a:normAutofit/>
          </a:bodyPr>
          <a:lstStyle>
            <a:lvl1pPr>
              <a:defRPr sz="2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8" y="1130304"/>
            <a:ext cx="7795065" cy="50069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2026/7/10</a:t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1" y="495300"/>
            <a:ext cx="12192000" cy="6858000"/>
          </a:xfrm>
          <a:prstGeom prst="rect">
            <a:avLst/>
          </a:prstGeom>
        </p:spPr>
      </p:pic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1454399" y="1396013"/>
            <a:ext cx="5426076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7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451003" y="3511749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451003" y="3215478"/>
            <a:ext cx="542607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/>
          <p:cNvSpPr>
            <a:spLocks noGrp="1"/>
          </p:cNvSpPr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/>
          <a:lstStyle/>
          <a:p>
            <a:fld id="{B89795D8-7546-4F97-9E86-55CD1BFC3EF2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4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23953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5401732" y="6240467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</p:nvPr>
        </p:nvSpPr>
        <p:spPr>
          <a:xfrm>
            <a:off x="669926" y="6240467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</p:nvPr>
        </p:nvSpPr>
        <p:spPr>
          <a:xfrm>
            <a:off x="8610599" y="6240467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3C8F8-1B0D-C37B-42F9-27106A5D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>
            <a:extLst>
              <a:ext uri="{FF2B5EF4-FFF2-40B4-BE49-F238E27FC236}">
                <a16:creationId xmlns:a16="http://schemas.microsoft.com/office/drawing/2014/main" id="{449EA279-55E5-ACBF-25A1-320BFF806C9D}"/>
              </a:ext>
            </a:extLst>
          </p:cNvPr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7" name="标题 29">
            <a:extLst>
              <a:ext uri="{FF2B5EF4-FFF2-40B4-BE49-F238E27FC236}">
                <a16:creationId xmlns:a16="http://schemas.microsoft.com/office/drawing/2014/main" id="{2C27025A-1B3F-3136-F271-923BDEAA3173}"/>
              </a:ext>
            </a:extLst>
          </p:cNvPr>
          <p:cNvSpPr txBox="1"/>
          <p:nvPr/>
        </p:nvSpPr>
        <p:spPr>
          <a:xfrm>
            <a:off x="859214" y="12227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8" name="标题 29">
            <a:extLst>
              <a:ext uri="{FF2B5EF4-FFF2-40B4-BE49-F238E27FC236}">
                <a16:creationId xmlns:a16="http://schemas.microsoft.com/office/drawing/2014/main" id="{20A3D51E-0D75-8144-E68C-F84ADC08D4F2}"/>
              </a:ext>
            </a:extLst>
          </p:cNvPr>
          <p:cNvSpPr txBox="1"/>
          <p:nvPr/>
        </p:nvSpPr>
        <p:spPr>
          <a:xfrm>
            <a:off x="1360529" y="1860884"/>
            <a:ext cx="5718451" cy="11947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2000" b="0" dirty="0">
              <a:latin typeface="+mj-ea"/>
            </a:endParaRPr>
          </a:p>
        </p:txBody>
      </p:sp>
      <p:sp>
        <p:nvSpPr>
          <p:cNvPr id="9" name="标题 29">
            <a:extLst>
              <a:ext uri="{FF2B5EF4-FFF2-40B4-BE49-F238E27FC236}">
                <a16:creationId xmlns:a16="http://schemas.microsoft.com/office/drawing/2014/main" id="{9F8B284E-7582-D033-D6B7-1B0C2F7E88F3}"/>
              </a:ext>
            </a:extLst>
          </p:cNvPr>
          <p:cNvSpPr txBox="1"/>
          <p:nvPr/>
        </p:nvSpPr>
        <p:spPr>
          <a:xfrm>
            <a:off x="859213" y="3427245"/>
            <a:ext cx="3315746" cy="5075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0" name="标题 29">
            <a:extLst>
              <a:ext uri="{FF2B5EF4-FFF2-40B4-BE49-F238E27FC236}">
                <a16:creationId xmlns:a16="http://schemas.microsoft.com/office/drawing/2014/main" id="{B2F0AF22-739D-C042-2332-FF4306E86F91}"/>
              </a:ext>
            </a:extLst>
          </p:cNvPr>
          <p:cNvSpPr txBox="1"/>
          <p:nvPr/>
        </p:nvSpPr>
        <p:spPr>
          <a:xfrm>
            <a:off x="1360529" y="4065415"/>
            <a:ext cx="6255461" cy="188544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2000" b="0" dirty="0">
              <a:latin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65E85C-7C5F-139D-D03D-F8D99B4BC515}"/>
              </a:ext>
            </a:extLst>
          </p:cNvPr>
          <p:cNvSpPr txBox="1"/>
          <p:nvPr/>
        </p:nvSpPr>
        <p:spPr>
          <a:xfrm>
            <a:off x="2891116" y="2640121"/>
            <a:ext cx="6409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dirty="0">
                <a:latin typeface="+mn-lt"/>
                <a:ea typeface="+mn-ea"/>
                <a:cs typeface="+mn-ea"/>
                <a:sym typeface="+mn-lt"/>
              </a:rPr>
              <a:t>编译技术实验专题报告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56591E-115E-6D81-B374-AEA6518C9F83}"/>
              </a:ext>
            </a:extLst>
          </p:cNvPr>
          <p:cNvSpPr txBox="1"/>
          <p:nvPr/>
        </p:nvSpPr>
        <p:spPr>
          <a:xfrm>
            <a:off x="6765215" y="4065415"/>
            <a:ext cx="52923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——</a:t>
            </a:r>
            <a:r>
              <a:rPr lang="zh-CN" altLang="en-US" sz="2800" dirty="0">
                <a:cs typeface="+mn-ea"/>
                <a:sym typeface="+mn-lt"/>
              </a:rPr>
              <a:t>编译器总体框架与词法分析</a:t>
            </a:r>
            <a:endParaRPr lang="en-US" altLang="zh-CN" sz="2800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159167-53DC-1C8F-270C-58F86E40D776}"/>
              </a:ext>
            </a:extLst>
          </p:cNvPr>
          <p:cNvSpPr txBox="1"/>
          <p:nvPr/>
        </p:nvSpPr>
        <p:spPr>
          <a:xfrm>
            <a:off x="5585278" y="5550751"/>
            <a:ext cx="10214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latin typeface="+mn-ea"/>
                <a:cs typeface="+mn-ea"/>
                <a:sym typeface="+mn-lt"/>
              </a:rPr>
              <a:t>戈得戎</a:t>
            </a:r>
            <a:endParaRPr lang="en-US" altLang="zh-CN" sz="2000" dirty="0">
              <a:latin typeface="+mn-ea"/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0285F3-FDAE-9629-3EB7-F43B1721A8D4}"/>
              </a:ext>
            </a:extLst>
          </p:cNvPr>
          <p:cNvSpPr txBox="1"/>
          <p:nvPr/>
        </p:nvSpPr>
        <p:spPr>
          <a:xfrm>
            <a:off x="5307106" y="5950861"/>
            <a:ext cx="14581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000" dirty="0">
                <a:latin typeface="+mn-ea"/>
              </a:rPr>
              <a:t>2026.7.10</a:t>
            </a:r>
            <a:endParaRPr lang="zh-CN" altLang="en-US" sz="2000" dirty="0">
              <a:latin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300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4"/>
            <a:ext cx="10850563" cy="10286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编译器整体架构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882906" y="3231373"/>
            <a:ext cx="1487851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词法分析器</a:t>
            </a:r>
            <a:endParaRPr lang="en-US" altLang="zh-CN" dirty="0"/>
          </a:p>
          <a:p>
            <a:pPr algn="ctr"/>
            <a:r>
              <a:rPr lang="en-US" altLang="zh-CN" dirty="0"/>
              <a:t>Lexer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086271" y="3231373"/>
            <a:ext cx="1455939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语法分析器</a:t>
            </a:r>
            <a:endParaRPr lang="en-US" altLang="zh-CN" dirty="0"/>
          </a:p>
          <a:p>
            <a:pPr algn="ctr"/>
            <a:r>
              <a:rPr lang="en-US" altLang="zh-CN" dirty="0"/>
              <a:t>Parser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306420" y="3228118"/>
            <a:ext cx="1455939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语义分析器</a:t>
            </a:r>
            <a:endParaRPr lang="en-US" altLang="zh-CN" dirty="0"/>
          </a:p>
          <a:p>
            <a:pPr algn="ctr"/>
            <a:r>
              <a:rPr lang="en-US" altLang="zh-CN" dirty="0"/>
              <a:t>Visitor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558418" y="4534628"/>
            <a:ext cx="1455939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优化器</a:t>
            </a:r>
            <a:endParaRPr lang="en-US" altLang="zh-CN" dirty="0"/>
          </a:p>
          <a:p>
            <a:pPr algn="ctr"/>
            <a:r>
              <a:rPr lang="en-US" altLang="zh-CN" dirty="0"/>
              <a:t>Optimizer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65941" y="3275169"/>
            <a:ext cx="1640895" cy="488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中间代码容器</a:t>
            </a:r>
          </a:p>
        </p:txBody>
      </p:sp>
      <p:sp>
        <p:nvSpPr>
          <p:cNvPr id="17" name="矩形 16"/>
          <p:cNvSpPr/>
          <p:nvPr/>
        </p:nvSpPr>
        <p:spPr>
          <a:xfrm>
            <a:off x="9370918" y="3228118"/>
            <a:ext cx="1640895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目标翻译器</a:t>
            </a:r>
            <a:endParaRPr lang="en-US" altLang="zh-CN" dirty="0"/>
          </a:p>
          <a:p>
            <a:pPr algn="ctr"/>
            <a:r>
              <a:rPr lang="en-US" altLang="zh-CN" dirty="0"/>
              <a:t>Translator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350673" y="2052096"/>
            <a:ext cx="1871430" cy="604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解释执行程序</a:t>
            </a:r>
            <a:endParaRPr lang="en-US" altLang="zh-CN" dirty="0"/>
          </a:p>
          <a:p>
            <a:pPr algn="ctr"/>
            <a:r>
              <a:rPr lang="en-US" altLang="zh-CN" dirty="0"/>
              <a:t>Virtual Machine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5" idx="3"/>
            <a:endCxn id="6" idx="1"/>
          </p:cNvCxnSpPr>
          <p:nvPr/>
        </p:nvCxnSpPr>
        <p:spPr>
          <a:xfrm>
            <a:off x="2370757" y="3522561"/>
            <a:ext cx="715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2343063" y="317034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cxnSp>
        <p:nvCxnSpPr>
          <p:cNvPr id="25" name="直接箭头连接符 24"/>
          <p:cNvCxnSpPr>
            <a:stCxn id="6" idx="3"/>
            <a:endCxn id="13" idx="1"/>
          </p:cNvCxnSpPr>
          <p:nvPr/>
        </p:nvCxnSpPr>
        <p:spPr>
          <a:xfrm flipV="1">
            <a:off x="4542210" y="3519306"/>
            <a:ext cx="764210" cy="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13" idx="3"/>
            <a:endCxn id="15" idx="1"/>
          </p:cNvCxnSpPr>
          <p:nvPr/>
        </p:nvCxnSpPr>
        <p:spPr>
          <a:xfrm flipV="1">
            <a:off x="6762359" y="3519305"/>
            <a:ext cx="7035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15" idx="3"/>
            <a:endCxn id="17" idx="1"/>
          </p:cNvCxnSpPr>
          <p:nvPr/>
        </p:nvCxnSpPr>
        <p:spPr>
          <a:xfrm>
            <a:off x="9106836" y="3519305"/>
            <a:ext cx="2640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4485734" y="312231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语法树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6625611" y="285878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中间代码</a:t>
            </a:r>
          </a:p>
        </p:txBody>
      </p:sp>
      <p:cxnSp>
        <p:nvCxnSpPr>
          <p:cNvPr id="63" name="直接箭头连接符 62"/>
          <p:cNvCxnSpPr>
            <a:stCxn id="15" idx="0"/>
            <a:endCxn id="18" idx="2"/>
          </p:cNvCxnSpPr>
          <p:nvPr/>
        </p:nvCxnSpPr>
        <p:spPr>
          <a:xfrm flipH="1" flipV="1">
            <a:off x="8286388" y="2656605"/>
            <a:ext cx="1" cy="61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18" idx="0"/>
          </p:cNvCxnSpPr>
          <p:nvPr/>
        </p:nvCxnSpPr>
        <p:spPr>
          <a:xfrm flipV="1">
            <a:off x="8286388" y="1554480"/>
            <a:ext cx="0" cy="497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652443" y="113134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解释执行结果</a:t>
            </a:r>
          </a:p>
        </p:txBody>
      </p:sp>
      <p:cxnSp>
        <p:nvCxnSpPr>
          <p:cNvPr id="71" name="直接箭头连接符 70"/>
          <p:cNvCxnSpPr>
            <a:stCxn id="14" idx="0"/>
            <a:endCxn id="15" idx="2"/>
          </p:cNvCxnSpPr>
          <p:nvPr/>
        </p:nvCxnSpPr>
        <p:spPr>
          <a:xfrm flipV="1">
            <a:off x="8286388" y="3763440"/>
            <a:ext cx="1" cy="771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6850730" y="397531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中间代码优化</a:t>
            </a:r>
          </a:p>
        </p:txBody>
      </p:sp>
      <p:cxnSp>
        <p:nvCxnSpPr>
          <p:cNvPr id="76" name="直接箭头连接符 75"/>
          <p:cNvCxnSpPr>
            <a:stCxn id="17" idx="3"/>
          </p:cNvCxnSpPr>
          <p:nvPr/>
        </p:nvCxnSpPr>
        <p:spPr>
          <a:xfrm flipV="1">
            <a:off x="11011813" y="3519304"/>
            <a:ext cx="41818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11048563" y="31109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目标代码</a:t>
            </a:r>
          </a:p>
        </p:txBody>
      </p:sp>
      <p:sp>
        <p:nvSpPr>
          <p:cNvPr id="80" name="矩形 79"/>
          <p:cNvSpPr/>
          <p:nvPr/>
        </p:nvSpPr>
        <p:spPr>
          <a:xfrm>
            <a:off x="5037457" y="4534628"/>
            <a:ext cx="1985551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符号表管理</a:t>
            </a:r>
            <a:r>
              <a:rPr lang="en-US" altLang="zh-CN" dirty="0"/>
              <a:t>Symbol Manager</a:t>
            </a:r>
            <a:endParaRPr lang="zh-CN" altLang="en-US" dirty="0"/>
          </a:p>
        </p:txBody>
      </p:sp>
      <p:cxnSp>
        <p:nvCxnSpPr>
          <p:cNvPr id="82" name="直接箭头连接符 81"/>
          <p:cNvCxnSpPr>
            <a:stCxn id="80" idx="0"/>
            <a:endCxn id="13" idx="2"/>
          </p:cNvCxnSpPr>
          <p:nvPr/>
        </p:nvCxnSpPr>
        <p:spPr>
          <a:xfrm flipV="1">
            <a:off x="6030233" y="3810493"/>
            <a:ext cx="4157" cy="724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900189" y="40017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符号信息</a:t>
            </a:r>
          </a:p>
        </p:txBody>
      </p:sp>
      <p:sp>
        <p:nvSpPr>
          <p:cNvPr id="91" name="矩形 90"/>
          <p:cNvSpPr/>
          <p:nvPr/>
        </p:nvSpPr>
        <p:spPr>
          <a:xfrm>
            <a:off x="9166601" y="4543309"/>
            <a:ext cx="1985551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存储管理</a:t>
            </a:r>
            <a:endParaRPr lang="en-US" altLang="zh-CN" dirty="0"/>
          </a:p>
          <a:p>
            <a:pPr algn="ctr"/>
            <a:r>
              <a:rPr lang="en-US" altLang="zh-CN" dirty="0"/>
              <a:t>Activity Record</a:t>
            </a:r>
            <a:endParaRPr lang="zh-CN" altLang="en-US" dirty="0"/>
          </a:p>
        </p:txBody>
      </p:sp>
      <p:cxnSp>
        <p:nvCxnSpPr>
          <p:cNvPr id="92" name="直接箭头连接符 91"/>
          <p:cNvCxnSpPr>
            <a:stCxn id="91" idx="0"/>
          </p:cNvCxnSpPr>
          <p:nvPr/>
        </p:nvCxnSpPr>
        <p:spPr>
          <a:xfrm flipV="1">
            <a:off x="10159377" y="3819174"/>
            <a:ext cx="4157" cy="724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9023999" y="39965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存储信息</a:t>
            </a:r>
          </a:p>
        </p:txBody>
      </p:sp>
      <p:cxnSp>
        <p:nvCxnSpPr>
          <p:cNvPr id="97" name="直接箭头连接符 96"/>
          <p:cNvCxnSpPr/>
          <p:nvPr/>
        </p:nvCxnSpPr>
        <p:spPr>
          <a:xfrm>
            <a:off x="1076960" y="5892800"/>
            <a:ext cx="34087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2156817" y="5982201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前端 </a:t>
            </a:r>
            <a:r>
              <a:rPr lang="en-US" altLang="zh-CN" dirty="0"/>
              <a:t>Front</a:t>
            </a:r>
            <a:endParaRPr lang="zh-CN" altLang="en-US" dirty="0"/>
          </a:p>
        </p:txBody>
      </p:sp>
      <p:cxnSp>
        <p:nvCxnSpPr>
          <p:cNvPr id="100" name="直接箭头连接符 99"/>
          <p:cNvCxnSpPr/>
          <p:nvPr/>
        </p:nvCxnSpPr>
        <p:spPr>
          <a:xfrm>
            <a:off x="5318621" y="5892800"/>
            <a:ext cx="34087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6327946" y="5982201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中端 </a:t>
            </a:r>
            <a:r>
              <a:rPr lang="en-US" altLang="zh-CN" dirty="0"/>
              <a:t>Middle</a:t>
            </a:r>
            <a:endParaRPr lang="zh-CN" altLang="en-US" dirty="0"/>
          </a:p>
        </p:txBody>
      </p:sp>
      <p:cxnSp>
        <p:nvCxnSpPr>
          <p:cNvPr id="102" name="直接箭头连接符 101"/>
          <p:cNvCxnSpPr/>
          <p:nvPr/>
        </p:nvCxnSpPr>
        <p:spPr>
          <a:xfrm>
            <a:off x="9222103" y="5916584"/>
            <a:ext cx="220789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9788401" y="5982201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后端 </a:t>
            </a:r>
            <a:r>
              <a:rPr lang="en-US" altLang="zh-CN" dirty="0"/>
              <a:t>Back</a:t>
            </a:r>
            <a:endParaRPr lang="zh-CN" altLang="en-US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4" grpId="0"/>
      <p:bldP spid="61" grpId="0"/>
      <p:bldP spid="62" grpId="0"/>
      <p:bldP spid="70" grpId="0"/>
      <p:bldP spid="74" grpId="0"/>
      <p:bldP spid="79" grpId="0"/>
      <p:bldP spid="80" grpId="0" animBg="1"/>
      <p:bldP spid="85" grpId="0"/>
      <p:bldP spid="91" grpId="0" animBg="1"/>
      <p:bldP spid="93" grpId="0"/>
      <p:bldP spid="99" grpId="0"/>
      <p:bldP spid="101" grpId="0"/>
      <p:bldP spid="10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4"/>
            <a:ext cx="10850563" cy="10286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编译器整体架构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882906" y="3231373"/>
            <a:ext cx="1487851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词法分析器</a:t>
            </a:r>
            <a:endParaRPr lang="en-US" altLang="zh-CN" dirty="0"/>
          </a:p>
          <a:p>
            <a:pPr algn="ctr"/>
            <a:r>
              <a:rPr lang="en-US" altLang="zh-CN" dirty="0" err="1"/>
              <a:t>Lexer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086271" y="3231373"/>
            <a:ext cx="1455939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语法分析器</a:t>
            </a:r>
            <a:endParaRPr lang="en-US" altLang="zh-CN" dirty="0"/>
          </a:p>
          <a:p>
            <a:pPr algn="ctr"/>
            <a:r>
              <a:rPr lang="en-US" altLang="zh-CN" dirty="0"/>
              <a:t>Parser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306420" y="3228118"/>
            <a:ext cx="1455939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语义分析器</a:t>
            </a:r>
            <a:endParaRPr lang="en-US" altLang="zh-CN" dirty="0"/>
          </a:p>
          <a:p>
            <a:pPr algn="ctr"/>
            <a:r>
              <a:rPr lang="en-US" altLang="zh-CN" dirty="0"/>
              <a:t>Visitor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558418" y="4534628"/>
            <a:ext cx="1455939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优化器</a:t>
            </a:r>
            <a:endParaRPr lang="en-US" altLang="zh-CN" dirty="0"/>
          </a:p>
          <a:p>
            <a:pPr algn="ctr"/>
            <a:r>
              <a:rPr lang="en-US" altLang="zh-CN" dirty="0"/>
              <a:t>Optimizer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65941" y="3275169"/>
            <a:ext cx="1640895" cy="488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中间代码容器</a:t>
            </a:r>
          </a:p>
        </p:txBody>
      </p:sp>
      <p:sp>
        <p:nvSpPr>
          <p:cNvPr id="17" name="矩形 16"/>
          <p:cNvSpPr/>
          <p:nvPr/>
        </p:nvSpPr>
        <p:spPr>
          <a:xfrm>
            <a:off x="9370918" y="3228118"/>
            <a:ext cx="1640895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目标翻译器</a:t>
            </a:r>
            <a:endParaRPr lang="en-US" altLang="zh-CN" dirty="0"/>
          </a:p>
          <a:p>
            <a:pPr algn="ctr"/>
            <a:r>
              <a:rPr lang="en-US" altLang="zh-CN" dirty="0"/>
              <a:t>Translator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350673" y="2052096"/>
            <a:ext cx="1871430" cy="604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解释执行程序</a:t>
            </a:r>
            <a:endParaRPr lang="en-US" altLang="zh-CN" dirty="0"/>
          </a:p>
          <a:p>
            <a:pPr algn="ctr"/>
            <a:r>
              <a:rPr lang="en-US" altLang="zh-CN" dirty="0"/>
              <a:t>Virtual Machine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5" idx="3"/>
            <a:endCxn id="6" idx="1"/>
          </p:cNvCxnSpPr>
          <p:nvPr/>
        </p:nvCxnSpPr>
        <p:spPr>
          <a:xfrm>
            <a:off x="2370757" y="3522561"/>
            <a:ext cx="715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6" idx="3"/>
            <a:endCxn id="13" idx="1"/>
          </p:cNvCxnSpPr>
          <p:nvPr/>
        </p:nvCxnSpPr>
        <p:spPr>
          <a:xfrm flipV="1">
            <a:off x="4542210" y="3519306"/>
            <a:ext cx="764210" cy="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13" idx="3"/>
            <a:endCxn id="15" idx="1"/>
          </p:cNvCxnSpPr>
          <p:nvPr/>
        </p:nvCxnSpPr>
        <p:spPr>
          <a:xfrm flipV="1">
            <a:off x="6762359" y="3519305"/>
            <a:ext cx="7035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15" idx="3"/>
            <a:endCxn id="17" idx="1"/>
          </p:cNvCxnSpPr>
          <p:nvPr/>
        </p:nvCxnSpPr>
        <p:spPr>
          <a:xfrm>
            <a:off x="9106836" y="3519305"/>
            <a:ext cx="2640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15" idx="0"/>
            <a:endCxn id="18" idx="2"/>
          </p:cNvCxnSpPr>
          <p:nvPr/>
        </p:nvCxnSpPr>
        <p:spPr>
          <a:xfrm flipH="1" flipV="1">
            <a:off x="8286388" y="2656605"/>
            <a:ext cx="1" cy="61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18" idx="0"/>
          </p:cNvCxnSpPr>
          <p:nvPr/>
        </p:nvCxnSpPr>
        <p:spPr>
          <a:xfrm flipV="1">
            <a:off x="8286388" y="1554480"/>
            <a:ext cx="0" cy="497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14" idx="0"/>
            <a:endCxn id="15" idx="2"/>
          </p:cNvCxnSpPr>
          <p:nvPr/>
        </p:nvCxnSpPr>
        <p:spPr>
          <a:xfrm flipV="1">
            <a:off x="8286388" y="3763440"/>
            <a:ext cx="1" cy="771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17" idx="3"/>
          </p:cNvCxnSpPr>
          <p:nvPr/>
        </p:nvCxnSpPr>
        <p:spPr>
          <a:xfrm flipV="1">
            <a:off x="11011813" y="3519304"/>
            <a:ext cx="41818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5037457" y="4534628"/>
            <a:ext cx="1985551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符号表管理</a:t>
            </a:r>
            <a:r>
              <a:rPr lang="en-US" altLang="zh-CN" dirty="0"/>
              <a:t>Symbol Manager</a:t>
            </a:r>
            <a:endParaRPr lang="zh-CN" altLang="en-US" dirty="0"/>
          </a:p>
        </p:txBody>
      </p:sp>
      <p:cxnSp>
        <p:nvCxnSpPr>
          <p:cNvPr id="82" name="直接箭头连接符 81"/>
          <p:cNvCxnSpPr>
            <a:stCxn id="80" idx="0"/>
            <a:endCxn id="13" idx="2"/>
          </p:cNvCxnSpPr>
          <p:nvPr/>
        </p:nvCxnSpPr>
        <p:spPr>
          <a:xfrm flipV="1">
            <a:off x="6030233" y="3810493"/>
            <a:ext cx="4157" cy="724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9166601" y="4543309"/>
            <a:ext cx="1985551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存储管理</a:t>
            </a:r>
            <a:endParaRPr lang="en-US" altLang="zh-CN" dirty="0"/>
          </a:p>
          <a:p>
            <a:pPr algn="ctr"/>
            <a:r>
              <a:rPr lang="en-US" altLang="zh-CN" dirty="0"/>
              <a:t>Activity Record</a:t>
            </a:r>
            <a:endParaRPr lang="zh-CN" altLang="en-US" dirty="0"/>
          </a:p>
        </p:txBody>
      </p:sp>
      <p:cxnSp>
        <p:nvCxnSpPr>
          <p:cNvPr id="92" name="直接箭头连接符 91"/>
          <p:cNvCxnSpPr>
            <a:stCxn id="91" idx="0"/>
          </p:cNvCxnSpPr>
          <p:nvPr/>
        </p:nvCxnSpPr>
        <p:spPr>
          <a:xfrm flipV="1">
            <a:off x="10159377" y="3819174"/>
            <a:ext cx="4157" cy="724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670718" y="2915920"/>
            <a:ext cx="1905765" cy="11582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4672" y="2519649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1 </a:t>
            </a:r>
            <a:r>
              <a:rPr lang="zh-CN" altLang="en-US" dirty="0">
                <a:solidFill>
                  <a:srgbClr val="FF0000"/>
                </a:solidFill>
              </a:rPr>
              <a:t>词法分析</a:t>
            </a:r>
          </a:p>
        </p:txBody>
      </p:sp>
      <p:sp>
        <p:nvSpPr>
          <p:cNvPr id="7" name="椭圆 6"/>
          <p:cNvSpPr/>
          <p:nvPr/>
        </p:nvSpPr>
        <p:spPr>
          <a:xfrm>
            <a:off x="2855587" y="2940184"/>
            <a:ext cx="1905765" cy="11582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892521" y="2513402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2 </a:t>
            </a:r>
            <a:r>
              <a:rPr lang="zh-CN" altLang="en-US" dirty="0">
                <a:solidFill>
                  <a:srgbClr val="FF0000"/>
                </a:solidFill>
              </a:rPr>
              <a:t>语法分析</a:t>
            </a:r>
          </a:p>
        </p:txBody>
      </p:sp>
      <p:sp>
        <p:nvSpPr>
          <p:cNvPr id="9" name="椭圆 8"/>
          <p:cNvSpPr/>
          <p:nvPr/>
        </p:nvSpPr>
        <p:spPr>
          <a:xfrm>
            <a:off x="4761352" y="2773680"/>
            <a:ext cx="2536418" cy="29870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21597" y="2347626"/>
            <a:ext cx="1744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3 </a:t>
            </a:r>
            <a:r>
              <a:rPr lang="zh-CN" altLang="en-US" dirty="0">
                <a:solidFill>
                  <a:srgbClr val="FF0000"/>
                </a:solidFill>
              </a:rPr>
              <a:t>语义分析</a:t>
            </a:r>
          </a:p>
        </p:txBody>
      </p:sp>
      <p:sp>
        <p:nvSpPr>
          <p:cNvPr id="11" name="椭圆 10"/>
          <p:cNvSpPr/>
          <p:nvPr/>
        </p:nvSpPr>
        <p:spPr>
          <a:xfrm>
            <a:off x="7297770" y="2913245"/>
            <a:ext cx="4011325" cy="185598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752494" y="2543913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4.1 MIPS</a:t>
            </a:r>
            <a:r>
              <a:rPr lang="zh-CN" altLang="en-US" dirty="0">
                <a:solidFill>
                  <a:srgbClr val="FF0000"/>
                </a:solidFill>
              </a:rPr>
              <a:t>代码生成</a:t>
            </a:r>
          </a:p>
        </p:txBody>
      </p:sp>
      <p:sp>
        <p:nvSpPr>
          <p:cNvPr id="16" name="椭圆 15"/>
          <p:cNvSpPr/>
          <p:nvPr/>
        </p:nvSpPr>
        <p:spPr>
          <a:xfrm>
            <a:off x="6982969" y="1756484"/>
            <a:ext cx="2658872" cy="11158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762359" y="888078"/>
            <a:ext cx="3833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4.2 PCODE</a:t>
            </a:r>
            <a:r>
              <a:rPr lang="zh-CN" altLang="en-US" dirty="0">
                <a:solidFill>
                  <a:srgbClr val="FF0000"/>
                </a:solidFill>
              </a:rPr>
              <a:t>代码生成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解释执行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4.3 LLVM</a:t>
            </a:r>
            <a:r>
              <a:rPr lang="zh-CN" altLang="en-US" dirty="0">
                <a:solidFill>
                  <a:srgbClr val="FF0000"/>
                </a:solidFill>
              </a:rPr>
              <a:t>代码生成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990368" y="5631935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（选做）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优化竞速</a:t>
            </a:r>
          </a:p>
        </p:txBody>
      </p:sp>
      <p:sp>
        <p:nvSpPr>
          <p:cNvPr id="21" name="椭圆 20"/>
          <p:cNvSpPr/>
          <p:nvPr/>
        </p:nvSpPr>
        <p:spPr>
          <a:xfrm>
            <a:off x="7297770" y="4248297"/>
            <a:ext cx="1924333" cy="127329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/>
      <p:bldP spid="3" grpId="1"/>
      <p:bldP spid="7" grpId="0" animBg="1"/>
      <p:bldP spid="7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 animBg="1"/>
      <p:bldP spid="11" grpId="1" animBg="1"/>
      <p:bldP spid="12" grpId="0"/>
      <p:bldP spid="12" grpId="1"/>
      <p:bldP spid="16" grpId="0" animBg="1"/>
      <p:bldP spid="16" grpId="1" animBg="1"/>
      <p:bldP spid="19" grpId="0"/>
      <p:bldP spid="19" grpId="1"/>
      <p:bldP spid="20" grpId="0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词法分析总体概述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222714"/>
            <a:ext cx="2750261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词法分析器功能</a:t>
            </a:r>
            <a:endParaRPr lang="en-US" sz="2400" dirty="0"/>
          </a:p>
        </p:txBody>
      </p:sp>
      <p:sp>
        <p:nvSpPr>
          <p:cNvPr id="3" name="标题 29"/>
          <p:cNvSpPr txBox="1"/>
          <p:nvPr/>
        </p:nvSpPr>
        <p:spPr>
          <a:xfrm>
            <a:off x="1369493" y="1940598"/>
            <a:ext cx="7568317" cy="10507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0" dirty="0">
                <a:latin typeface="+mj-ea"/>
              </a:rPr>
              <a:t>划分单词，并记录下每个</a:t>
            </a:r>
            <a:r>
              <a:rPr lang="en-US" altLang="zh-CN" sz="2000" b="0" dirty="0">
                <a:latin typeface="+mj-ea"/>
              </a:rPr>
              <a:t>token</a:t>
            </a:r>
            <a:r>
              <a:rPr lang="zh-CN" altLang="en-US" sz="2000" b="0" dirty="0">
                <a:latin typeface="+mj-ea"/>
              </a:rPr>
              <a:t>类别、值与行号</a:t>
            </a:r>
            <a:endParaRPr lang="en-US" altLang="zh-CN" sz="2000" b="0" dirty="0">
              <a:latin typeface="+mj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0" dirty="0">
                <a:latin typeface="+mj-ea"/>
              </a:rPr>
              <a:t>删去空格字符与注释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915" y="3749841"/>
            <a:ext cx="6675495" cy="1885445"/>
          </a:xfrm>
          <a:prstGeom prst="rect">
            <a:avLst/>
          </a:prstGeom>
        </p:spPr>
      </p:pic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词法分析设计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类设计</a:t>
            </a:r>
            <a:endParaRPr lang="en-US" sz="2400" dirty="0"/>
          </a:p>
        </p:txBody>
      </p:sp>
      <p:sp>
        <p:nvSpPr>
          <p:cNvPr id="8" name="标题 29"/>
          <p:cNvSpPr txBox="1"/>
          <p:nvPr/>
        </p:nvSpPr>
        <p:spPr>
          <a:xfrm>
            <a:off x="1360529" y="1860884"/>
            <a:ext cx="5718451" cy="11947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Lexer</a:t>
            </a:r>
            <a:r>
              <a:rPr lang="zh-CN" altLang="en-US" sz="2000" b="0" dirty="0">
                <a:latin typeface="+mj-ea"/>
              </a:rPr>
              <a:t>：</a:t>
            </a:r>
            <a:r>
              <a:rPr lang="en-US" altLang="zh-CN" sz="2000" b="0" dirty="0">
                <a:latin typeface="+mj-ea"/>
              </a:rPr>
              <a:t> </a:t>
            </a:r>
            <a:r>
              <a:rPr lang="zh-CN" altLang="en-US" sz="2000" b="0" dirty="0">
                <a:latin typeface="+mj-ea"/>
              </a:rPr>
              <a:t>词法分析器类（单例模式）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+mj-ea"/>
              </a:rPr>
              <a:t>Token:</a:t>
            </a:r>
            <a:r>
              <a:rPr lang="zh-CN" altLang="en-US" sz="2000" b="0" dirty="0">
                <a:latin typeface="+mj-ea"/>
              </a:rPr>
              <a:t>   单词类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TokenType</a:t>
            </a:r>
            <a:r>
              <a:rPr lang="zh-CN" altLang="en-US" sz="2000" b="0" dirty="0">
                <a:latin typeface="+mj-ea"/>
              </a:rPr>
              <a:t>：</a:t>
            </a:r>
            <a:r>
              <a:rPr lang="en-US" altLang="zh-CN" sz="2000" b="0" dirty="0">
                <a:latin typeface="+mj-ea"/>
              </a:rPr>
              <a:t> </a:t>
            </a:r>
            <a:r>
              <a:rPr lang="zh-CN" altLang="en-US" sz="2000" b="0" dirty="0">
                <a:latin typeface="+mj-ea"/>
              </a:rPr>
              <a:t>单词类型枚举类</a:t>
            </a:r>
            <a:endParaRPr lang="en-US" sz="2000" b="0" dirty="0">
              <a:latin typeface="+mj-ea"/>
            </a:endParaRPr>
          </a:p>
        </p:txBody>
      </p:sp>
      <p:sp>
        <p:nvSpPr>
          <p:cNvPr id="9" name="标题 29"/>
          <p:cNvSpPr txBox="1"/>
          <p:nvPr/>
        </p:nvSpPr>
        <p:spPr>
          <a:xfrm>
            <a:off x="859214" y="3640029"/>
            <a:ext cx="3315746" cy="5075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词法分析器主要接口</a:t>
            </a:r>
            <a:endParaRPr lang="en-US" sz="2400" dirty="0"/>
          </a:p>
        </p:txBody>
      </p:sp>
      <p:sp>
        <p:nvSpPr>
          <p:cNvPr id="10" name="标题 29"/>
          <p:cNvSpPr txBox="1"/>
          <p:nvPr/>
        </p:nvSpPr>
        <p:spPr>
          <a:xfrm>
            <a:off x="1360529" y="4147609"/>
            <a:ext cx="6255461" cy="188544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b="0" dirty="0">
                <a:latin typeface="+mj-ea"/>
              </a:rPr>
              <a:t>next() </a:t>
            </a:r>
            <a:r>
              <a:rPr lang="zh-CN" altLang="en-US" sz="2000" b="0" dirty="0">
                <a:latin typeface="+mj-ea"/>
              </a:rPr>
              <a:t>处理下一个单词</a:t>
            </a:r>
            <a:endParaRPr lang="en-US" altLang="zh-CN" sz="2000" b="0" dirty="0">
              <a:latin typeface="+mj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b="0" dirty="0" err="1">
                <a:latin typeface="+mj-ea"/>
              </a:rPr>
              <a:t>getToken</a:t>
            </a:r>
            <a:r>
              <a:rPr lang="en-US" altLang="zh-CN" sz="2000" b="0" dirty="0">
                <a:latin typeface="+mj-ea"/>
              </a:rPr>
              <a:t>() </a:t>
            </a:r>
            <a:r>
              <a:rPr lang="zh-CN" altLang="en-US" sz="2000" b="0" dirty="0">
                <a:latin typeface="+mj-ea"/>
              </a:rPr>
              <a:t>获得读取的单词值</a:t>
            </a:r>
            <a:endParaRPr lang="en-US" altLang="zh-CN" sz="2000" b="0" dirty="0">
              <a:latin typeface="+mj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0" dirty="0" err="1">
                <a:latin typeface="+mj-ea"/>
              </a:rPr>
              <a:t>getTokenType</a:t>
            </a:r>
            <a:r>
              <a:rPr lang="en-US" sz="2000" b="0" dirty="0">
                <a:latin typeface="+mj-ea"/>
              </a:rPr>
              <a:t>()</a:t>
            </a:r>
            <a:r>
              <a:rPr lang="zh-CN" altLang="en-US" sz="2000" b="0" dirty="0">
                <a:latin typeface="+mj-ea"/>
              </a:rPr>
              <a:t> 获得读取的单词类型</a:t>
            </a:r>
            <a:endParaRPr lang="en-US" altLang="zh-CN" sz="2000" b="0" dirty="0">
              <a:latin typeface="+mj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b="0" dirty="0" err="1">
                <a:latin typeface="+mj-ea"/>
              </a:rPr>
              <a:t>getLineNum</a:t>
            </a:r>
            <a:r>
              <a:rPr lang="en-US" altLang="zh-CN" sz="2000" b="0" dirty="0">
                <a:latin typeface="+mj-ea"/>
              </a:rPr>
              <a:t>() </a:t>
            </a:r>
            <a:r>
              <a:rPr lang="zh-CN" altLang="en-US" sz="2000" b="0" dirty="0">
                <a:latin typeface="+mj-ea"/>
              </a:rPr>
              <a:t>获得读取单词所对应的行号</a:t>
            </a:r>
            <a:endParaRPr lang="en-US" sz="2000" b="0" dirty="0">
              <a:latin typeface="+mj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词法分析设计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词法分析器主要数据成员</a:t>
            </a:r>
            <a:endParaRPr lang="en-US" sz="2400" dirty="0"/>
          </a:p>
        </p:txBody>
      </p:sp>
      <p:sp>
        <p:nvSpPr>
          <p:cNvPr id="8" name="标题 29"/>
          <p:cNvSpPr txBox="1"/>
          <p:nvPr/>
        </p:nvSpPr>
        <p:spPr>
          <a:xfrm>
            <a:off x="1360530" y="1860884"/>
            <a:ext cx="4172169" cy="37744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+mj-ea"/>
              </a:rPr>
              <a:t>source</a:t>
            </a:r>
            <a:r>
              <a:rPr lang="zh-CN" altLang="en-US" sz="2000" b="0" dirty="0">
                <a:latin typeface="+mj-ea"/>
              </a:rPr>
              <a:t>：源程序字符串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curPos</a:t>
            </a:r>
            <a:r>
              <a:rPr lang="zh-CN" altLang="en-US" sz="2000" b="0" dirty="0">
                <a:latin typeface="+mj-ea"/>
              </a:rPr>
              <a:t>：当前字符串位置指针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+mj-ea"/>
              </a:rPr>
              <a:t>token</a:t>
            </a:r>
            <a:r>
              <a:rPr lang="zh-CN" altLang="en-US" sz="2000" b="0" dirty="0">
                <a:latin typeface="+mj-ea"/>
              </a:rPr>
              <a:t>：解析单词值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tokenType</a:t>
            </a:r>
            <a:r>
              <a:rPr lang="zh-CN" altLang="en-US" sz="2000" b="0" dirty="0">
                <a:latin typeface="+mj-ea"/>
              </a:rPr>
              <a:t>：解析单词类型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reserveWords</a:t>
            </a:r>
            <a:r>
              <a:rPr lang="zh-CN" altLang="en-US" sz="2000" b="0" dirty="0">
                <a:latin typeface="+mj-ea"/>
              </a:rPr>
              <a:t>：保留字表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lineNum</a:t>
            </a:r>
            <a:r>
              <a:rPr lang="zh-CN" altLang="en-US" sz="2000" b="0" dirty="0">
                <a:latin typeface="+mj-ea"/>
              </a:rPr>
              <a:t>：当前行号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+mj-ea"/>
              </a:rPr>
              <a:t>number</a:t>
            </a:r>
            <a:r>
              <a:rPr lang="zh-CN" altLang="en-US" sz="2000" b="0" dirty="0">
                <a:latin typeface="+mj-ea"/>
              </a:rPr>
              <a:t>：解析数值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0" dirty="0">
              <a:latin typeface="+mj-ea"/>
            </a:endParaRPr>
          </a:p>
        </p:txBody>
      </p:sp>
      <p:sp>
        <p:nvSpPr>
          <p:cNvPr id="5" name="标题 29"/>
          <p:cNvSpPr txBox="1"/>
          <p:nvPr/>
        </p:nvSpPr>
        <p:spPr>
          <a:xfrm>
            <a:off x="7578065" y="5835315"/>
            <a:ext cx="2538209" cy="497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词法分析器工作过程</a:t>
            </a:r>
            <a:endParaRPr lang="en-US" sz="2000" b="0" dirty="0">
              <a:latin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117" y="1100129"/>
            <a:ext cx="5279706" cy="465774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词法分析编码实现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词法分析器主要方法编程</a:t>
            </a:r>
            <a:endParaRPr lang="en-US" sz="2400" dirty="0"/>
          </a:p>
        </p:txBody>
      </p:sp>
      <p:sp>
        <p:nvSpPr>
          <p:cNvPr id="9" name="标题 29"/>
          <p:cNvSpPr txBox="1"/>
          <p:nvPr/>
        </p:nvSpPr>
        <p:spPr>
          <a:xfrm>
            <a:off x="1035410" y="1672389"/>
            <a:ext cx="4025609" cy="6628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next() </a:t>
            </a:r>
            <a:r>
              <a:rPr lang="zh-CN" altLang="en-US" sz="2000" b="0" dirty="0">
                <a:latin typeface="+mj-ea"/>
              </a:rPr>
              <a:t>模拟有限状态自动机</a:t>
            </a:r>
            <a:endParaRPr lang="en-US" sz="2000" b="0" dirty="0">
              <a:latin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61" y="3276601"/>
            <a:ext cx="5656705" cy="1246115"/>
          </a:xfrm>
          <a:prstGeom prst="rect">
            <a:avLst/>
          </a:prstGeom>
        </p:spPr>
      </p:pic>
      <p:sp>
        <p:nvSpPr>
          <p:cNvPr id="5" name="标题 29"/>
          <p:cNvSpPr txBox="1"/>
          <p:nvPr/>
        </p:nvSpPr>
        <p:spPr>
          <a:xfrm>
            <a:off x="1547742" y="4615135"/>
            <a:ext cx="2648552" cy="6628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b="0" dirty="0">
                <a:latin typeface="+mj-ea"/>
              </a:rPr>
              <a:t>识别标识符</a:t>
            </a:r>
            <a:r>
              <a:rPr lang="en-US" altLang="zh-CN" sz="1800" b="0" dirty="0">
                <a:latin typeface="+mj-ea"/>
              </a:rPr>
              <a:t>/</a:t>
            </a:r>
            <a:r>
              <a:rPr lang="zh-CN" altLang="en-US" sz="1800" b="0" dirty="0">
                <a:latin typeface="+mj-ea"/>
              </a:rPr>
              <a:t>关键字</a:t>
            </a:r>
            <a:endParaRPr lang="en-US" sz="1800" b="0" dirty="0">
              <a:latin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43015" y="1855611"/>
            <a:ext cx="5701255" cy="393569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if(</a:t>
            </a:r>
            <a:r>
              <a:rPr lang="en-US" altLang="zh-CN" sz="1400" dirty="0" err="1">
                <a:latin typeface="Consolas" panose="020B0609020204030204" pitchFamily="49" charset="0"/>
              </a:rPr>
              <a:t>isNonDigit</a:t>
            </a:r>
            <a:r>
              <a:rPr lang="en-US" altLang="zh-CN" sz="1400" dirty="0">
                <a:latin typeface="Consolas" panose="020B0609020204030204" pitchFamily="49" charset="0"/>
              </a:rPr>
              <a:t>(c)) {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标识符或保留字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token += c;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while(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(</a:t>
            </a:r>
            <a:r>
              <a:rPr lang="en-US" altLang="zh-CN" sz="1400" dirty="0" err="1">
                <a:latin typeface="Consolas" panose="020B0609020204030204" pitchFamily="49" charset="0"/>
              </a:rPr>
              <a:t>isNonDigit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)) || 	</a:t>
            </a:r>
            <a:r>
              <a:rPr lang="en-US" altLang="zh-CN" sz="1400" dirty="0" err="1">
                <a:latin typeface="Consolas" panose="020B0609020204030204" pitchFamily="49" charset="0"/>
              </a:rPr>
              <a:t>Character.isDigit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)))) {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	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下一个字符为数字或字母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	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      	token += c;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	}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	reserve();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查关键字表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	return 0;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词法分析编码实现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词法分析器主要方法编程</a:t>
            </a:r>
            <a:endParaRPr lang="en-US" sz="2400" dirty="0"/>
          </a:p>
        </p:txBody>
      </p:sp>
      <p:sp>
        <p:nvSpPr>
          <p:cNvPr id="9" name="标题 29"/>
          <p:cNvSpPr txBox="1"/>
          <p:nvPr/>
        </p:nvSpPr>
        <p:spPr>
          <a:xfrm>
            <a:off x="1035410" y="1672389"/>
            <a:ext cx="4025609" cy="6628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next() </a:t>
            </a:r>
            <a:r>
              <a:rPr lang="zh-CN" altLang="en-US" sz="2000" b="0" dirty="0">
                <a:latin typeface="+mj-ea"/>
              </a:rPr>
              <a:t>模拟有限状态自动机</a:t>
            </a:r>
            <a:endParaRPr lang="en-US" sz="2000" b="0" dirty="0">
              <a:latin typeface="+mj-ea"/>
            </a:endParaRPr>
          </a:p>
        </p:txBody>
      </p:sp>
      <p:sp>
        <p:nvSpPr>
          <p:cNvPr id="5" name="标题 29"/>
          <p:cNvSpPr txBox="1"/>
          <p:nvPr/>
        </p:nvSpPr>
        <p:spPr>
          <a:xfrm>
            <a:off x="1035410" y="2766104"/>
            <a:ext cx="4101366" cy="5598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b="0" dirty="0">
                <a:latin typeface="+mj-ea"/>
              </a:rPr>
              <a:t>根据单词成分特征确定对应的状态机</a:t>
            </a:r>
            <a:endParaRPr lang="en-US" sz="1800" b="0" dirty="0">
              <a:latin typeface="+mj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15548" y="1022685"/>
            <a:ext cx="5859414" cy="563231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i="1" dirty="0"/>
              <a:t>        </a:t>
            </a:r>
            <a:r>
              <a:rPr lang="zh-CN" altLang="zh-CN" i="1" dirty="0"/>
              <a:t>// 标识符和保留字</a:t>
            </a:r>
            <a:endParaRPr lang="zh-CN" altLang="zh-CN" dirty="0"/>
          </a:p>
          <a:p>
            <a:r>
              <a:rPr lang="zh-CN" altLang="zh-CN" dirty="0"/>
              <a:t>        if (isLetter(ch) || ch == '_') {</a:t>
            </a:r>
          </a:p>
          <a:p>
            <a:r>
              <a:rPr lang="zh-CN" altLang="zh-CN" dirty="0"/>
              <a:t>            readIdentifier();</a:t>
            </a:r>
          </a:p>
          <a:p>
            <a:r>
              <a:rPr lang="zh-CN" altLang="zh-CN" dirty="0"/>
              <a:t>        }</a:t>
            </a:r>
          </a:p>
          <a:p>
            <a:r>
              <a:rPr lang="zh-CN" altLang="zh-CN" dirty="0"/>
              <a:t>        </a:t>
            </a:r>
            <a:r>
              <a:rPr lang="zh-CN" altLang="zh-CN" i="1" dirty="0"/>
              <a:t>// 数字</a:t>
            </a:r>
            <a:endParaRPr lang="zh-CN" altLang="zh-CN" dirty="0"/>
          </a:p>
          <a:p>
            <a:r>
              <a:rPr lang="zh-CN" altLang="zh-CN" dirty="0"/>
              <a:t>        else if (isDigit(ch)) {</a:t>
            </a:r>
          </a:p>
          <a:p>
            <a:r>
              <a:rPr lang="zh-CN" altLang="zh-CN" dirty="0"/>
              <a:t>            readNumber();</a:t>
            </a:r>
          </a:p>
          <a:p>
            <a:r>
              <a:rPr lang="zh-CN" altLang="zh-CN" dirty="0"/>
              <a:t>        }</a:t>
            </a:r>
          </a:p>
          <a:p>
            <a:r>
              <a:rPr lang="zh-CN" altLang="zh-CN" dirty="0"/>
              <a:t>        </a:t>
            </a:r>
            <a:r>
              <a:rPr lang="zh-CN" altLang="zh-CN" i="1" dirty="0"/>
              <a:t>// 字符串</a:t>
            </a:r>
            <a:endParaRPr lang="zh-CN" altLang="zh-CN" dirty="0"/>
          </a:p>
          <a:p>
            <a:r>
              <a:rPr lang="zh-CN" altLang="zh-CN" dirty="0"/>
              <a:t>        else if (ch == '"') {</a:t>
            </a:r>
          </a:p>
          <a:p>
            <a:r>
              <a:rPr lang="zh-CN" altLang="zh-CN" dirty="0"/>
              <a:t>            readString();</a:t>
            </a:r>
          </a:p>
          <a:p>
            <a:r>
              <a:rPr lang="zh-CN" altLang="zh-CN" dirty="0"/>
              <a:t>        }</a:t>
            </a:r>
          </a:p>
          <a:p>
            <a:r>
              <a:rPr lang="zh-CN" altLang="zh-CN" dirty="0"/>
              <a:t>        </a:t>
            </a:r>
            <a:r>
              <a:rPr lang="zh-CN" altLang="zh-CN" i="1" dirty="0"/>
              <a:t>// 字符常量</a:t>
            </a:r>
            <a:endParaRPr lang="zh-CN" altLang="zh-CN" dirty="0"/>
          </a:p>
          <a:p>
            <a:r>
              <a:rPr lang="zh-CN" altLang="zh-CN" dirty="0"/>
              <a:t>        else if (ch == '\'') {</a:t>
            </a:r>
          </a:p>
          <a:p>
            <a:r>
              <a:rPr lang="zh-CN" altLang="zh-CN" dirty="0"/>
              <a:t>            readCharConst();</a:t>
            </a:r>
          </a:p>
          <a:p>
            <a:r>
              <a:rPr lang="zh-CN" altLang="zh-CN" dirty="0"/>
              <a:t>        }</a:t>
            </a:r>
          </a:p>
          <a:p>
            <a:r>
              <a:rPr lang="zh-CN" altLang="zh-CN" dirty="0"/>
              <a:t>        </a:t>
            </a:r>
            <a:r>
              <a:rPr lang="zh-CN" altLang="zh-CN" i="1" dirty="0"/>
              <a:t>// 符号</a:t>
            </a:r>
            <a:endParaRPr lang="zh-CN" altLang="zh-CN" dirty="0"/>
          </a:p>
          <a:p>
            <a:r>
              <a:rPr lang="zh-CN" altLang="zh-CN" dirty="0"/>
              <a:t>        else {</a:t>
            </a:r>
          </a:p>
          <a:p>
            <a:r>
              <a:rPr lang="zh-CN" altLang="zh-CN" dirty="0"/>
              <a:t>            readOp();</a:t>
            </a:r>
          </a:p>
          <a:p>
            <a:r>
              <a:rPr lang="zh-CN" altLang="zh-CN" dirty="0"/>
              <a:t>        }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词法分析难点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672389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注释处理</a:t>
            </a:r>
            <a:endParaRPr lang="en-US" sz="2400" dirty="0"/>
          </a:p>
        </p:txBody>
      </p:sp>
      <p:sp>
        <p:nvSpPr>
          <p:cNvPr id="9" name="标题 29"/>
          <p:cNvSpPr txBox="1"/>
          <p:nvPr/>
        </p:nvSpPr>
        <p:spPr>
          <a:xfrm>
            <a:off x="1035410" y="2122064"/>
            <a:ext cx="6271770" cy="15788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单行注释 </a:t>
            </a:r>
            <a:r>
              <a:rPr lang="en-US" altLang="zh-CN" sz="2000" b="0" dirty="0">
                <a:latin typeface="+mj-ea"/>
              </a:rPr>
              <a:t>   // this</a:t>
            </a:r>
            <a:r>
              <a:rPr lang="zh-CN" altLang="en-US" sz="2000" b="0" dirty="0">
                <a:latin typeface="+mj-ea"/>
              </a:rPr>
              <a:t> </a:t>
            </a:r>
            <a:r>
              <a:rPr lang="en-US" altLang="zh-CN" sz="2000" b="0" dirty="0">
                <a:latin typeface="+mj-ea"/>
              </a:rPr>
              <a:t>is</a:t>
            </a:r>
            <a:r>
              <a:rPr lang="zh-CN" altLang="en-US" sz="2000" b="0" dirty="0">
                <a:latin typeface="+mj-ea"/>
              </a:rPr>
              <a:t> </a:t>
            </a:r>
            <a:r>
              <a:rPr lang="en-US" altLang="zh-CN" sz="2000" b="0" dirty="0">
                <a:latin typeface="+mj-ea"/>
              </a:rPr>
              <a:t>a</a:t>
            </a:r>
            <a:r>
              <a:rPr lang="zh-CN" altLang="en-US" sz="2000" b="0" dirty="0">
                <a:latin typeface="+mj-ea"/>
              </a:rPr>
              <a:t> </a:t>
            </a:r>
            <a:r>
              <a:rPr lang="en-US" altLang="zh-CN" sz="2000" b="0" dirty="0">
                <a:latin typeface="+mj-ea"/>
              </a:rPr>
              <a:t>line of note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跨行注释    </a:t>
            </a:r>
            <a:r>
              <a:rPr lang="en-US" altLang="zh-CN" sz="2000" b="0" dirty="0">
                <a:latin typeface="+mj-ea"/>
              </a:rPr>
              <a:t>/* this is the first line of note</a:t>
            </a: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		this is the second line of note */</a:t>
            </a:r>
          </a:p>
        </p:txBody>
      </p:sp>
      <p:sp>
        <p:nvSpPr>
          <p:cNvPr id="2" name="标题 29"/>
          <p:cNvSpPr txBox="1"/>
          <p:nvPr/>
        </p:nvSpPr>
        <p:spPr>
          <a:xfrm>
            <a:off x="859214" y="33563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难点</a:t>
            </a:r>
            <a:endParaRPr lang="en-US" sz="2400" dirty="0"/>
          </a:p>
        </p:txBody>
      </p:sp>
      <p:sp>
        <p:nvSpPr>
          <p:cNvPr id="3" name="标题 29"/>
          <p:cNvSpPr txBox="1"/>
          <p:nvPr/>
        </p:nvSpPr>
        <p:spPr>
          <a:xfrm>
            <a:off x="1035410" y="3917251"/>
            <a:ext cx="5954670" cy="6649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注释符号与除号、乘号混合</a:t>
            </a:r>
            <a:endParaRPr lang="en-US" altLang="zh-CN" sz="2000" b="0" dirty="0">
              <a:latin typeface="+mj-ea"/>
            </a:endParaRPr>
          </a:p>
        </p:txBody>
      </p:sp>
      <p:sp>
        <p:nvSpPr>
          <p:cNvPr id="6" name="标题 29"/>
          <p:cNvSpPr txBox="1"/>
          <p:nvPr/>
        </p:nvSpPr>
        <p:spPr>
          <a:xfrm>
            <a:off x="1035410" y="4520702"/>
            <a:ext cx="5954670" cy="6649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单行注释与多行注释混合</a:t>
            </a:r>
            <a:endParaRPr lang="en-US" altLang="zh-CN" sz="2000" b="0" dirty="0">
              <a:latin typeface="+mj-ea"/>
            </a:endParaRPr>
          </a:p>
        </p:txBody>
      </p:sp>
      <p:sp>
        <p:nvSpPr>
          <p:cNvPr id="8" name="标题 29"/>
          <p:cNvSpPr txBox="1"/>
          <p:nvPr/>
        </p:nvSpPr>
        <p:spPr>
          <a:xfrm>
            <a:off x="1035410" y="5189029"/>
            <a:ext cx="3342641" cy="1200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altLang="zh-CN" sz="2000" b="0" dirty="0">
              <a:latin typeface="+mj-ea"/>
            </a:endParaRPr>
          </a:p>
        </p:txBody>
      </p:sp>
      <p:sp>
        <p:nvSpPr>
          <p:cNvPr id="5" name="标题 29"/>
          <p:cNvSpPr txBox="1"/>
          <p:nvPr/>
        </p:nvSpPr>
        <p:spPr>
          <a:xfrm>
            <a:off x="859213" y="1134640"/>
            <a:ext cx="4941511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编程实现复杂有限状态自动机</a:t>
            </a:r>
            <a:endParaRPr 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57E056-E2A2-DC92-4B96-6DCF5B3A11C9}"/>
              </a:ext>
            </a:extLst>
          </p:cNvPr>
          <p:cNvSpPr txBox="1"/>
          <p:nvPr/>
        </p:nvSpPr>
        <p:spPr>
          <a:xfrm>
            <a:off x="5514928" y="4150551"/>
            <a:ext cx="6096000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// /* </a:t>
            </a:r>
            <a:r>
              <a:rPr lang="zh-CN" altLang="en-US" sz="2000" b="0" dirty="0">
                <a:latin typeface="+mj-ea"/>
              </a:rPr>
              <a:t>这是单行注释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    // </a:t>
            </a:r>
            <a:r>
              <a:rPr lang="zh-CN" altLang="en-US" sz="2000" b="0" dirty="0">
                <a:latin typeface="+mj-ea"/>
              </a:rPr>
              <a:t>这是单行注释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/* </a:t>
            </a:r>
            <a:r>
              <a:rPr lang="zh-CN" altLang="en-US" sz="2000" b="0" dirty="0">
                <a:latin typeface="+mj-ea"/>
              </a:rPr>
              <a:t>这是多行注释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		</a:t>
            </a:r>
            <a:r>
              <a:rPr lang="zh-CN" altLang="en-US" sz="2000" b="0" dirty="0">
                <a:latin typeface="+mj-ea"/>
              </a:rPr>
              <a:t>这是多行注释</a:t>
            </a:r>
            <a:r>
              <a:rPr lang="en-US" altLang="zh-CN" sz="2000" b="0" dirty="0">
                <a:latin typeface="+mj-ea"/>
              </a:rPr>
              <a:t>*/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词法分析难点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931986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注释处理</a:t>
            </a:r>
            <a:r>
              <a:rPr lang="en-US" altLang="zh-CN" sz="2400" dirty="0"/>
              <a:t>——</a:t>
            </a:r>
            <a:r>
              <a:rPr lang="zh-CN" altLang="en-US" sz="2400" dirty="0"/>
              <a:t>复杂有限状态自动机</a:t>
            </a:r>
            <a:endParaRPr lang="en-US" sz="2400" dirty="0"/>
          </a:p>
        </p:txBody>
      </p:sp>
      <p:sp>
        <p:nvSpPr>
          <p:cNvPr id="5" name="椭圆 4"/>
          <p:cNvSpPr/>
          <p:nvPr/>
        </p:nvSpPr>
        <p:spPr>
          <a:xfrm>
            <a:off x="3784973" y="2567176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321980" y="2571521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109145" y="2567176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>
            <a:endCxn id="11" idx="2"/>
          </p:cNvCxnSpPr>
          <p:nvPr/>
        </p:nvCxnSpPr>
        <p:spPr>
          <a:xfrm>
            <a:off x="1657025" y="2993896"/>
            <a:ext cx="452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1" idx="6"/>
            <a:endCxn id="5" idx="2"/>
          </p:cNvCxnSpPr>
          <p:nvPr/>
        </p:nvCxnSpPr>
        <p:spPr>
          <a:xfrm>
            <a:off x="2977825" y="2993896"/>
            <a:ext cx="807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5" idx="6"/>
            <a:endCxn id="10" idx="2"/>
          </p:cNvCxnSpPr>
          <p:nvPr/>
        </p:nvCxnSpPr>
        <p:spPr>
          <a:xfrm>
            <a:off x="4653653" y="2993896"/>
            <a:ext cx="668327" cy="4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078200" y="2653258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472136" y="26245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起始</a:t>
            </a:r>
          </a:p>
        </p:txBody>
      </p:sp>
      <p:sp>
        <p:nvSpPr>
          <p:cNvPr id="18" name="对话气泡: 椭圆形 17"/>
          <p:cNvSpPr/>
          <p:nvPr/>
        </p:nvSpPr>
        <p:spPr>
          <a:xfrm>
            <a:off x="8449553" y="1743052"/>
            <a:ext cx="1231523" cy="754384"/>
          </a:xfrm>
          <a:prstGeom prst="wedgeEllipse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2384924" y="2806105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924" y="2806105"/>
                <a:ext cx="290401" cy="276999"/>
              </a:xfrm>
              <a:prstGeom prst="rect">
                <a:avLst/>
              </a:prstGeom>
              <a:blipFill rotWithShape="1">
                <a:blip r:embed="rId4"/>
                <a:stretch>
                  <a:fillRect l="-172" t="-14" r="-6317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4085057" y="2849360"/>
                <a:ext cx="2850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057" y="2849360"/>
                <a:ext cx="285078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36" t="-42" r="-7551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5632158" y="2811038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158" y="2811038"/>
                <a:ext cx="290401" cy="276999"/>
              </a:xfrm>
              <a:prstGeom prst="rect">
                <a:avLst/>
              </a:prstGeom>
              <a:blipFill rotWithShape="1">
                <a:blip r:embed="rId6"/>
                <a:stretch>
                  <a:fillRect l="-118" t="-191" r="-637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连接符: 曲线 21"/>
          <p:cNvCxnSpPr>
            <a:stCxn id="10" idx="6"/>
            <a:endCxn id="10" idx="0"/>
          </p:cNvCxnSpPr>
          <p:nvPr/>
        </p:nvCxnSpPr>
        <p:spPr>
          <a:xfrm flipH="1" flipV="1">
            <a:off x="5756320" y="2571521"/>
            <a:ext cx="434340" cy="426720"/>
          </a:xfrm>
          <a:prstGeom prst="curvedConnector4">
            <a:avLst>
              <a:gd name="adj1" fmla="val -89423"/>
              <a:gd name="adj2" fmla="val 1868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839438" y="26505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6360253" y="1847429"/>
            <a:ext cx="1338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非换行字符</a:t>
            </a:r>
          </a:p>
        </p:txBody>
      </p:sp>
      <p:sp>
        <p:nvSpPr>
          <p:cNvPr id="25" name="椭圆 24"/>
          <p:cNvSpPr/>
          <p:nvPr/>
        </p:nvSpPr>
        <p:spPr>
          <a:xfrm>
            <a:off x="8076827" y="2575560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6" name="直接箭头连接符 25"/>
          <p:cNvCxnSpPr>
            <a:stCxn id="10" idx="6"/>
            <a:endCxn id="25" idx="2"/>
          </p:cNvCxnSpPr>
          <p:nvPr/>
        </p:nvCxnSpPr>
        <p:spPr>
          <a:xfrm>
            <a:off x="6190660" y="2998241"/>
            <a:ext cx="1886167" cy="4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8382311" y="2820526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311" y="2820526"/>
                <a:ext cx="290401" cy="276999"/>
              </a:xfrm>
              <a:prstGeom prst="rect">
                <a:avLst/>
              </a:prstGeom>
              <a:blipFill rotWithShape="1">
                <a:blip r:embed="rId7"/>
                <a:stretch>
                  <a:fillRect l="-107" t="-177" r="-6382" b="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/>
          <p:cNvSpPr txBox="1"/>
          <p:nvPr/>
        </p:nvSpPr>
        <p:spPr>
          <a:xfrm>
            <a:off x="6809022" y="26267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换行字符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485762" y="192245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单行注释</a:t>
            </a:r>
          </a:p>
        </p:txBody>
      </p:sp>
      <p:cxnSp>
        <p:nvCxnSpPr>
          <p:cNvPr id="30" name="连接符: 曲线 29"/>
          <p:cNvCxnSpPr>
            <a:stCxn id="5" idx="4"/>
            <a:endCxn id="46" idx="2"/>
          </p:cNvCxnSpPr>
          <p:nvPr/>
        </p:nvCxnSpPr>
        <p:spPr>
          <a:xfrm rot="16200000" flipH="1">
            <a:off x="5871146" y="1768783"/>
            <a:ext cx="553849" cy="385751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4665033" y="3934451"/>
            <a:ext cx="195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非*非</a:t>
            </a:r>
            <a:r>
              <a:rPr lang="en-US" altLang="zh-CN" dirty="0"/>
              <a:t>/</a:t>
            </a:r>
            <a:r>
              <a:rPr lang="zh-CN" altLang="en-US" dirty="0"/>
              <a:t>的其他字符</a:t>
            </a:r>
          </a:p>
        </p:txBody>
      </p:sp>
      <p:sp>
        <p:nvSpPr>
          <p:cNvPr id="46" name="椭圆 45"/>
          <p:cNvSpPr/>
          <p:nvPr/>
        </p:nvSpPr>
        <p:spPr>
          <a:xfrm>
            <a:off x="8076827" y="3547745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/>
              <p:cNvSpPr txBox="1"/>
              <p:nvPr/>
            </p:nvSpPr>
            <p:spPr>
              <a:xfrm>
                <a:off x="8382311" y="3792711"/>
                <a:ext cx="2920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311" y="3792711"/>
                <a:ext cx="292003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107" t="-177" r="-6016" b="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对话气泡: 椭圆形 49"/>
          <p:cNvSpPr/>
          <p:nvPr/>
        </p:nvSpPr>
        <p:spPr>
          <a:xfrm>
            <a:off x="8984408" y="3051808"/>
            <a:ext cx="1231523" cy="754384"/>
          </a:xfrm>
          <a:prstGeom prst="wedgeEllipse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9275401" y="3244334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除号</a:t>
            </a:r>
          </a:p>
        </p:txBody>
      </p:sp>
      <p:sp>
        <p:nvSpPr>
          <p:cNvPr id="53" name="椭圆 52"/>
          <p:cNvSpPr/>
          <p:nvPr/>
        </p:nvSpPr>
        <p:spPr>
          <a:xfrm>
            <a:off x="5338918" y="4847066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/>
              <p:cNvSpPr txBox="1"/>
              <p:nvPr/>
            </p:nvSpPr>
            <p:spPr>
              <a:xfrm>
                <a:off x="5644402" y="5092032"/>
                <a:ext cx="2920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402" y="5092032"/>
                <a:ext cx="292003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179" t="-217" r="-5943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连接符: 曲线 54"/>
          <p:cNvCxnSpPr>
            <a:stCxn id="5" idx="4"/>
            <a:endCxn id="53" idx="2"/>
          </p:cNvCxnSpPr>
          <p:nvPr/>
        </p:nvCxnSpPr>
        <p:spPr>
          <a:xfrm rot="16200000" flipH="1">
            <a:off x="3852530" y="3787398"/>
            <a:ext cx="1853170" cy="111960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4171361" y="4526987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*</a:t>
            </a:r>
          </a:p>
        </p:txBody>
      </p:sp>
      <p:sp>
        <p:nvSpPr>
          <p:cNvPr id="59" name="椭圆 58"/>
          <p:cNvSpPr/>
          <p:nvPr/>
        </p:nvSpPr>
        <p:spPr>
          <a:xfrm>
            <a:off x="7390763" y="4847066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/>
              <p:cNvSpPr txBox="1"/>
              <p:nvPr/>
            </p:nvSpPr>
            <p:spPr>
              <a:xfrm>
                <a:off x="7700941" y="5086583"/>
                <a:ext cx="2920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941" y="5086583"/>
                <a:ext cx="292003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101" t="-84" r="-6021" b="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连接符: 曲线 60"/>
          <p:cNvCxnSpPr>
            <a:stCxn id="59" idx="6"/>
            <a:endCxn id="59" idx="0"/>
          </p:cNvCxnSpPr>
          <p:nvPr/>
        </p:nvCxnSpPr>
        <p:spPr>
          <a:xfrm flipH="1" flipV="1">
            <a:off x="7825103" y="4847066"/>
            <a:ext cx="434340" cy="426720"/>
          </a:xfrm>
          <a:prstGeom prst="curvedConnector4">
            <a:avLst>
              <a:gd name="adj1" fmla="val -89423"/>
              <a:gd name="adj2" fmla="val 1868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53" idx="6"/>
            <a:endCxn id="59" idx="2"/>
          </p:cNvCxnSpPr>
          <p:nvPr/>
        </p:nvCxnSpPr>
        <p:spPr>
          <a:xfrm>
            <a:off x="6207598" y="5273786"/>
            <a:ext cx="11831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6094387" y="433247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非*其他字符</a:t>
            </a:r>
          </a:p>
        </p:txBody>
      </p:sp>
      <p:cxnSp>
        <p:nvCxnSpPr>
          <p:cNvPr id="68" name="连接符: 曲线 67"/>
          <p:cNvCxnSpPr>
            <a:stCxn id="53" idx="6"/>
            <a:endCxn id="53" idx="0"/>
          </p:cNvCxnSpPr>
          <p:nvPr/>
        </p:nvCxnSpPr>
        <p:spPr>
          <a:xfrm flipH="1" flipV="1">
            <a:off x="5773258" y="4847066"/>
            <a:ext cx="434340" cy="426720"/>
          </a:xfrm>
          <a:prstGeom prst="curvedConnector4">
            <a:avLst>
              <a:gd name="adj1" fmla="val -52632"/>
              <a:gd name="adj2" fmla="val 1535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6641938" y="4983096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*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8596615" y="4662400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*</a:t>
            </a:r>
          </a:p>
        </p:txBody>
      </p:sp>
      <p:sp>
        <p:nvSpPr>
          <p:cNvPr id="73" name="椭圆 72"/>
          <p:cNvSpPr/>
          <p:nvPr/>
        </p:nvSpPr>
        <p:spPr>
          <a:xfrm>
            <a:off x="9303852" y="4847066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/>
              <p:cNvSpPr txBox="1"/>
              <p:nvPr/>
            </p:nvSpPr>
            <p:spPr>
              <a:xfrm>
                <a:off x="9609336" y="5092032"/>
                <a:ext cx="2920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4" name="文本框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336" y="5092032"/>
                <a:ext cx="292003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177" t="-217" r="-5945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直接箭头连接符 74"/>
          <p:cNvCxnSpPr>
            <a:stCxn id="59" idx="6"/>
            <a:endCxn id="73" idx="2"/>
          </p:cNvCxnSpPr>
          <p:nvPr/>
        </p:nvCxnSpPr>
        <p:spPr>
          <a:xfrm>
            <a:off x="8259443" y="5273786"/>
            <a:ext cx="10444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8745035" y="4983096"/>
            <a:ext cx="248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79" name="对话气泡: 椭圆形 78"/>
          <p:cNvSpPr/>
          <p:nvPr/>
        </p:nvSpPr>
        <p:spPr>
          <a:xfrm>
            <a:off x="9954187" y="4227713"/>
            <a:ext cx="1231523" cy="754384"/>
          </a:xfrm>
          <a:prstGeom prst="wedgeEllipse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9990396" y="4407113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跨行注释</a:t>
            </a:r>
          </a:p>
        </p:txBody>
      </p:sp>
      <p:cxnSp>
        <p:nvCxnSpPr>
          <p:cNvPr id="81" name="直接箭头连接符 80"/>
          <p:cNvCxnSpPr/>
          <p:nvPr/>
        </p:nvCxnSpPr>
        <p:spPr>
          <a:xfrm flipH="1">
            <a:off x="6274263" y="5484973"/>
            <a:ext cx="1073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5836454" y="5602816"/>
            <a:ext cx="195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非*非</a:t>
            </a:r>
            <a:r>
              <a:rPr lang="en-US" altLang="zh-CN" dirty="0"/>
              <a:t>/</a:t>
            </a:r>
            <a:r>
              <a:rPr lang="zh-CN" altLang="en-US" dirty="0"/>
              <a:t>的其他字符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词法分析难点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931986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单行注释编程</a:t>
            </a:r>
            <a:endParaRPr 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670718" y="2002426"/>
            <a:ext cx="9686694" cy="477053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 	else if(c == ‘/’) {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第一个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 /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token += c;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if(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 &lt; </a:t>
            </a:r>
            <a:r>
              <a:rPr lang="en-US" altLang="zh-CN" sz="16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600" dirty="0">
                <a:latin typeface="Consolas" panose="020B0609020204030204" pitchFamily="49" charset="0"/>
              </a:rPr>
              <a:t>() &amp;&amp; </a:t>
            </a:r>
            <a:r>
              <a:rPr lang="en-US" altLang="zh-CN" sz="16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) == '/') { //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		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第二个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</a:t>
            </a:r>
            <a:r>
              <a:rPr lang="en-US" altLang="zh-CN" sz="1600" dirty="0">
                <a:latin typeface="Consolas" panose="020B0609020204030204" pitchFamily="49" charset="0"/>
              </a:rPr>
              <a:t>c = </a:t>
            </a:r>
            <a:r>
              <a:rPr lang="en-US" altLang="zh-CN" sz="16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++); //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</a:t>
            </a:r>
            <a:r>
              <a:rPr lang="en-US" altLang="zh-CN" sz="1600" dirty="0">
                <a:latin typeface="Consolas" panose="020B0609020204030204" pitchFamily="49" charset="0"/>
              </a:rPr>
              <a:t>token += c;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while(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 &lt; </a:t>
            </a:r>
            <a:r>
              <a:rPr lang="en-US" altLang="zh-CN" sz="16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600" dirty="0">
                <a:latin typeface="Consolas" panose="020B0609020204030204" pitchFamily="49" charset="0"/>
              </a:rPr>
              <a:t>() &amp;&amp; </a:t>
            </a:r>
            <a:r>
              <a:rPr lang="en-US" altLang="zh-CN" sz="16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) != '\n’)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		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非换行字符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    c = </a:t>
            </a:r>
            <a:r>
              <a:rPr lang="en-US" altLang="zh-CN" sz="16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    token += c;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if(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 &lt; </a:t>
            </a:r>
            <a:r>
              <a:rPr lang="en-US" altLang="zh-CN" sz="16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600" dirty="0">
                <a:latin typeface="Consolas" panose="020B0609020204030204" pitchFamily="49" charset="0"/>
              </a:rPr>
              <a:t>()) {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\n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或 直接结束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    </a:t>
            </a:r>
            <a:r>
              <a:rPr lang="en-US" altLang="zh-CN" sz="1600" dirty="0">
                <a:latin typeface="Consolas" panose="020B0609020204030204" pitchFamily="49" charset="0"/>
              </a:rPr>
              <a:t>c = </a:t>
            </a:r>
            <a:r>
              <a:rPr lang="en-US" altLang="zh-CN" sz="16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    token += c;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    </a:t>
            </a:r>
            <a:r>
              <a:rPr lang="en-US" altLang="zh-CN" sz="1600" dirty="0" err="1">
                <a:latin typeface="Consolas" panose="020B0609020204030204" pitchFamily="49" charset="0"/>
              </a:rPr>
              <a:t>lineNum</a:t>
            </a:r>
            <a:r>
              <a:rPr lang="en-US" altLang="zh-CN" sz="1600" dirty="0">
                <a:latin typeface="Consolas" panose="020B0609020204030204" pitchFamily="49" charset="0"/>
              </a:rPr>
              <a:t>++; // </a:t>
            </a:r>
            <a:r>
              <a:rPr lang="zh-CN" altLang="en-US" sz="1600" dirty="0">
                <a:latin typeface="Consolas" panose="020B0609020204030204" pitchFamily="49" charset="0"/>
              </a:rPr>
              <a:t>单行注释末尾的</a:t>
            </a:r>
            <a:r>
              <a:rPr lang="en-US" altLang="zh-CN" sz="1600" dirty="0">
                <a:latin typeface="Consolas" panose="020B0609020204030204" pitchFamily="49" charset="0"/>
              </a:rPr>
              <a:t>\n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</a:t>
            </a:r>
            <a:r>
              <a:rPr lang="en-US" altLang="zh-CN" sz="1600" dirty="0" err="1">
                <a:latin typeface="Consolas" panose="020B0609020204030204" pitchFamily="49" charset="0"/>
              </a:rPr>
              <a:t>lexType</a:t>
            </a:r>
            <a:r>
              <a:rPr lang="en-US" altLang="zh-CN" sz="1600" dirty="0">
                <a:latin typeface="Consolas" panose="020B0609020204030204" pitchFamily="49" charset="0"/>
              </a:rPr>
              <a:t> = </a:t>
            </a:r>
            <a:r>
              <a:rPr lang="en-US" altLang="zh-CN" sz="1600" dirty="0" err="1">
                <a:latin typeface="Consolas" panose="020B0609020204030204" pitchFamily="49" charset="0"/>
              </a:rPr>
              <a:t>LexType.NOTE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return next();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758" y="71501"/>
            <a:ext cx="4600023" cy="203903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25207" y="988095"/>
            <a:ext cx="8731969" cy="569386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 	 else if(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 == '*')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/*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跨行注释 用状态机判断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        </a:t>
            </a:r>
            <a:r>
              <a:rPr lang="en-US" altLang="zh-CN" sz="1400" dirty="0">
                <a:latin typeface="Consolas" panose="020B0609020204030204" pitchFamily="49" charset="0"/>
              </a:rPr>
              <a:t>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token += c;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while(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()) {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状态转换循环（直至末尾）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while 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 != '*’)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			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非*字符 对应状态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q5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token += c;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if(c == '\n') </a:t>
            </a:r>
            <a:r>
              <a:rPr lang="en-US" altLang="zh-CN" sz="1400" dirty="0" err="1">
                <a:latin typeface="Consolas" panose="020B0609020204030204" pitchFamily="49" charset="0"/>
              </a:rPr>
              <a:t>lineNum</a:t>
            </a:r>
            <a:r>
              <a:rPr lang="en-US" altLang="zh-CN" sz="1400" dirty="0">
                <a:latin typeface="Consolas" panose="020B0609020204030204" pitchFamily="49" charset="0"/>
              </a:rPr>
              <a:t>++; // </a:t>
            </a:r>
            <a:r>
              <a:rPr lang="zh-CN" altLang="en-US" sz="1400" dirty="0">
                <a:latin typeface="Consolas" panose="020B0609020204030204" pitchFamily="49" charset="0"/>
              </a:rPr>
              <a:t>多行注释中 每行最后的回车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            </a:t>
            </a:r>
            <a:r>
              <a:rPr lang="en-US" altLang="zh-CN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// *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while(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 == '*’)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			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*字符 对应状态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q6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如果没有转移到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q7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，则会在循环中转移到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q5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token += c;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if 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 == '/’)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			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字符 对应状态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q7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token += c;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</a:t>
            </a:r>
            <a:r>
              <a:rPr lang="en-US" altLang="zh-CN" sz="1400" dirty="0" err="1">
                <a:latin typeface="Consolas" panose="020B0609020204030204" pitchFamily="49" charset="0"/>
              </a:rPr>
              <a:t>lexType</a:t>
            </a:r>
            <a:r>
              <a:rPr lang="en-US" altLang="zh-CN" sz="1400" dirty="0"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</a:rPr>
              <a:t>LexType.NOTE</a:t>
            </a:r>
            <a:r>
              <a:rPr lang="en-US" altLang="zh-CN" sz="14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return next();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词法分析难点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931986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跨行注释编程</a:t>
            </a:r>
            <a:endParaRPr 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52698"/>
            <a:ext cx="5274300" cy="233792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ACE6D-C627-0190-BED0-85F099380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>
            <a:extLst>
              <a:ext uri="{FF2B5EF4-FFF2-40B4-BE49-F238E27FC236}">
                <a16:creationId xmlns:a16="http://schemas.microsoft.com/office/drawing/2014/main" id="{84DB8622-847C-AB4C-8086-9DCB11E71D1D}"/>
              </a:ext>
            </a:extLst>
          </p:cNvPr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错误处理</a:t>
            </a:r>
            <a:endParaRPr 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27EE88B-970D-25B2-0A99-A82E9562C776}"/>
              </a:ext>
            </a:extLst>
          </p:cNvPr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29">
            <a:extLst>
              <a:ext uri="{FF2B5EF4-FFF2-40B4-BE49-F238E27FC236}">
                <a16:creationId xmlns:a16="http://schemas.microsoft.com/office/drawing/2014/main" id="{A8B79A35-6BE2-4542-B5DC-E1B284562B11}"/>
              </a:ext>
            </a:extLst>
          </p:cNvPr>
          <p:cNvSpPr txBox="1"/>
          <p:nvPr/>
        </p:nvSpPr>
        <p:spPr>
          <a:xfrm>
            <a:off x="859213" y="1195386"/>
            <a:ext cx="4941511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本次作业只有文法中的</a:t>
            </a:r>
            <a:r>
              <a:rPr lang="en-US" altLang="zh-CN" sz="2400" dirty="0"/>
              <a:t>a</a:t>
            </a:r>
            <a:r>
              <a:rPr lang="zh-CN" altLang="en-US" sz="2400" dirty="0"/>
              <a:t>类错误</a:t>
            </a:r>
            <a:endParaRPr lang="en-US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4107D7C-5CCC-BB87-055F-7803761BC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566" y="2040294"/>
            <a:ext cx="8685714" cy="34571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7887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词法分析总结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1430714" y="1706484"/>
            <a:ext cx="9589711" cy="26178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/>
              <a:t>本质字符串处理，编程难度较小，重复工作多</a:t>
            </a:r>
            <a:endParaRPr lang="en-US" altLang="zh-CN" sz="2400" b="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/>
              <a:t>作为语法分析的基础，词法分析应该提供尽可能丰富的信息</a:t>
            </a:r>
            <a:endParaRPr lang="en-US" altLang="zh-CN" sz="2400" b="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/>
              <a:t>重点在于用编程实现有限状态自动机，不涉及回溯</a:t>
            </a:r>
            <a:endParaRPr lang="en-US" altLang="zh-CN" sz="2400" b="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0" dirty="0"/>
          </a:p>
          <a:p>
            <a:endParaRPr lang="en-US" sz="2400" b="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29"/>
          <p:cNvSpPr txBox="1"/>
          <p:nvPr/>
        </p:nvSpPr>
        <p:spPr>
          <a:xfrm>
            <a:off x="1430714" y="2737193"/>
            <a:ext cx="7960936" cy="8156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SHOWCASE" val="b5e9a9e8-6d4e-4eab-8b76-6cdff33635ca"/>
  <p:tag name="COMMONDATA" val="eyJoZGlkIjoiZTM2OWI4ZGYyMzhmZjM2ZGE1MTUxYjQ1ZGZhMjFi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heme/theme1.xml><?xml version="1.0" encoding="utf-8"?>
<a:theme xmlns:a="http://schemas.openxmlformats.org/drawingml/2006/main" name="OfficePLUS主题">
  <a:themeElements>
    <a:clrScheme name="房利美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F08300"/>
      </a:accent1>
      <a:accent2>
        <a:srgbClr val="66B3E1"/>
      </a:accent2>
      <a:accent3>
        <a:srgbClr val="1165A0"/>
      </a:accent3>
      <a:accent4>
        <a:srgbClr val="EBA417"/>
      </a:accent4>
      <a:accent5>
        <a:srgbClr val="2E9EDA"/>
      </a:accent5>
      <a:accent6>
        <a:srgbClr val="053675"/>
      </a:accent6>
      <a:hlink>
        <a:srgbClr val="4472C4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43A8EF62DE444B1FF07917E22EF72" ma:contentTypeVersion="17" ma:contentTypeDescription="Create a new document." ma:contentTypeScope="" ma:versionID="ae809626c8abf568b6a415226af21ced">
  <xsd:schema xmlns:xsd="http://www.w3.org/2001/XMLSchema" xmlns:xs="http://www.w3.org/2001/XMLSchema" xmlns:p="http://schemas.microsoft.com/office/2006/metadata/properties" xmlns:ns1="http://schemas.microsoft.com/sharepoint/v3" xmlns:ns2="0a5c0dea-e5d7-4228-9256-3793bb42faa5" xmlns:ns3="97934b4b-eba6-486d-bfc1-4b8e3fe39092" targetNamespace="http://schemas.microsoft.com/office/2006/metadata/properties" ma:root="true" ma:fieldsID="1ffe3db4c8c97a24da98b2b5f963ec28" ns1:_="" ns2:_="" ns3:_="">
    <xsd:import namespace="http://schemas.microsoft.com/sharepoint/v3"/>
    <xsd:import namespace="0a5c0dea-e5d7-4228-9256-3793bb42faa5"/>
    <xsd:import namespace="97934b4b-eba6-486d-bfc1-4b8e3fe39092"/>
    <xsd:element name="properties">
      <xsd:complexType>
        <xsd:sequence>
          <xsd:element name="documentManagement">
            <xsd:complexType>
              <xsd:all>
                <xsd:element ref="ns2:OneNoteFluid_FileOrd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c0dea-e5d7-4228-9256-3793bb42faa5" elementFormDefault="qualified">
    <xsd:import namespace="http://schemas.microsoft.com/office/2006/documentManagement/types"/>
    <xsd:import namespace="http://schemas.microsoft.com/office/infopath/2007/PartnerControls"/>
    <xsd:element name="OneNoteFluid_FileOrder" ma:index="8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34b4b-eba6-486d-bfc1-4b8e3fe39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885aa0b-334b-483f-9125-6409c6335a4b}" ma:internalName="TaxCatchAll" ma:showField="CatchAllData" ma:web="97934b4b-eba6-486d-bfc1-4b8e3fe39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934b4b-eba6-486d-bfc1-4b8e3fe39092" xsi:nil="true"/>
    <lcf76f155ced4ddcb4097134ff3c332f xmlns="0a5c0dea-e5d7-4228-9256-3793bb42faa5">
      <Terms xmlns="http://schemas.microsoft.com/office/infopath/2007/PartnerControls"/>
    </lcf76f155ced4ddcb4097134ff3c332f>
    <OneNoteFluid_FileOrder xmlns="0a5c0dea-e5d7-4228-9256-3793bb42faa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5467BB9-3D7B-4457-AA5B-CE31D9D7CAD8}">
  <ds:schemaRefs/>
</ds:datastoreItem>
</file>

<file path=customXml/itemProps2.xml><?xml version="1.0" encoding="utf-8"?>
<ds:datastoreItem xmlns:ds="http://schemas.openxmlformats.org/officeDocument/2006/customXml" ds:itemID="{8B2CF345-0079-449D-8461-CEC7455F54DD}">
  <ds:schemaRefs/>
</ds:datastoreItem>
</file>

<file path=customXml/itemProps3.xml><?xml version="1.0" encoding="utf-8"?>
<ds:datastoreItem xmlns:ds="http://schemas.openxmlformats.org/officeDocument/2006/customXml" ds:itemID="{E282ED70-2812-4AEA-B3D1-B9B7204CDC1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308</TotalTime>
  <Words>1090</Words>
  <Application>Microsoft Office PowerPoint</Application>
  <PresentationFormat>宽屏</PresentationFormat>
  <Paragraphs>226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宋体</vt:lpstr>
      <vt:lpstr>Arial</vt:lpstr>
      <vt:lpstr>Calibri</vt:lpstr>
      <vt:lpstr>Cambria Math</vt:lpstr>
      <vt:lpstr>Consolas</vt:lpstr>
      <vt:lpstr>OfficePLUS主题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得戎 戈</cp:lastModifiedBy>
  <cp:revision>179</cp:revision>
  <cp:lastPrinted>2019-12-18T16:00:00Z</cp:lastPrinted>
  <dcterms:created xsi:type="dcterms:W3CDTF">2019-12-18T16:00:00Z</dcterms:created>
  <dcterms:modified xsi:type="dcterms:W3CDTF">2026-07-10T17:32:49Z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ContentTypeId">
    <vt:lpwstr>0x010100D1443A8EF62DE444B1FF07917E22EF72</vt:lpwstr>
  </property>
  <property fmtid="{D5CDD505-2E9C-101B-9397-08002B2CF9AE}" pid="4" name="ICV">
    <vt:lpwstr>8B6FB9306AC4418CAEACC9A10EB6E188_12</vt:lpwstr>
  </property>
  <property fmtid="{D5CDD505-2E9C-101B-9397-08002B2CF9AE}" pid="5" name="KSOProductBuildVer">
    <vt:lpwstr>2052-12.1.0.18276</vt:lpwstr>
  </property>
</Properties>
</file>